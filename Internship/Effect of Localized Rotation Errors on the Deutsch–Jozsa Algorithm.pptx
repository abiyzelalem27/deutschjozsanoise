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iy Tegegne" initials="AT" lastIdx="2" clrIdx="0">
    <p:extLst>
      <p:ext uri="{19B8F6BF-5375-455C-9EA6-DF929625EA0E}">
        <p15:presenceInfo xmlns:p15="http://schemas.microsoft.com/office/powerpoint/2012/main" userId="Abiy Tegeg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111827"/>
    <a:srgbClr val="FFFFFF"/>
    <a:srgbClr val="002060"/>
    <a:srgbClr val="000000"/>
    <a:srgbClr val="EE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80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96A71B-FF2D-4C2B-8557-039F546A0DAD}"/>
              </a:ext>
            </a:extLst>
          </p:cNvPr>
          <p:cNvSpPr>
            <a:spLocks noGrp="1"/>
          </p:cNvSpPr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B70F4-F09B-4699-A5B1-CAD4DA5F5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buNone/>
              <a:defRPr sz="6000" spc="150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F391E-1137-4CA7-BA02-61A811DE2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503A-160E-4312-9532-500801F807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9DFD-1F4B-49E9-AA60-72AC11A899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8B0FD-CBA5-4972-B3FF-C1518BF4D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D5F3-EC6A-4412-BF2F-EA2AADE9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DB4B6-071D-4B5B-9DB6-48D720FEA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86956-3C2D-4AB3-9E5D-6218054A5C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509A250-FF31-4206-8172-F9D3106AACB1}" type="datetimeFigureOut">
              <a:t>8/10/2026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91657-03F0-4E05-96A2-2E038421BC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5BF8-3DF0-456C-9250-A7B6FE348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0B32C4-2CD1-4AAE-BDB8-564C6DD050B2}"/>
              </a:ext>
            </a:extLst>
          </p:cNvPr>
          <p:cNvSpPr>
            <a:spLocks noGrp="1"/>
          </p:cNvSpPr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2E9EA-36FB-41A2-9E50-147223B5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buNone/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43C8A-7246-4593-B7FC-3BF2799E1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3A4F1-AFF0-4DAE-B63F-367DE75E6D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9796027F-7875-4030-9381-8BD8C4F21935}" type="datetimeFigureOut">
              <a:t>8/10/2026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8B34-3AEA-49EE-8B98-39C3207979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D698-FD2B-4B5D-A15F-66C0756AD7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777D61-2017-4E62-92CE-6BD6DD6C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3C45-1414-4EEB-ADC0-B62F846D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FAB8D-E156-4F0B-AF4F-C8F3FDA3A92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0479A-E1E5-441E-B129-67A32690AE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41662-4238-434C-8283-822869CC5A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30AEA-B1D0-4189-926C-8011831C2A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830EBC6-7371-420A-861C-AD9B4DB4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83F9D-AA11-4B71-A9AB-444CFF5C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15DF5-A77F-4DE8-8C18-44434FD0FBA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DBD63-70FE-4B56-99C2-B1D5636786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2D817-8262-47A5-AA07-A605B5D57FF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buNone/>
              <a:defRPr sz="22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6F35A-BDF6-4716-AE19-D5A4B041C2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62A37-960C-477D-BDEC-047AD7CCB6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53F88-C20F-430D-ACC4-BD7C8FB98B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847D-B1A6-499E-8D9E-4983B351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C6CF0-AF7F-4C70-AD4F-28C44DC865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40870-3301-4915-AE18-E166B7ED6B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E4645-0E33-4A5F-A759-2588C0083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F869D-2C54-4283-898F-8E70B576C3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0581C-B714-47CF-92C5-435A172F0B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C37C4-6BAD-4FFF-AA5C-5C6ACB9220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E1230A-4B02-437E-88F4-293B6C559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89B3-4E3E-4504-927F-847E07B5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FCBCE-91D3-4A16-A6F8-B2D176E3B3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49723-43B0-4AB0-88FB-E9ACF9E5B1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F7E76-C76A-46A0-B162-D9FBFC0C09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69407-DA76-4AE5-B75C-863AE973D0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DE5C4DC-8E65-44D8-8385-6B8CE0AD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1C13D-2646-4AF8-880C-6FCB7CAF8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7BAA8-4D05-4971-BD8D-2A7183E76AC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5D760-0FA9-48CB-BACC-C85E692CF0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A999F-53CD-4648-9571-91D460F6CE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67A20-B9F0-4062-924B-1B0BC641F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5EB0-6A73-40FB-A761-32E7FB63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061F6-9200-45E7-A3FB-3BF6F9979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EF3D-115A-40C5-B77B-0B8DBEA5AF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64ADA-19FC-4719-88EC-80E9FCFC8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4D7E-76D5-40C8-8750-4244633461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DFC306-56A7-4E0D-BC70-E0EAB87BC467}"/>
              </a:ext>
            </a:extLst>
          </p:cNvPr>
          <p:cNvSpPr>
            <a:spLocks noGrp="1"/>
          </p:cNvSpPr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41C53-6B10-4E40-A9F9-F7D2AB5F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3D9FD-B9DA-4628-BD36-05B88209A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9BA12-5B39-4BAC-B857-D14F45663D8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174-1DCF-443A-9CF4-D86D26559D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C5A9-5253-438E-AE74-69C214AE83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7F1E4F-1CFF-5643-939E-02111984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264918-57EF-458C-8582-0F20A77E65CE}"/>
              </a:ext>
            </a:extLst>
          </p:cNvPr>
          <p:cNvSpPr>
            <a:spLocks noGrp="1"/>
          </p:cNvSpPr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33BC6-8515-41EC-B2D2-C2D1F1A6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5280A-250F-4DD8-8603-2608C5A6B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B377-CC2C-4D5A-BF93-F69C9B1060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anchor="ctr"/>
          <a:lstStyle>
            <a:lvl1pPr algn="l">
              <a:buNone/>
              <a:defRPr sz="1050"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t>8/10/2026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48F88-8BCC-4A24-856D-4EF7A4B4E86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A3F81-BD6A-46AB-95B3-691E4BA237E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anchor="ctr"/>
          <a:lstStyle>
            <a:lvl1pPr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lt"/>
          <a:cs typeface="+mj-lt"/>
        </a:defRPr>
      </a:lvl1pPr>
    </p:titleStyle>
    <p:bodyStyle>
      <a:lvl1pPr marL="182880" indent="-18288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/>
        <a:buChar char=""/>
        <a:defRPr sz="2200" kern="1200">
          <a:solidFill>
            <a:schemeClr val="tx1"/>
          </a:solidFill>
          <a:latin typeface="+mn-lt"/>
          <a:ea typeface="+mn-lt"/>
          <a:cs typeface="+mn-lt"/>
        </a:defRPr>
      </a:lvl1pPr>
      <a:lvl2pPr marL="4114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6400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8686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097280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2846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4718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629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18062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/>
        <a:buChar char="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9056" y="144926"/>
            <a:ext cx="3426288" cy="1409700"/>
          </a:xfrm>
          <a:prstGeom prst="rect">
            <a:avLst/>
          </a:prstGeom>
        </p:spPr>
      </p:pic>
      <p:sp>
        <p:nvSpPr>
          <p:cNvPr id="3" name="text">
            <a:extLst>
              <a:ext uri="{FF2B5EF4-FFF2-40B4-BE49-F238E27FC236}">
                <a16:creationId xmlns:a16="http://schemas.microsoft.com/office/drawing/2014/main" id="{9770B533-BF5C-46F9-8CD8-4392F5BEB395}"/>
              </a:ext>
            </a:extLst>
          </p:cNvPr>
          <p:cNvSpPr>
            <a:spLocks noGrp="1"/>
          </p:cNvSpPr>
          <p:nvPr/>
        </p:nvSpPr>
        <p:spPr>
          <a:xfrm>
            <a:off x="7524750" y="608433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 i="0">
                <a:solidFill>
                  <a:srgbClr val="3B82F6"/>
                </a:solidFill>
              </a:defRPr>
            </a:pPr>
            <a:r>
              <a:rPr sz="975" b="1" i="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PRESENTATION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40E9A38-5100-4F4D-AB6E-52D8CC5A9905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1089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</a:rPr>
              <a:t>FRIEDRICH </a:t>
            </a:r>
            <a:r>
              <a:rPr sz="1575" b="1" i="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SCHILLER</a:t>
            </a:r>
            <a:r>
              <a:rPr sz="1575" b="1" i="0" dirty="0">
                <a:solidFill>
                  <a:srgbClr val="111827"/>
                </a:solidFill>
              </a:rPr>
              <a:t> UNIVERSITY JENA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146B6E1-7120-45C8-BFC6-2FE6BAADE7E6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10896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5F6B7A"/>
                </a:solidFill>
              </a:defRPr>
            </a:pPr>
            <a:r>
              <a:rPr sz="12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PHYSICS AND ASTRONOMY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F6359D9-048F-4B06-83BC-D22255F460D7}"/>
              </a:ext>
            </a:extLst>
          </p:cNvPr>
          <p:cNvSpPr>
            <a:spLocks noGrp="1"/>
          </p:cNvSpPr>
          <p:nvPr/>
        </p:nvSpPr>
        <p:spPr>
          <a:xfrm>
            <a:off x="647700" y="2276475"/>
            <a:ext cx="10896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5F6B7A"/>
                </a:solidFill>
              </a:defRPr>
            </a:pPr>
            <a:r>
              <a:rPr sz="12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FOR SOLID STATE THEORY AND OPTICS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2D4E8985-A927-45D1-8B22-5038A191DECD}"/>
              </a:ext>
            </a:extLst>
          </p:cNvPr>
          <p:cNvSpPr>
            <a:spLocks noGrp="1"/>
          </p:cNvSpPr>
          <p:nvPr/>
        </p:nvSpPr>
        <p:spPr>
          <a:xfrm>
            <a:off x="1428750" y="2705100"/>
            <a:ext cx="9334500" cy="19050"/>
          </a:xfrm>
          <a:prstGeom prst="rect">
            <a:avLst/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40497B5-F1BA-4C7A-8FA4-2A345E8E140E}"/>
              </a:ext>
            </a:extLst>
          </p:cNvPr>
          <p:cNvSpPr>
            <a:spLocks noGrp="1"/>
          </p:cNvSpPr>
          <p:nvPr/>
        </p:nvSpPr>
        <p:spPr>
          <a:xfrm>
            <a:off x="1143000" y="2914650"/>
            <a:ext cx="9906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 i="0">
                <a:solidFill>
                  <a:srgbClr val="111827"/>
                </a:solidFill>
              </a:defRPr>
            </a:pPr>
            <a:r>
              <a:rPr sz="28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of Localized Rotation Errors on the</a:t>
            </a:r>
          </a:p>
          <a:p>
            <a:pPr algn="ctr">
              <a:defRPr sz="2850" b="1" i="0">
                <a:solidFill>
                  <a:srgbClr val="111827"/>
                </a:solidFill>
              </a:defRPr>
            </a:pPr>
            <a:r>
              <a:rPr sz="28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Deutsch–</a:t>
            </a:r>
            <a:r>
              <a:rPr sz="2850" b="1" i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Jozsa</a:t>
            </a:r>
            <a:r>
              <a:rPr sz="28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AA8557F-6F08-41D5-AF82-33CFF069C53F}"/>
              </a:ext>
            </a:extLst>
          </p:cNvPr>
          <p:cNvSpPr>
            <a:spLocks noGrp="1"/>
          </p:cNvSpPr>
          <p:nvPr/>
        </p:nvSpPr>
        <p:spPr>
          <a:xfrm>
            <a:off x="1809750" y="3971925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 i="0">
                <a:solidFill>
                  <a:srgbClr val="5F6B7A"/>
                </a:solidFill>
              </a:defRPr>
            </a:pPr>
            <a:r>
              <a:rPr sz="1200" b="0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partial fulfillment of the requirements for the Internship Module</a:t>
            </a: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0F163566-9851-46AB-B29C-07A7CE2030DC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10896600" cy="9525"/>
          </a:xfrm>
          <a:prstGeom prst="rect">
            <a:avLst/>
          </a:prstGeom>
          <a:solidFill>
            <a:srgbClr val="E9EEF4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37DFAD2-B374-44ED-8F8E-5DC2B971D96D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900" b="1" i="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895522B-B49C-458A-B8D2-7BE92AE23D01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Martin </a:t>
            </a:r>
            <a:r>
              <a:rPr sz="1425" b="1" i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Gärttner</a:t>
            </a:r>
            <a:endParaRPr sz="1425" b="1" i="0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DDDCF28-2BC3-4FD3-B250-ED0AE5C32BAB}"/>
              </a:ext>
            </a:extLst>
          </p:cNvPr>
          <p:cNvSpPr>
            <a:spLocks noGrp="1"/>
          </p:cNvSpPr>
          <p:nvPr/>
        </p:nvSpPr>
        <p:spPr>
          <a:xfrm>
            <a:off x="7524750" y="4762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900" b="1" i="0" dirty="0">
                <a:solidFill>
                  <a:srgbClr val="3B82F6"/>
                </a:solidFill>
              </a:rPr>
              <a:t>PROJECT ADVISOR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943DB30-9190-4E7D-AB74-80CABAEF7C99}"/>
              </a:ext>
            </a:extLst>
          </p:cNvPr>
          <p:cNvSpPr>
            <a:spLocks noGrp="1"/>
          </p:cNvSpPr>
          <p:nvPr/>
        </p:nvSpPr>
        <p:spPr>
          <a:xfrm>
            <a:off x="7524750" y="50292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Niklas</a:t>
            </a:r>
            <a:r>
              <a:rPr sz="1425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Euler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519724E-7182-439E-B8A5-7649D1B9198A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9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sz="900" b="1" i="0" dirty="0">
              <a:solidFill>
                <a:srgbClr val="3B82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8C5A6BE-43DC-45EE-BE93-8B67978D3800}"/>
              </a:ext>
            </a:extLst>
          </p:cNvPr>
          <p:cNvSpPr>
            <a:spLocks noGrp="1"/>
          </p:cNvSpPr>
          <p:nvPr/>
        </p:nvSpPr>
        <p:spPr>
          <a:xfrm>
            <a:off x="914400" y="58674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111827"/>
                </a:solidFill>
              </a:defRPr>
            </a:pPr>
            <a:r>
              <a:rPr sz="1350" b="1" i="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Abiy Zelalem Tegegne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7D2A737A-2DF3-41F4-8141-BBF60F3F23F0}"/>
              </a:ext>
            </a:extLst>
          </p:cNvPr>
          <p:cNvSpPr>
            <a:spLocks noGrp="1"/>
          </p:cNvSpPr>
          <p:nvPr/>
        </p:nvSpPr>
        <p:spPr>
          <a:xfrm>
            <a:off x="7524750" y="58578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0" i="0">
                <a:solidFill>
                  <a:srgbClr val="5F6B7A"/>
                </a:solidFill>
              </a:defRPr>
            </a:pPr>
            <a:r>
              <a:rPr sz="16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Jena, Germany  •  </a:t>
            </a:r>
            <a:r>
              <a:rPr lang="en-US" sz="1600" b="1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</a:t>
            </a:r>
            <a:r>
              <a:rPr sz="1600" b="1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71964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616F56E5-FD91-478A-B677-3CB5E0CF8AAA}"/>
              </a:ext>
            </a:extLst>
          </p:cNvPr>
          <p:cNvSpPr>
            <a:spLocks noGrp="1"/>
          </p:cNvSpPr>
          <p:nvPr/>
        </p:nvSpPr>
        <p:spPr>
          <a:xfrm>
            <a:off x="609600" y="313497"/>
            <a:ext cx="5715000" cy="5909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Motivation of the Study</a:t>
            </a:r>
            <a:endParaRPr lang="en-US"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EEFF45-1831-4FC7-BE16-31F4718D498B}"/>
              </a:ext>
            </a:extLst>
          </p:cNvPr>
          <p:cNvSpPr>
            <a:spLocks noGrp="1"/>
          </p:cNvSpPr>
          <p:nvPr/>
        </p:nvSpPr>
        <p:spPr>
          <a:xfrm>
            <a:off x="609600" y="809624"/>
            <a:ext cx="10953750" cy="704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Why error location matters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4C3AC12E-9818-4898-9A43-0F8BF18CE8C7}"/>
              </a:ext>
            </a:extLst>
          </p:cNvPr>
          <p:cNvSpPr>
            <a:spLocks noGrp="1"/>
          </p:cNvSpPr>
          <p:nvPr/>
        </p:nvSpPr>
        <p:spPr>
          <a:xfrm>
            <a:off x="514350" y="1782003"/>
            <a:ext cx="5238750" cy="26003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A3E296CB-2028-41F6-9723-E434D1A85A75}"/>
              </a:ext>
            </a:extLst>
          </p:cNvPr>
          <p:cNvSpPr>
            <a:spLocks noGrp="1"/>
          </p:cNvSpPr>
          <p:nvPr/>
        </p:nvSpPr>
        <p:spPr>
          <a:xfrm>
            <a:off x="6076950" y="1762124"/>
            <a:ext cx="5505450" cy="26003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A23C364-ACD9-49E1-B5AB-6ACB29B19F9A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 dirty="0">
                <a:solidFill>
                  <a:srgbClr val="111827"/>
                </a:solidFill>
              </a:rPr>
              <a:t>Research problem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781F65D-7E9E-4F08-892E-EE1543B8BECE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3733148-9696-4656-90DB-FF9714BA67F4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Quantum algorithms depend on precise gates </a:t>
            </a:r>
            <a:r>
              <a:rPr lang="en-US" sz="1500" dirty="0" err="1">
                <a:solidFill>
                  <a:srgbClr val="111827"/>
                </a:solidFill>
              </a:rPr>
              <a:t>oprtsations</a:t>
            </a:r>
            <a:r>
              <a:rPr sz="1500" b="0" i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FD17BC5-B1A4-4650-9E86-5FB71AF735C2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DC3F6F1-3055-4113-9818-91C9F7774AA8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A coherent over-rotation can accumulate systematically instead of averaging away.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7F3D79-95ED-48E6-B922-75AA1FD303F7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3BF06C8-1AAC-400D-A969-23D20C6A985B}"/>
              </a:ext>
            </a:extLst>
          </p:cNvPr>
          <p:cNvSpPr>
            <a:spLocks noGrp="1"/>
          </p:cNvSpPr>
          <p:nvPr/>
        </p:nvSpPr>
        <p:spPr>
          <a:xfrm>
            <a:off x="1104900" y="34671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The same rotation may be harmless at one stage but destructive at another.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9E9FD4E-B780-4C03-AAA0-B634E4DD0629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 dirty="0">
                <a:solidFill>
                  <a:srgbClr val="111827"/>
                </a:solidFill>
              </a:rPr>
              <a:t>Study focus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B63A77B-CD62-46D8-9D93-83162853CD3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FDC03BF-1860-41E0-912C-9736EBF32D68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Compare localized Rₓ(θ), Rᵧ(θ), and Rz(θ) errors.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BC6A51D-2518-4EC7-AB64-3DA42B854520}"/>
              </a:ext>
            </a:extLst>
          </p:cNvPr>
          <p:cNvSpPr>
            <a:spLocks noGrp="1"/>
          </p:cNvSpPr>
          <p:nvPr/>
        </p:nvSpPr>
        <p:spPr>
          <a:xfrm>
            <a:off x="630555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19BF718-0B4C-4D7E-8FA7-7FC175B627E0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Test four physically meaningful locations, E₁–E₄.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04E73F8-B521-4D34-8390-53A074205AF3}"/>
              </a:ext>
            </a:extLst>
          </p:cNvPr>
          <p:cNvSpPr>
            <a:spLocks noGrp="1"/>
          </p:cNvSpPr>
          <p:nvPr/>
        </p:nvSpPr>
        <p:spPr>
          <a:xfrm>
            <a:off x="630555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">
                <a:extLst>
                  <a:ext uri="{FF2B5EF4-FFF2-40B4-BE49-F238E27FC236}">
                    <a16:creationId xmlns:a16="http://schemas.microsoft.com/office/drawing/2014/main" id="{63CF35BA-81DC-4743-A38B-15E6EE57BB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72250" y="3467100"/>
                <a:ext cx="46863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l">
                  <a:defRPr sz="1500" b="0" i="0">
                    <a:solidFill>
                      <a:srgbClr val="111827"/>
                    </a:solidFill>
                  </a:defRPr>
                </a:pPr>
                <a:r>
                  <a:rPr lang="en-US" sz="1500" b="0" i="0" dirty="0">
                    <a:solidFill>
                      <a:srgbClr val="111827"/>
                    </a:solidFill>
                  </a:rPr>
                  <a:t>Identify the axis–location combinations that most reduce P(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5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5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5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500" b="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sz="1500" b="0" i="0" dirty="0">
                  <a:solidFill>
                    <a:srgbClr val="111827"/>
                  </a:solidFill>
                </a:endParaRPr>
              </a:p>
            </p:txBody>
          </p:sp>
        </mc:Choice>
        <mc:Fallback xmlns="">
          <p:sp>
            <p:nvSpPr>
              <p:cNvPr id="18" name="text">
                <a:extLst>
                  <a:ext uri="{FF2B5EF4-FFF2-40B4-BE49-F238E27FC236}">
                    <a16:creationId xmlns:a16="http://schemas.microsoft.com/office/drawing/2014/main" id="{63CF35BA-81DC-4743-A38B-15E6EE57B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0" y="3467100"/>
                <a:ext cx="4686300" cy="342900"/>
              </a:xfrm>
              <a:prstGeom prst="rect">
                <a:avLst/>
              </a:prstGeom>
              <a:blipFill>
                <a:blip r:embed="rId3"/>
                <a:stretch>
                  <a:fillRect l="-520" t="-33929" r="-650" b="-50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key-finding">
            <a:extLst>
              <a:ext uri="{FF2B5EF4-FFF2-40B4-BE49-F238E27FC236}">
                <a16:creationId xmlns:a16="http://schemas.microsoft.com/office/drawing/2014/main" id="{FAAD2260-06B1-4C9D-8366-DF3FFE6125D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A007B4C-386C-4D95-BE01-60C635ABC000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 dirty="0">
                <a:solidFill>
                  <a:srgbClr val="3B82F6"/>
                </a:solidFill>
              </a:rPr>
              <a:t>Motivation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54CBADD-92C6-446A-AA3A-916931A80209}"/>
              </a:ext>
            </a:extLst>
          </p:cNvPr>
          <p:cNvSpPr>
            <a:spLocks noGrp="1"/>
          </p:cNvSpPr>
          <p:nvPr/>
        </p:nvSpPr>
        <p:spPr>
          <a:xfrm>
            <a:off x="2047875" y="58483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Mechanism-matched mitigation requires knowing both what the error is and where it acts.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41C7B57A-2D7E-4351-99C5-4341E35741B0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09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>
            <a:extLst>
              <a:ext uri="{FF2B5EF4-FFF2-40B4-BE49-F238E27FC236}">
                <a16:creationId xmlns:a16="http://schemas.microsoft.com/office/drawing/2014/main" id="{19F2F928-5B2A-4E5A-8EC8-E603E747CA87}"/>
              </a:ext>
            </a:extLst>
          </p:cNvPr>
          <p:cNvSpPr>
            <a:spLocks noGrp="1"/>
          </p:cNvSpPr>
          <p:nvPr/>
        </p:nvSpPr>
        <p:spPr>
          <a:xfrm>
            <a:off x="609600" y="252153"/>
            <a:ext cx="5715000" cy="394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b="1" i="0" dirty="0">
                <a:solidFill>
                  <a:srgbClr val="111827"/>
                </a:solidFill>
              </a:rPr>
              <a:t>Objectives </a:t>
            </a:r>
            <a:r>
              <a:rPr lang="en-US" sz="4000" dirty="0">
                <a:solidFill>
                  <a:srgbClr val="111827"/>
                </a:solidFill>
              </a:rPr>
              <a:t>of the Study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6C78B52-99C0-45FA-AD21-89C650FBC7CE}"/>
              </a:ext>
            </a:extLst>
          </p:cNvPr>
          <p:cNvSpPr>
            <a:spLocks noGrp="1"/>
          </p:cNvSpPr>
          <p:nvPr/>
        </p:nvSpPr>
        <p:spPr>
          <a:xfrm>
            <a:off x="609600" y="895349"/>
            <a:ext cx="10953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The study separates axis, angle, and location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9716DF7-B4D5-48EC-A7B4-5568EE01634B}"/>
              </a:ext>
            </a:extLst>
          </p:cNvPr>
          <p:cNvSpPr>
            <a:spLocks noGrp="1"/>
          </p:cNvSpPr>
          <p:nvPr/>
        </p:nvSpPr>
        <p:spPr>
          <a:xfrm>
            <a:off x="666750" y="1496253"/>
            <a:ext cx="10810875" cy="838200"/>
          </a:xfrm>
          <a:prstGeom prst="roundRect">
            <a:avLst>
              <a:gd name="adj" fmla="val 795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51AE4C9-D3FE-4481-AEBD-C726C0DCA903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349F7B1-C4A0-4ADE-B227-799846CAA24F}"/>
              </a:ext>
            </a:extLst>
          </p:cNvPr>
          <p:cNvSpPr>
            <a:spLocks noGrp="1"/>
          </p:cNvSpPr>
          <p:nvPr/>
        </p:nvSpPr>
        <p:spPr>
          <a:xfrm>
            <a:off x="1619250" y="16192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Model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1CFA905-0115-4BE3-9E18-ED9D74A067A8}"/>
              </a:ext>
            </a:extLst>
          </p:cNvPr>
          <p:cNvSpPr>
            <a:spLocks noGrp="1"/>
          </p:cNvSpPr>
          <p:nvPr/>
        </p:nvSpPr>
        <p:spPr>
          <a:xfrm>
            <a:off x="3238500" y="1639129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Implement coherent single-qubit rotations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Rₓ(θ), Rᵧ(θ), and Rz(θ).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6BD06C68-9827-473B-AF44-D37951870E71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10810875" cy="8382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AF58335-F64E-480C-9359-957C37B56166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28E0F10-27D5-40B2-8671-6B09C6B0E8D3}"/>
              </a:ext>
            </a:extLst>
          </p:cNvPr>
          <p:cNvSpPr>
            <a:spLocks noGrp="1"/>
          </p:cNvSpPr>
          <p:nvPr/>
        </p:nvSpPr>
        <p:spPr>
          <a:xfrm>
            <a:off x="1619250" y="26860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Localize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439C798-6DF6-463D-8A69-B3CFB5431E67}"/>
              </a:ext>
            </a:extLst>
          </p:cNvPr>
          <p:cNvSpPr>
            <a:spLocks noGrp="1"/>
          </p:cNvSpPr>
          <p:nvPr/>
        </p:nvSpPr>
        <p:spPr>
          <a:xfrm>
            <a:off x="3238500" y="2686050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Insert each error separately at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E₁, E₂, E₃, and E₄.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7687A356-7636-4DE2-8BAF-94A84673714A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10810875" cy="838200"/>
          </a:xfrm>
          <a:prstGeom prst="roundRect">
            <a:avLst>
              <a:gd name="adj" fmla="val 795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3AAB62C-F318-4AE6-97D7-4CD988A6E866}"/>
              </a:ext>
            </a:extLst>
          </p:cNvPr>
          <p:cNvSpPr>
            <a:spLocks noGrp="1"/>
          </p:cNvSpPr>
          <p:nvPr/>
        </p:nvSpPr>
        <p:spPr>
          <a:xfrm>
            <a:off x="857250" y="37719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7BDC8C9-AB62-4969-9AF4-B4CF720FF605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Measure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F67E69B-5BC4-477A-8DFC-774AB1693E46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Sweep θ and evaluate the probability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P(0ⁿ).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7ADA5B05-ED97-4442-8AAC-A644C1ABC754}"/>
              </a:ext>
            </a:extLst>
          </p:cNvPr>
          <p:cNvSpPr>
            <a:spLocks noGrp="1"/>
          </p:cNvSpPr>
          <p:nvPr/>
        </p:nvSpPr>
        <p:spPr>
          <a:xfrm>
            <a:off x="609600" y="4819649"/>
            <a:ext cx="10868025" cy="695325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46CB424-560C-482A-9396-ED3D41FEC696}"/>
              </a:ext>
            </a:extLst>
          </p:cNvPr>
          <p:cNvSpPr>
            <a:spLocks noGrp="1"/>
          </p:cNvSpPr>
          <p:nvPr/>
        </p:nvSpPr>
        <p:spPr>
          <a:xfrm>
            <a:off x="857250" y="483870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 dirty="0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6E72515-53D4-43CF-A185-091112A7CC16}"/>
              </a:ext>
            </a:extLst>
          </p:cNvPr>
          <p:cNvSpPr>
            <a:spLocks noGrp="1"/>
          </p:cNvSpPr>
          <p:nvPr/>
        </p:nvSpPr>
        <p:spPr>
          <a:xfrm>
            <a:off x="1619250" y="481965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19B68A9-582D-4ECF-8266-476F17C8FC2A}"/>
              </a:ext>
            </a:extLst>
          </p:cNvPr>
          <p:cNvSpPr>
            <a:spLocks noGrp="1"/>
          </p:cNvSpPr>
          <p:nvPr/>
        </p:nvSpPr>
        <p:spPr>
          <a:xfrm>
            <a:off x="3238500" y="4819650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Identify robust and vulnerable stages of the algorithm.</a:t>
            </a:r>
          </a:p>
        </p:txBody>
      </p:sp>
      <p:sp>
        <p:nvSpPr>
          <p:cNvPr id="19" name="page-number">
            <a:extLst>
              <a:ext uri="{FF2B5EF4-FFF2-40B4-BE49-F238E27FC236}">
                <a16:creationId xmlns:a16="http://schemas.microsoft.com/office/drawing/2014/main" id="{F07D3B89-DEF4-4CED-B201-D30FB0D1EC18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09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8F1D0A90-E94A-4B1B-BFB8-CBDF4088B7B8}"/>
              </a:ext>
            </a:extLst>
          </p:cNvPr>
          <p:cNvSpPr>
            <a:spLocks noGrp="1"/>
          </p:cNvSpPr>
          <p:nvPr/>
        </p:nvSpPr>
        <p:spPr>
          <a:xfrm>
            <a:off x="609600" y="188841"/>
            <a:ext cx="10045148" cy="8373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The Deutsch–</a:t>
            </a:r>
            <a:r>
              <a:rPr lang="en-US" sz="4000" dirty="0" err="1">
                <a:solidFill>
                  <a:srgbClr val="111827"/>
                </a:solidFill>
              </a:rPr>
              <a:t>Jozsa</a:t>
            </a:r>
            <a:r>
              <a:rPr lang="en-US" sz="4000" dirty="0">
                <a:solidFill>
                  <a:srgbClr val="111827"/>
                </a:solidFill>
              </a:rPr>
              <a:t> Problem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D351B40-B889-40E0-8941-DC12090156F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 i="0">
                <a:solidFill>
                  <a:srgbClr val="1E55A0"/>
                </a:solidFill>
              </a:defRPr>
            </a:pPr>
            <a:r>
              <a:rPr sz="2325" b="1" i="0" dirty="0">
                <a:solidFill>
                  <a:srgbClr val="1E55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 : {0,1}ⁿ → {0,1}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C79B792-5126-4124-8E4D-9BBA55906DFA}"/>
              </a:ext>
            </a:extLst>
          </p:cNvPr>
          <p:cNvSpPr>
            <a:spLocks noGrp="1"/>
          </p:cNvSpPr>
          <p:nvPr/>
        </p:nvSpPr>
        <p:spPr>
          <a:xfrm>
            <a:off x="609599" y="2305050"/>
            <a:ext cx="298836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5F6B7A"/>
                </a:solidFill>
              </a:defRPr>
            </a:pPr>
            <a:r>
              <a:rPr lang="en-US" sz="1600" dirty="0"/>
              <a:t>Boolean Function </a:t>
            </a:r>
            <a:endParaRPr sz="1500" b="1" i="0" dirty="0">
              <a:solidFill>
                <a:srgbClr val="5F6B7A"/>
              </a:solidFill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6E4D61D9-44BA-4B75-8098-3C3B36F2E65A}"/>
              </a:ext>
            </a:extLst>
          </p:cNvPr>
          <p:cNvSpPr>
            <a:spLocks noGrp="1"/>
          </p:cNvSpPr>
          <p:nvPr/>
        </p:nvSpPr>
        <p:spPr>
          <a:xfrm>
            <a:off x="895350" y="2752725"/>
            <a:ext cx="5191125" cy="2076450"/>
          </a:xfrm>
          <a:prstGeom prst="roundRect">
            <a:avLst>
              <a:gd name="adj" fmla="val 458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0BBC2439-035A-45F5-9917-65A44FC0F201}"/>
              </a:ext>
            </a:extLst>
          </p:cNvPr>
          <p:cNvSpPr>
            <a:spLocks noGrp="1"/>
          </p:cNvSpPr>
          <p:nvPr/>
        </p:nvSpPr>
        <p:spPr>
          <a:xfrm>
            <a:off x="6048375" y="2743200"/>
            <a:ext cx="5534025" cy="2076450"/>
          </a:xfrm>
          <a:prstGeom prst="roundRect">
            <a:avLst>
              <a:gd name="adj" fmla="val 458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BD29C38-97AE-4937-8C9D-B8C603031879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 dirty="0">
                <a:solidFill>
                  <a:srgbClr val="3B82F6"/>
                </a:solidFill>
              </a:rPr>
              <a:t>C</a:t>
            </a:r>
            <a:r>
              <a:rPr lang="en-US" sz="1500" b="1" i="0" dirty="0">
                <a:solidFill>
                  <a:srgbClr val="3B82F6"/>
                </a:solidFill>
              </a:rPr>
              <a:t>onstant</a:t>
            </a:r>
            <a:endParaRPr sz="1500" b="1" i="0" dirty="0">
              <a:solidFill>
                <a:srgbClr val="3B82F6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7066C7C-9CC0-4845-BED4-F357EE19982E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428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sz="1875" b="0" i="0" dirty="0">
                <a:solidFill>
                  <a:srgbClr val="111827"/>
                </a:solidFill>
              </a:rPr>
              <a:t> has the same value</a:t>
            </a:r>
          </a:p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</a:rPr>
              <a:t>for every input x.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B59EF56-4A89-4AF6-8755-6CDDD5F58D8E}"/>
              </a:ext>
            </a:extLst>
          </p:cNvPr>
          <p:cNvSpPr>
            <a:spLocks noGrp="1"/>
          </p:cNvSpPr>
          <p:nvPr/>
        </p:nvSpPr>
        <p:spPr>
          <a:xfrm>
            <a:off x="6315075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2E9E69"/>
                </a:solidFill>
              </a:defRPr>
            </a:pPr>
            <a:r>
              <a:rPr sz="1500" b="1" i="0" dirty="0">
                <a:solidFill>
                  <a:srgbClr val="2E9E69"/>
                </a:solidFill>
              </a:rPr>
              <a:t>B</a:t>
            </a:r>
            <a:r>
              <a:rPr lang="en-US" sz="1500" b="1" i="0" dirty="0">
                <a:solidFill>
                  <a:srgbClr val="2E9E69"/>
                </a:solidFill>
              </a:rPr>
              <a:t>alanced</a:t>
            </a:r>
            <a:endParaRPr sz="1500" b="1" i="0" dirty="0">
              <a:solidFill>
                <a:srgbClr val="2E9E69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0C7E33C-7536-49D9-84A8-453B6D7EA1D7}"/>
              </a:ext>
            </a:extLst>
          </p:cNvPr>
          <p:cNvSpPr>
            <a:spLocks noGrp="1"/>
          </p:cNvSpPr>
          <p:nvPr/>
        </p:nvSpPr>
        <p:spPr>
          <a:xfrm>
            <a:off x="6315075" y="33909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 </a:t>
            </a:r>
            <a:r>
              <a:rPr sz="1875" b="0" i="0" dirty="0">
                <a:solidFill>
                  <a:srgbClr val="111827"/>
                </a:solidFill>
              </a:rPr>
              <a:t>for half the inputs</a:t>
            </a:r>
          </a:p>
          <a:p>
            <a:pPr algn="l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</a:rPr>
              <a:t>and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sz="1875" b="0" i="0" dirty="0">
                <a:solidFill>
                  <a:srgbClr val="111827"/>
                </a:solidFill>
              </a:rPr>
              <a:t> for the other half.</a:t>
            </a:r>
          </a:p>
        </p:txBody>
      </p:sp>
      <p:sp>
        <p:nvSpPr>
          <p:cNvPr id="11" name="key-finding">
            <a:extLst>
              <a:ext uri="{FF2B5EF4-FFF2-40B4-BE49-F238E27FC236}">
                <a16:creationId xmlns:a16="http://schemas.microsoft.com/office/drawing/2014/main" id="{0261A049-0835-4886-B16C-E1257E85AC6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7CA9B00-950B-49E2-BD40-2E66D4E5F8FB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Task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3259968-478D-4884-85E7-2022BCBB0292}"/>
              </a:ext>
            </a:extLst>
          </p:cNvPr>
          <p:cNvSpPr>
            <a:spLocks noGrp="1"/>
          </p:cNvSpPr>
          <p:nvPr/>
        </p:nvSpPr>
        <p:spPr>
          <a:xfrm>
            <a:off x="2047875" y="52959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Determine with certainty whether the  function is constant or balanced.</a:t>
            </a:r>
          </a:p>
        </p:txBody>
      </p:sp>
      <p:sp>
        <p:nvSpPr>
          <p:cNvPr id="14" name="page-number">
            <a:extLst>
              <a:ext uri="{FF2B5EF4-FFF2-40B4-BE49-F238E27FC236}">
                <a16:creationId xmlns:a16="http://schemas.microsoft.com/office/drawing/2014/main" id="{849339AE-7333-452E-B493-0ADE7234BEEE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145C4ADB-D104-4FF2-93C0-90351E7916DB}"/>
              </a:ext>
            </a:extLst>
          </p:cNvPr>
          <p:cNvSpPr>
            <a:spLocks noGrp="1"/>
          </p:cNvSpPr>
          <p:nvPr/>
        </p:nvSpPr>
        <p:spPr>
          <a:xfrm>
            <a:off x="609600" y="133350"/>
            <a:ext cx="5715000" cy="512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3F25997-5154-40A2-86F6-643D62EC8859}"/>
              </a:ext>
            </a:extLst>
          </p:cNvPr>
          <p:cNvSpPr>
            <a:spLocks noGrp="1"/>
          </p:cNvSpPr>
          <p:nvPr/>
        </p:nvSpPr>
        <p:spPr>
          <a:xfrm>
            <a:off x="609600" y="646043"/>
            <a:ext cx="10953750" cy="830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Quantum interference compresses many function values into one query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CD6BB12-29BD-4B6B-8A9D-D3E79745538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5F6B7A"/>
                </a:solidFill>
              </a:defRPr>
            </a:pPr>
            <a:r>
              <a:rPr sz="1350" b="1" i="0">
                <a:solidFill>
                  <a:srgbClr val="5F6B7A"/>
                </a:solidFill>
              </a:rPr>
              <a:t>To decide with certainty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7F64CB9D-94A7-46F1-A666-0817CFA5AEDF}"/>
              </a:ext>
            </a:extLst>
          </p:cNvPr>
          <p:cNvSpPr>
            <a:spLocks noGrp="1"/>
          </p:cNvSpPr>
          <p:nvPr/>
        </p:nvSpPr>
        <p:spPr>
          <a:xfrm>
            <a:off x="400050" y="1976437"/>
            <a:ext cx="4762500" cy="2905125"/>
          </a:xfrm>
          <a:prstGeom prst="roundRect">
            <a:avLst>
              <a:gd name="adj" fmla="val 393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6BA0B56-443E-42D3-96EA-AC310DE9AAAE}"/>
              </a:ext>
            </a:extLst>
          </p:cNvPr>
          <p:cNvSpPr>
            <a:spLocks noGrp="1"/>
          </p:cNvSpPr>
          <p:nvPr/>
        </p:nvSpPr>
        <p:spPr>
          <a:xfrm>
            <a:off x="5791200" y="1952625"/>
            <a:ext cx="5715000" cy="2905125"/>
          </a:xfrm>
          <a:prstGeom prst="roundRect">
            <a:avLst>
              <a:gd name="adj" fmla="val 3934"/>
            </a:avLst>
          </a:prstGeom>
          <a:solidFill>
            <a:srgbClr val="FFF5E6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FF11657-F7C2-4075-ABFC-F16429F597A7}"/>
              </a:ext>
            </a:extLst>
          </p:cNvPr>
          <p:cNvSpPr>
            <a:spLocks noGrp="1"/>
          </p:cNvSpPr>
          <p:nvPr/>
        </p:nvSpPr>
        <p:spPr>
          <a:xfrm>
            <a:off x="1000125" y="22860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5F6B7A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 deterministic(worst case)</a:t>
            </a:r>
            <a:endParaRPr sz="1275" b="1" i="0" dirty="0">
              <a:solidFill>
                <a:srgbClr val="5F6B7A"/>
              </a:solidFill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1A21ABE-CA17-457E-9006-A4BB8EE2680E}"/>
              </a:ext>
            </a:extLst>
          </p:cNvPr>
          <p:cNvSpPr>
            <a:spLocks noGrp="1"/>
          </p:cNvSpPr>
          <p:nvPr/>
        </p:nvSpPr>
        <p:spPr>
          <a:xfrm>
            <a:off x="1000125" y="2762250"/>
            <a:ext cx="371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 i="0">
                <a:solidFill>
                  <a:srgbClr val="1E55A0"/>
                </a:solidFill>
              </a:defRPr>
            </a:pPr>
            <a:r>
              <a:rPr sz="3900" b="1" i="0" dirty="0">
                <a:solidFill>
                  <a:srgbClr val="1E55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2ⁿ⁻¹ + 1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339EBBD-2ABC-41AF-ACA5-9DD946F23B8D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oracle queries in the worst case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3349605-CAAF-4498-9BA7-680FEB3D5946}"/>
              </a:ext>
            </a:extLst>
          </p:cNvPr>
          <p:cNvSpPr>
            <a:spLocks noGrp="1"/>
          </p:cNvSpPr>
          <p:nvPr/>
        </p:nvSpPr>
        <p:spPr>
          <a:xfrm>
            <a:off x="6115050" y="22860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5F6B7A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Deutsch–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Jozsa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quantum algorithm</a:t>
            </a:r>
            <a:endParaRPr sz="1275" b="1" i="0" dirty="0">
              <a:solidFill>
                <a:srgbClr val="5F6B7A"/>
              </a:solidFill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B202E47-5BC2-4711-ACFF-98AE9D28D11D}"/>
              </a:ext>
            </a:extLst>
          </p:cNvPr>
          <p:cNvSpPr>
            <a:spLocks noGrp="1"/>
          </p:cNvSpPr>
          <p:nvPr/>
        </p:nvSpPr>
        <p:spPr>
          <a:xfrm>
            <a:off x="6115050" y="2762250"/>
            <a:ext cx="1619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800" b="1" i="0">
                <a:solidFill>
                  <a:srgbClr val="EA7A14"/>
                </a:solidFill>
              </a:defRPr>
            </a:pPr>
            <a:r>
              <a:rPr sz="4800" b="1" i="0">
                <a:solidFill>
                  <a:srgbClr val="EA7A14"/>
                </a:solidFill>
              </a:rPr>
              <a:t>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68B17CD-690C-431E-A2BD-2E917108B5EB}"/>
              </a:ext>
            </a:extLst>
          </p:cNvPr>
          <p:cNvSpPr>
            <a:spLocks noGrp="1"/>
          </p:cNvSpPr>
          <p:nvPr/>
        </p:nvSpPr>
        <p:spPr>
          <a:xfrm>
            <a:off x="7000875" y="2990850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oracle query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9A29FE0-B726-4D42-8A69-CF04EEFC4CDB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 dirty="0">
                <a:solidFill>
                  <a:srgbClr val="111827"/>
                </a:solidFill>
              </a:rPr>
              <a:t>The advantage comes from superposition and interference—not from reading every </a:t>
            </a:r>
            <a:r>
              <a:rPr sz="142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f(x).</a:t>
            </a:r>
          </a:p>
        </p:txBody>
      </p:sp>
      <p:sp>
        <p:nvSpPr>
          <p:cNvPr id="13" name="page-number">
            <a:extLst>
              <a:ext uri="{FF2B5EF4-FFF2-40B4-BE49-F238E27FC236}">
                <a16:creationId xmlns:a16="http://schemas.microsoft.com/office/drawing/2014/main" id="{F11C56DD-85F5-42C1-A201-C89335AF97C9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icker">
            <a:extLst>
              <a:ext uri="{FF2B5EF4-FFF2-40B4-BE49-F238E27FC236}">
                <a16:creationId xmlns:a16="http://schemas.microsoft.com/office/drawing/2014/main" id="{30C120AB-8A04-4F2C-88DE-34EB694A002A}"/>
              </a:ext>
            </a:extLst>
          </p:cNvPr>
          <p:cNvSpPr>
            <a:spLocks noGrp="1"/>
          </p:cNvSpPr>
          <p:nvPr/>
        </p:nvSpPr>
        <p:spPr>
          <a:xfrm>
            <a:off x="609599" y="333374"/>
            <a:ext cx="8723243" cy="5714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Oracle Representation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0F620BB-9768-4C0F-9FAA-EFB61E53EE1A}"/>
              </a:ext>
            </a:extLst>
          </p:cNvPr>
          <p:cNvSpPr>
            <a:spLocks noGrp="1"/>
          </p:cNvSpPr>
          <p:nvPr/>
        </p:nvSpPr>
        <p:spPr>
          <a:xfrm>
            <a:off x="609599" y="940489"/>
            <a:ext cx="10953750" cy="8344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The oracle stores f(x) reversibly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A2A967-06E2-4893-B993-79D1289ECDE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 i="0">
                <a:solidFill>
                  <a:srgbClr val="1E55A0"/>
                </a:solidFill>
              </a:defRPr>
            </a:pPr>
            <a:endParaRPr sz="2250" b="1" i="0" dirty="0">
              <a:solidFill>
                <a:srgbClr val="1E55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9D48ABBD-A477-4E18-A506-32CCE971BA40}"/>
              </a:ext>
            </a:extLst>
          </p:cNvPr>
          <p:cNvSpPr>
            <a:spLocks noGrp="1"/>
          </p:cNvSpPr>
          <p:nvPr/>
        </p:nvSpPr>
        <p:spPr>
          <a:xfrm>
            <a:off x="1143000" y="5334000"/>
            <a:ext cx="9906000" cy="619125"/>
          </a:xfrm>
          <a:prstGeom prst="roundRect">
            <a:avLst>
              <a:gd name="adj" fmla="val 9231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">
                <a:extLst>
                  <a:ext uri="{FF2B5EF4-FFF2-40B4-BE49-F238E27FC236}">
                    <a16:creationId xmlns:a16="http://schemas.microsoft.com/office/drawing/2014/main" id="{E16FD7C8-984E-4CA1-B3A0-EEEF0EE0F2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1125" y="5438775"/>
                <a:ext cx="9429750" cy="4191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1425" b="0" i="0">
                    <a:solidFill>
                      <a:srgbClr val="111827"/>
                    </a:solidFill>
                  </a:defRPr>
                </a:pPr>
                <a:r>
                  <a:rPr lang="en-US" sz="1425" b="0" i="0" dirty="0">
                    <a:solidFill>
                      <a:srgbClr val="111827"/>
                    </a:solidFill>
                  </a:rPr>
                  <a:t>x is unchanged; the ancilla changes from y to </a:t>
                </a:r>
                <a:r>
                  <a:rPr lang="en-US" sz="1425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 ⊕ f(x). </a:t>
                </a:r>
                <a:r>
                  <a:rPr lang="en-US" sz="1425" b="0" i="0" dirty="0">
                    <a:solidFill>
                      <a:srgbClr val="111827"/>
                    </a:solidFill>
                  </a:rPr>
                  <a:t>One passage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2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2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2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ar-AE" sz="1425" b="0" i="0" dirty="0">
                    <a:solidFill>
                      <a:srgbClr val="111827"/>
                    </a:solidFill>
                  </a:rPr>
                  <a:t> </a:t>
                </a:r>
                <a:r>
                  <a:rPr lang="en-US" sz="1425" b="0" i="0" dirty="0">
                    <a:solidFill>
                      <a:srgbClr val="111827"/>
                    </a:solidFill>
                  </a:rPr>
                  <a:t>is one oracle query.</a:t>
                </a:r>
                <a:endParaRPr sz="1425" b="0" i="0" dirty="0">
                  <a:solidFill>
                    <a:srgbClr val="111827"/>
                  </a:solidFill>
                </a:endParaRPr>
              </a:p>
            </p:txBody>
          </p:sp>
        </mc:Choice>
        <mc:Fallback xmlns="">
          <p:sp>
            <p:nvSpPr>
              <p:cNvPr id="6" name="text">
                <a:extLst>
                  <a:ext uri="{FF2B5EF4-FFF2-40B4-BE49-F238E27FC236}">
                    <a16:creationId xmlns:a16="http://schemas.microsoft.com/office/drawing/2014/main" id="{E16FD7C8-984E-4CA1-B3A0-EEEF0EE0F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25" y="5438775"/>
                <a:ext cx="9429750" cy="419100"/>
              </a:xfrm>
              <a:prstGeom prst="rect">
                <a:avLst/>
              </a:prstGeom>
              <a:blipFill>
                <a:blip r:embed="rId3"/>
                <a:stretch>
                  <a:fillRect b="-289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age-number">
            <a:extLst>
              <a:ext uri="{FF2B5EF4-FFF2-40B4-BE49-F238E27FC236}">
                <a16:creationId xmlns:a16="http://schemas.microsoft.com/office/drawing/2014/main" id="{16D52B44-944A-48F9-98DD-A6F3A9930C9A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06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0C02610-BF40-44C9-852A-BFD71B054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362" y="2320413"/>
            <a:ext cx="9320911" cy="291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EC1AFC2B-0DE6-47EF-9C9B-063B84547F53}"/>
              </a:ext>
            </a:extLst>
          </p:cNvPr>
          <p:cNvSpPr>
            <a:spLocks noGrp="1"/>
          </p:cNvSpPr>
          <p:nvPr/>
        </p:nvSpPr>
        <p:spPr>
          <a:xfrm>
            <a:off x="609600" y="313496"/>
            <a:ext cx="9200322" cy="648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br>
              <a:rPr lang="en-US" sz="4000" b="1" dirty="0">
                <a:solidFill>
                  <a:srgbClr val="111111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111827"/>
                </a:solidFill>
                <a:latin typeface="+mj-lt"/>
                <a:cs typeface="Times New Roman" panose="02020603050405020304" pitchFamily="18" charset="0"/>
              </a:rPr>
              <a:t>Ideal Deutsch–</a:t>
            </a:r>
            <a:r>
              <a:rPr lang="en-US" sz="4000" dirty="0" err="1">
                <a:solidFill>
                  <a:srgbClr val="111827"/>
                </a:solidFill>
                <a:latin typeface="+mj-lt"/>
                <a:cs typeface="Times New Roman" panose="02020603050405020304" pitchFamily="18" charset="0"/>
              </a:rPr>
              <a:t>Jozsa</a:t>
            </a:r>
            <a:r>
              <a:rPr lang="en-US" sz="4000" dirty="0">
                <a:solidFill>
                  <a:srgbClr val="111827"/>
                </a:solidFill>
                <a:latin typeface="+mj-lt"/>
                <a:cs typeface="Times New Roman" panose="02020603050405020304" pitchFamily="18" charset="0"/>
              </a:rPr>
              <a:t> Circuit</a:t>
            </a:r>
            <a:br>
              <a:rPr lang="en-US" sz="4000" b="1" dirty="0">
                <a:solidFill>
                  <a:srgbClr val="3B82F6"/>
                </a:solidFill>
                <a:latin typeface="+mj-lt"/>
                <a:cs typeface="Times New Roman" panose="02020603050405020304" pitchFamily="18" charset="0"/>
              </a:rPr>
            </a:br>
            <a:endParaRPr sz="4000" b="1" i="0" dirty="0">
              <a:solidFill>
                <a:srgbClr val="3B82F6"/>
              </a:solidFill>
              <a:latin typeface="+mj-lt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44D62BD-B1FF-4B91-B3F5-E4F282A88FB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53750" cy="857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The ideal circuit converts phase structure into a binary decision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A006DA23-74B8-4CB7-A74A-C512B9684FC7}"/>
              </a:ext>
            </a:extLst>
          </p:cNvPr>
          <p:cNvSpPr>
            <a:spLocks noGrp="1"/>
          </p:cNvSpPr>
          <p:nvPr/>
        </p:nvSpPr>
        <p:spPr>
          <a:xfrm>
            <a:off x="8667750" y="1857375"/>
            <a:ext cx="3190875" cy="3124199"/>
          </a:xfrm>
          <a:prstGeom prst="roundRect">
            <a:avLst>
              <a:gd name="adj" fmla="val 298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AC20F3A-11B0-4880-BF3C-41BB57EFB5E3}"/>
              </a:ext>
            </a:extLst>
          </p:cNvPr>
          <p:cNvSpPr>
            <a:spLocks noGrp="1"/>
          </p:cNvSpPr>
          <p:nvPr/>
        </p:nvSpPr>
        <p:spPr>
          <a:xfrm>
            <a:off x="8524875" y="185737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Decision rule</a:t>
            </a:r>
          </a:p>
        </p:txBody>
      </p:sp>
      <p:sp>
        <p:nvSpPr>
          <p:cNvPr id="6" name="pill">
            <a:extLst>
              <a:ext uri="{FF2B5EF4-FFF2-40B4-BE49-F238E27FC236}">
                <a16:creationId xmlns:a16="http://schemas.microsoft.com/office/drawing/2014/main" id="{B4407C00-45C1-47EB-B8A0-DA3185F7FC7F}"/>
              </a:ext>
            </a:extLst>
          </p:cNvPr>
          <p:cNvSpPr>
            <a:spLocks noGrp="1"/>
          </p:cNvSpPr>
          <p:nvPr/>
        </p:nvSpPr>
        <p:spPr>
          <a:xfrm>
            <a:off x="8763000" y="2571750"/>
            <a:ext cx="209550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D302E46-6863-4627-AA7D-A05924B402D0}"/>
              </a:ext>
            </a:extLst>
          </p:cNvPr>
          <p:cNvSpPr>
            <a:spLocks noGrp="1"/>
          </p:cNvSpPr>
          <p:nvPr/>
        </p:nvSpPr>
        <p:spPr>
          <a:xfrm>
            <a:off x="8763000" y="2571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3B82F6"/>
                </a:solidFill>
              </a:defRPr>
            </a:pPr>
            <a:r>
              <a:rPr sz="1125" b="1" i="0" dirty="0">
                <a:solidFill>
                  <a:srgbClr val="3B82F6"/>
                </a:solidFill>
              </a:rPr>
              <a:t>C</a:t>
            </a:r>
            <a:r>
              <a:rPr lang="en-US" sz="1125" b="1" i="0" dirty="0">
                <a:solidFill>
                  <a:srgbClr val="3B82F6"/>
                </a:solidFill>
              </a:rPr>
              <a:t>onstant</a:t>
            </a:r>
            <a:endParaRPr sz="1125" b="1" i="0" dirty="0">
              <a:solidFill>
                <a:srgbClr val="3B82F6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BE47B2B-BA9B-4F02-99BA-5422E1FA1341}"/>
              </a:ext>
            </a:extLst>
          </p:cNvPr>
          <p:cNvSpPr>
            <a:spLocks noGrp="1"/>
          </p:cNvSpPr>
          <p:nvPr/>
        </p:nvSpPr>
        <p:spPr>
          <a:xfrm>
            <a:off x="8667750" y="3000375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111827"/>
                </a:solidFill>
              </a:defRPr>
            </a:pPr>
            <a:r>
              <a:rPr sz="2100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 = 1</a:t>
            </a:r>
          </a:p>
        </p:txBody>
      </p:sp>
      <p:sp>
        <p:nvSpPr>
          <p:cNvPr id="9" name="pill">
            <a:extLst>
              <a:ext uri="{FF2B5EF4-FFF2-40B4-BE49-F238E27FC236}">
                <a16:creationId xmlns:a16="http://schemas.microsoft.com/office/drawing/2014/main" id="{FA332F21-DC79-4F4F-8E7E-3A1C73CE4EB9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09550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585B4DD-AA49-4F94-B211-7B3481886816}"/>
              </a:ext>
            </a:extLst>
          </p:cNvPr>
          <p:cNvSpPr>
            <a:spLocks noGrp="1"/>
          </p:cNvSpPr>
          <p:nvPr/>
        </p:nvSpPr>
        <p:spPr>
          <a:xfrm>
            <a:off x="8763000" y="38576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2E9E69"/>
                </a:solidFill>
              </a:defRPr>
            </a:pPr>
            <a:r>
              <a:rPr sz="1125" b="1" i="0" dirty="0">
                <a:solidFill>
                  <a:srgbClr val="2E9E69"/>
                </a:solidFill>
              </a:rPr>
              <a:t>B</a:t>
            </a:r>
            <a:r>
              <a:rPr lang="en-US" sz="1125" b="1" i="0" dirty="0">
                <a:solidFill>
                  <a:srgbClr val="2E9E69"/>
                </a:solidFill>
              </a:rPr>
              <a:t>alanced</a:t>
            </a:r>
            <a:endParaRPr sz="1125" b="1" i="0" dirty="0">
              <a:solidFill>
                <a:srgbClr val="2E9E69"/>
              </a:solidFill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1847EBA-8412-4D63-AB16-214C2039D35F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111827"/>
                </a:solidFill>
              </a:defRPr>
            </a:pPr>
            <a:r>
              <a:rPr sz="2100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 = 0</a:t>
            </a:r>
          </a:p>
        </p:txBody>
      </p:sp>
      <p:sp>
        <p:nvSpPr>
          <p:cNvPr id="12" name="key-finding">
            <a:extLst>
              <a:ext uri="{FF2B5EF4-FFF2-40B4-BE49-F238E27FC236}">
                <a16:creationId xmlns:a16="http://schemas.microsoft.com/office/drawing/2014/main" id="{52BBAE2C-1DC3-468B-AD13-0735ECE3B18F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782A58C-52B4-408A-8BA6-02E9CE7B32EA}"/>
              </a:ext>
            </a:extLst>
          </p:cNvPr>
          <p:cNvSpPr>
            <a:spLocks noGrp="1"/>
          </p:cNvSpPr>
          <p:nvPr/>
        </p:nvSpPr>
        <p:spPr>
          <a:xfrm>
            <a:off x="781050" y="54578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Circuit logic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A32566F-156A-43B5-8251-092C5C829E79}"/>
              </a:ext>
            </a:extLst>
          </p:cNvPr>
          <p:cNvSpPr>
            <a:spLocks noGrp="1"/>
          </p:cNvSpPr>
          <p:nvPr/>
        </p:nvSpPr>
        <p:spPr>
          <a:xfrm>
            <a:off x="2047875" y="5457825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Superposition → oracle phase encoding → interference → measurement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7D389D46-7560-4C19-9E63-0A19DACACEB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79A85C-E89A-43EB-9208-CA708B827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84" y="1858203"/>
            <a:ext cx="8052319" cy="33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B8E97918-A39D-4D8C-AB38-1322DE129E03}"/>
              </a:ext>
            </a:extLst>
          </p:cNvPr>
          <p:cNvSpPr>
            <a:spLocks noGrp="1"/>
          </p:cNvSpPr>
          <p:nvPr/>
        </p:nvSpPr>
        <p:spPr>
          <a:xfrm>
            <a:off x="609600" y="313496"/>
            <a:ext cx="8126896" cy="571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H</a:t>
            </a:r>
            <a:r>
              <a:rPr lang="en-US" sz="4000" b="1" i="0" dirty="0">
                <a:solidFill>
                  <a:srgbClr val="111827"/>
                </a:solidFill>
              </a:rPr>
              <a:t>ow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  <a:r>
              <a:rPr lang="en-US" sz="4000" b="1" dirty="0">
                <a:solidFill>
                  <a:srgbClr val="111827"/>
                </a:solidFill>
              </a:rPr>
              <a:t>One</a:t>
            </a:r>
            <a:r>
              <a:rPr sz="4000" b="1" i="0" dirty="0">
                <a:solidFill>
                  <a:srgbClr val="111827"/>
                </a:solidFill>
              </a:rPr>
              <a:t> Q</a:t>
            </a:r>
            <a:r>
              <a:rPr lang="en-US" sz="4000" b="1" i="0" dirty="0">
                <a:solidFill>
                  <a:srgbClr val="111827"/>
                </a:solidFill>
              </a:rPr>
              <a:t>uery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  <a:r>
              <a:rPr lang="en-US" sz="4000" b="1" i="0" dirty="0">
                <a:solidFill>
                  <a:srgbClr val="111827"/>
                </a:solidFill>
              </a:rPr>
              <a:t>is</a:t>
            </a:r>
            <a:r>
              <a:rPr sz="4000" b="1" i="0" dirty="0">
                <a:solidFill>
                  <a:srgbClr val="111827"/>
                </a:solidFill>
              </a:rPr>
              <a:t> D</a:t>
            </a:r>
            <a:r>
              <a:rPr lang="en-US" sz="4000" b="1" i="0" dirty="0">
                <a:solidFill>
                  <a:srgbClr val="111827"/>
                </a:solidFill>
              </a:rPr>
              <a:t>ecoded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2F8FAF4-43FC-490D-9669-1C15C7BF27EB}"/>
              </a:ext>
            </a:extLst>
          </p:cNvPr>
          <p:cNvSpPr>
            <a:spLocks noGrp="1"/>
          </p:cNvSpPr>
          <p:nvPr/>
        </p:nvSpPr>
        <p:spPr>
          <a:xfrm>
            <a:off x="609600" y="884582"/>
            <a:ext cx="10953750" cy="7727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>
                <a:solidFill>
                  <a:srgbClr val="111827"/>
                </a:solidFill>
              </a:rPr>
              <a:t>Interference creates the all-zero signature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AFF65106-A3C3-4C58-BD35-D82694248259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DC5B67EB-F1FD-471C-807D-64E3B6FB5C4A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CF8DEED-6E9E-4A85-B4A5-E3175B931E8F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073AC47-72F5-4DD3-99D7-D6595FD2C8F7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Prepare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D10BB3F-7349-402E-9A06-296A8A1060A8}"/>
              </a:ext>
            </a:extLst>
          </p:cNvPr>
          <p:cNvSpPr>
            <a:spLocks noGrp="1"/>
          </p:cNvSpPr>
          <p:nvPr/>
        </p:nvSpPr>
        <p:spPr>
          <a:xfrm>
            <a:off x="809625" y="3000375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5F6B7A"/>
                </a:solidFill>
              </a:defRPr>
            </a:pPr>
            <a:r>
              <a:rPr sz="1350" b="0" i="0">
                <a:solidFill>
                  <a:srgbClr val="5F6B7A"/>
                </a:solidFill>
              </a:rPr>
              <a:t>|0⟩ⁿ|1⟩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BDB02CA-73DA-4851-88D4-4791C6CF2A5C}"/>
              </a:ext>
            </a:extLst>
          </p:cNvPr>
          <p:cNvSpPr>
            <a:spLocks noGrp="1"/>
          </p:cNvSpPr>
          <p:nvPr/>
        </p:nvSpPr>
        <p:spPr>
          <a:xfrm>
            <a:off x="3429000" y="176212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5FAD2B3E-A956-424E-98A0-9B4BA4A1C5E6}"/>
              </a:ext>
            </a:extLst>
          </p:cNvPr>
          <p:cNvSpPr>
            <a:spLocks noGrp="1"/>
          </p:cNvSpPr>
          <p:nvPr/>
        </p:nvSpPr>
        <p:spPr>
          <a:xfrm>
            <a:off x="3619500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E11C504-3FF3-420E-9CEC-12B3612A551E}"/>
              </a:ext>
            </a:extLst>
          </p:cNvPr>
          <p:cNvSpPr>
            <a:spLocks noGrp="1"/>
          </p:cNvSpPr>
          <p:nvPr/>
        </p:nvSpPr>
        <p:spPr>
          <a:xfrm>
            <a:off x="3619500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DB38E59-A7A6-47B2-AED2-972800C34EF9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Superpose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25728E4-B67C-4512-9CEE-D09A879965F0}"/>
              </a:ext>
            </a:extLst>
          </p:cNvPr>
          <p:cNvSpPr>
            <a:spLocks noGrp="1"/>
          </p:cNvSpPr>
          <p:nvPr/>
        </p:nvSpPr>
        <p:spPr>
          <a:xfrm>
            <a:off x="3619500" y="3000375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5F6B7A"/>
                </a:solidFill>
              </a:defRPr>
            </a:pPr>
            <a:r>
              <a:rPr sz="1350" b="0" i="0" dirty="0">
                <a:solidFill>
                  <a:srgbClr val="5F6B7A"/>
                </a:solidFill>
              </a:rPr>
              <a:t>H creates all 2ⁿ inputs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5B656931-2118-4E14-81D0-D6AA4B6FA241}"/>
              </a:ext>
            </a:extLst>
          </p:cNvPr>
          <p:cNvSpPr>
            <a:spLocks noGrp="1"/>
          </p:cNvSpPr>
          <p:nvPr/>
        </p:nvSpPr>
        <p:spPr>
          <a:xfrm>
            <a:off x="6238875" y="1782003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86A2E866-E79E-42C5-9B78-58EFBC313857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9FD6C14-D0DE-4BD0-B701-B0ACED15746B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0FF9D15-8C37-4C28-BD58-C2D5FA4F6D7A}"/>
              </a:ext>
            </a:extLst>
          </p:cNvPr>
          <p:cNvSpPr>
            <a:spLocks noGrp="1"/>
          </p:cNvSpPr>
          <p:nvPr/>
        </p:nvSpPr>
        <p:spPr>
          <a:xfrm>
            <a:off x="6429375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Encode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9CB2F4-AEC8-4F99-A9A2-0ABAC8D1F8CC}"/>
              </a:ext>
            </a:extLst>
          </p:cNvPr>
          <p:cNvSpPr>
            <a:spLocks noGrp="1"/>
          </p:cNvSpPr>
          <p:nvPr/>
        </p:nvSpPr>
        <p:spPr>
          <a:xfrm>
            <a:off x="6429375" y="3000375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5F6B7A"/>
                </a:solidFill>
              </a:defRPr>
            </a:pPr>
            <a:r>
              <a:rPr sz="1350" b="0" i="0">
                <a:solidFill>
                  <a:srgbClr val="5F6B7A"/>
                </a:solidFill>
              </a:rPr>
              <a:t>oracle adds phases (−1)ᶠ⁽ˣ⁾</a:t>
            </a:r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9791D1B6-2DDF-4E9B-831E-7BE96213B49A}"/>
              </a:ext>
            </a:extLst>
          </p:cNvPr>
          <p:cNvSpPr>
            <a:spLocks noGrp="1"/>
          </p:cNvSpPr>
          <p:nvPr/>
        </p:nvSpPr>
        <p:spPr>
          <a:xfrm>
            <a:off x="9048750" y="1762125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82B4E9AC-68BD-4AEE-9FF0-3047392F716C}"/>
              </a:ext>
            </a:extLst>
          </p:cNvPr>
          <p:cNvSpPr>
            <a:spLocks noGrp="1"/>
          </p:cNvSpPr>
          <p:nvPr/>
        </p:nvSpPr>
        <p:spPr>
          <a:xfrm>
            <a:off x="9239250" y="19526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DBDEE99-140A-4DAB-BF58-4AA5A6DCB0BD}"/>
              </a:ext>
            </a:extLst>
          </p:cNvPr>
          <p:cNvSpPr>
            <a:spLocks noGrp="1"/>
          </p:cNvSpPr>
          <p:nvPr/>
        </p:nvSpPr>
        <p:spPr>
          <a:xfrm>
            <a:off x="9239250" y="19526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5F88B1F-1ED9-40C8-92BD-2D91CE2D349F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Interfere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7669316-30DC-4034-A327-FDF699FC829C}"/>
              </a:ext>
            </a:extLst>
          </p:cNvPr>
          <p:cNvSpPr>
            <a:spLocks noGrp="1"/>
          </p:cNvSpPr>
          <p:nvPr/>
        </p:nvSpPr>
        <p:spPr>
          <a:xfrm>
            <a:off x="9239250" y="3000375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5F6B7A"/>
                </a:solidFill>
              </a:defRPr>
            </a:pPr>
            <a:r>
              <a:rPr sz="1350" b="0" i="0">
                <a:solidFill>
                  <a:srgbClr val="5F6B7A"/>
                </a:solidFill>
              </a:rPr>
              <a:t>final H combines amplitudes</a:t>
            </a:r>
          </a:p>
        </p:txBody>
      </p:sp>
      <p:sp>
        <p:nvSpPr>
          <p:cNvPr id="23" name="key-finding">
            <a:extLst>
              <a:ext uri="{FF2B5EF4-FFF2-40B4-BE49-F238E27FC236}">
                <a16:creationId xmlns:a16="http://schemas.microsoft.com/office/drawing/2014/main" id="{F1392D29-D3F1-44A1-8AF8-D6E79F451B18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B7950DCD-4387-4E08-BF78-D02FC167EBAF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Output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D2DC9BC9-F184-46CA-A287-BD23A0144082}"/>
              </a:ext>
            </a:extLst>
          </p:cNvPr>
          <p:cNvSpPr>
            <a:spLocks noGrp="1"/>
          </p:cNvSpPr>
          <p:nvPr/>
        </p:nvSpPr>
        <p:spPr>
          <a:xfrm>
            <a:off x="2047875" y="48387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Constructive interference at |</a:t>
            </a:r>
            <a:r>
              <a:rPr lang="en-US" sz="1350" b="0" i="0" dirty="0">
                <a:solidFill>
                  <a:srgbClr val="111827"/>
                </a:solidFill>
              </a:rPr>
              <a:t> 0ⁿ </a:t>
            </a:r>
            <a:r>
              <a:rPr sz="1350" b="0" i="0" dirty="0">
                <a:solidFill>
                  <a:srgbClr val="111827"/>
                </a:solidFill>
              </a:rPr>
              <a:t>⟩ signals constant; cancellation at |0ⁿ⟩ signals balanced.</a:t>
            </a:r>
          </a:p>
        </p:txBody>
      </p:sp>
      <p:sp>
        <p:nvSpPr>
          <p:cNvPr id="26" name="page-number">
            <a:extLst>
              <a:ext uri="{FF2B5EF4-FFF2-40B4-BE49-F238E27FC236}">
                <a16:creationId xmlns:a16="http://schemas.microsoft.com/office/drawing/2014/main" id="{42A2D970-0594-4788-82BE-31DB0733B29C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739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">
            <a:extLst>
              <a:ext uri="{FF2B5EF4-FFF2-40B4-BE49-F238E27FC236}">
                <a16:creationId xmlns:a16="http://schemas.microsoft.com/office/drawing/2014/main" id="{38BE63CF-D89A-4D5D-BAF2-C72DF54FF01F}"/>
              </a:ext>
            </a:extLst>
          </p:cNvPr>
          <p:cNvSpPr>
            <a:spLocks noGrp="1"/>
          </p:cNvSpPr>
          <p:nvPr/>
        </p:nvSpPr>
        <p:spPr>
          <a:xfrm>
            <a:off x="609600" y="313497"/>
            <a:ext cx="9130748" cy="5333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b="1" i="0" dirty="0">
                <a:solidFill>
                  <a:srgbClr val="111827"/>
                </a:solidFill>
                <a:latin typeface="+mj-lt"/>
              </a:rPr>
              <a:t>Rotation-Axis</a:t>
            </a:r>
            <a:endParaRPr sz="4000" b="1" i="0" dirty="0">
              <a:solidFill>
                <a:srgbClr val="111827"/>
              </a:solidFill>
              <a:latin typeface="+mj-lt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A82B57F-77B8-4148-AE7B-39897B452CFE}"/>
              </a:ext>
            </a:extLst>
          </p:cNvPr>
          <p:cNvSpPr>
            <a:spLocks noGrp="1"/>
          </p:cNvSpPr>
          <p:nvPr/>
        </p:nvSpPr>
        <p:spPr>
          <a:xfrm>
            <a:off x="609600" y="1000953"/>
            <a:ext cx="10953750" cy="5333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Three coherent rotations model axis-specific gate miscalibration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D67E20D9-AC7F-4BD8-8DEC-3CFC75B8923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DA30A01-FCCB-4982-950D-65AB52ED471E}"/>
              </a:ext>
            </a:extLst>
          </p:cNvPr>
          <p:cNvSpPr>
            <a:spLocks noGrp="1"/>
          </p:cNvSpPr>
          <p:nvPr/>
        </p:nvSpPr>
        <p:spPr>
          <a:xfrm>
            <a:off x="847725" y="1952625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3B82F6"/>
                </a:solidFill>
              </a:defRPr>
            </a:pPr>
            <a:r>
              <a:rPr sz="3150" b="1" i="0" dirty="0">
                <a:solidFill>
                  <a:srgbClr val="3B82F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5FA65A1-6D54-4142-8AAD-C49CFE599422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exp(−</a:t>
            </a:r>
            <a:r>
              <a:rPr sz="1875" b="0" i="0" dirty="0" err="1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iθX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/2)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6DA3FEE-0EDD-47B5-8D4E-503CC254DDDD}"/>
              </a:ext>
            </a:extLst>
          </p:cNvPr>
          <p:cNvSpPr>
            <a:spLocks noGrp="1"/>
          </p:cNvSpPr>
          <p:nvPr/>
        </p:nvSpPr>
        <p:spPr>
          <a:xfrm>
            <a:off x="847725" y="347662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5F6B7A"/>
                </a:solidFill>
              </a:defRPr>
            </a:pPr>
            <a:r>
              <a:rPr sz="1425" b="1" i="0">
                <a:solidFill>
                  <a:srgbClr val="5F6B7A"/>
                </a:solidFill>
              </a:rPr>
              <a:t>Bit-axis rotation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D067F266-20D2-44D2-BF8F-A06B1CA294AF}"/>
              </a:ext>
            </a:extLst>
          </p:cNvPr>
          <p:cNvSpPr>
            <a:spLocks noGrp="1"/>
          </p:cNvSpPr>
          <p:nvPr/>
        </p:nvSpPr>
        <p:spPr>
          <a:xfrm>
            <a:off x="4286250" y="166687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B308819-E9E3-4F17-9C94-8B838FB4EE4F}"/>
              </a:ext>
            </a:extLst>
          </p:cNvPr>
          <p:cNvSpPr>
            <a:spLocks noGrp="1"/>
          </p:cNvSpPr>
          <p:nvPr/>
        </p:nvSpPr>
        <p:spPr>
          <a:xfrm>
            <a:off x="4524375" y="1952625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EA7A14"/>
                </a:solidFill>
              </a:defRPr>
            </a:pPr>
            <a:r>
              <a:rPr sz="3150" b="1" i="0" dirty="0">
                <a:solidFill>
                  <a:srgbClr val="EA7A14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Rᵧ(θ)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46873F5-E5A5-4680-9E41-3AFBABAAB85B}"/>
              </a:ext>
            </a:extLst>
          </p:cNvPr>
          <p:cNvSpPr>
            <a:spLocks noGrp="1"/>
          </p:cNvSpPr>
          <p:nvPr/>
        </p:nvSpPr>
        <p:spPr>
          <a:xfrm>
            <a:off x="4524375" y="27146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exp(−</a:t>
            </a:r>
            <a:r>
              <a:rPr sz="1875" b="0" i="0" dirty="0" err="1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iθY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/2)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87EB729-018E-42D6-B468-EC8B869C30E5}"/>
              </a:ext>
            </a:extLst>
          </p:cNvPr>
          <p:cNvSpPr>
            <a:spLocks noGrp="1"/>
          </p:cNvSpPr>
          <p:nvPr/>
        </p:nvSpPr>
        <p:spPr>
          <a:xfrm>
            <a:off x="4524375" y="347662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5F6B7A"/>
                </a:solidFill>
              </a:defRPr>
            </a:pPr>
            <a:r>
              <a:rPr sz="1425" b="1" i="0">
                <a:solidFill>
                  <a:srgbClr val="5F6B7A"/>
                </a:solidFill>
              </a:rPr>
              <a:t>Mixed bit–phase rotation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3AAAA7CC-988B-4A76-B070-32E58296C301}"/>
              </a:ext>
            </a:extLst>
          </p:cNvPr>
          <p:cNvSpPr>
            <a:spLocks noGrp="1"/>
          </p:cNvSpPr>
          <p:nvPr/>
        </p:nvSpPr>
        <p:spPr>
          <a:xfrm>
            <a:off x="7962900" y="166687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">
                <a:extLst>
                  <a:ext uri="{FF2B5EF4-FFF2-40B4-BE49-F238E27FC236}">
                    <a16:creationId xmlns:a16="http://schemas.microsoft.com/office/drawing/2014/main" id="{5F412A42-2705-47BE-9269-4CCAF569A4B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01025" y="1952625"/>
                <a:ext cx="285750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ctr">
                  <a:defRPr sz="3150" b="1" i="0">
                    <a:solidFill>
                      <a:srgbClr val="2E9E69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150" b="1" i="1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150" b="1" i="0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3150" b="1" i="0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𝐙</m:t>
                        </m:r>
                      </m:sub>
                    </m:sSub>
                    <m:r>
                      <a:rPr lang="en-US" sz="3150" b="1" i="0" smtClean="0">
                        <a:solidFill>
                          <a:srgbClr val="2E9E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l-GR" sz="3150" b="1" i="0" dirty="0">
                    <a:solidFill>
                      <a:srgbClr val="2E9E69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θ)</a:t>
                </a:r>
                <a:endParaRPr sz="3150" b="1" i="0" dirty="0">
                  <a:solidFill>
                    <a:srgbClr val="2E9E6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">
                <a:extLst>
                  <a:ext uri="{FF2B5EF4-FFF2-40B4-BE49-F238E27FC236}">
                    <a16:creationId xmlns:a16="http://schemas.microsoft.com/office/drawing/2014/main" id="{5F412A42-2705-47BE-9269-4CCAF569A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025" y="1952625"/>
                <a:ext cx="2857500" cy="609600"/>
              </a:xfrm>
              <a:prstGeom prst="rect">
                <a:avLst/>
              </a:prstGeom>
              <a:blipFill>
                <a:blip r:embed="rId3"/>
                <a:stretch>
                  <a:fillRect t="-9000" b="-30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">
            <a:extLst>
              <a:ext uri="{FF2B5EF4-FFF2-40B4-BE49-F238E27FC236}">
                <a16:creationId xmlns:a16="http://schemas.microsoft.com/office/drawing/2014/main" id="{819D5C12-C94E-4203-A935-A71863954B02}"/>
              </a:ext>
            </a:extLst>
          </p:cNvPr>
          <p:cNvSpPr>
            <a:spLocks noGrp="1"/>
          </p:cNvSpPr>
          <p:nvPr/>
        </p:nvSpPr>
        <p:spPr>
          <a:xfrm>
            <a:off x="8201025" y="27146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0" i="0">
                <a:solidFill>
                  <a:srgbClr val="111827"/>
                </a:solidFill>
              </a:defRPr>
            </a:pP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exp(−</a:t>
            </a:r>
            <a:r>
              <a:rPr sz="1875" b="0" i="0" dirty="0" err="1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iθZ</a:t>
            </a:r>
            <a:r>
              <a:rPr sz="1875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/2)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69078DC-85D3-4EFD-BABC-EE6D198FDECB}"/>
              </a:ext>
            </a:extLst>
          </p:cNvPr>
          <p:cNvSpPr>
            <a:spLocks noGrp="1"/>
          </p:cNvSpPr>
          <p:nvPr/>
        </p:nvSpPr>
        <p:spPr>
          <a:xfrm>
            <a:off x="8201025" y="3476625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5F6B7A"/>
                </a:solidFill>
              </a:defRPr>
            </a:pPr>
            <a:r>
              <a:rPr sz="1425" b="1" i="0">
                <a:solidFill>
                  <a:srgbClr val="5F6B7A"/>
                </a:solidFill>
              </a:rPr>
              <a:t>Phase-axis rotation</a:t>
            </a:r>
          </a:p>
        </p:txBody>
      </p:sp>
      <p:sp>
        <p:nvSpPr>
          <p:cNvPr id="15" name="key-finding">
            <a:extLst>
              <a:ext uri="{FF2B5EF4-FFF2-40B4-BE49-F238E27FC236}">
                <a16:creationId xmlns:a16="http://schemas.microsoft.com/office/drawing/2014/main" id="{95DA092B-2467-475E-AD7B-3F61A75B3747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BE67489-4DA7-4CC6-BD97-D45EA5DB8D5C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Coherent error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2C40666-3391-4BE6-9262-D35168541D78}"/>
              </a:ext>
            </a:extLst>
          </p:cNvPr>
          <p:cNvSpPr>
            <a:spLocks noGrp="1"/>
          </p:cNvSpPr>
          <p:nvPr/>
        </p:nvSpPr>
        <p:spPr>
          <a:xfrm>
            <a:off x="2047875" y="5076825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A fixed unitary over- or under-rotation; θ controls its magnitude and the axis controls its mechanism.</a:t>
            </a:r>
          </a:p>
        </p:txBody>
      </p:sp>
      <p:sp>
        <p:nvSpPr>
          <p:cNvPr id="18" name="page-number">
            <a:extLst>
              <a:ext uri="{FF2B5EF4-FFF2-40B4-BE49-F238E27FC236}">
                <a16:creationId xmlns:a16="http://schemas.microsoft.com/office/drawing/2014/main" id="{BEFD53C0-10F5-427B-BD80-49D767F96395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">
            <a:extLst>
              <a:ext uri="{FF2B5EF4-FFF2-40B4-BE49-F238E27FC236}">
                <a16:creationId xmlns:a16="http://schemas.microsoft.com/office/drawing/2014/main" id="{8F0D5B02-D902-4974-AD77-7699C9992E1E}"/>
              </a:ext>
            </a:extLst>
          </p:cNvPr>
          <p:cNvSpPr>
            <a:spLocks noGrp="1"/>
          </p:cNvSpPr>
          <p:nvPr/>
        </p:nvSpPr>
        <p:spPr>
          <a:xfrm>
            <a:off x="609600" y="387625"/>
            <a:ext cx="5715000" cy="60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L</a:t>
            </a:r>
            <a:r>
              <a:rPr lang="en-US" sz="4000" b="1" i="0" dirty="0">
                <a:solidFill>
                  <a:srgbClr val="111827"/>
                </a:solidFill>
              </a:rPr>
              <a:t>ocalized Error Positions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EB0BF1E-4D45-43D4-8C5C-6526F481EDD5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10953750" cy="934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Four locations isolate when the same rotation acts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5E55FB3-B33E-4C37-BE20-544B73DF27ED}"/>
              </a:ext>
            </a:extLst>
          </p:cNvPr>
          <p:cNvSpPr>
            <a:spLocks noGrp="1"/>
          </p:cNvSpPr>
          <p:nvPr/>
        </p:nvSpPr>
        <p:spPr>
          <a:xfrm>
            <a:off x="1333500" y="5514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35A4A97-5098-4935-89FF-CBBF0DE8CC56}"/>
              </a:ext>
            </a:extLst>
          </p:cNvPr>
          <p:cNvSpPr>
            <a:spLocks noGrp="1"/>
          </p:cNvSpPr>
          <p:nvPr/>
        </p:nvSpPr>
        <p:spPr>
          <a:xfrm>
            <a:off x="3609975" y="55149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endParaRPr sz="1500" b="1" i="0" dirty="0">
              <a:solidFill>
                <a:srgbClr val="3B82F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CF82C51-4ED4-4F73-83C0-C834DEAD6175}"/>
              </a:ext>
            </a:extLst>
          </p:cNvPr>
          <p:cNvSpPr>
            <a:spLocks noGrp="1"/>
          </p:cNvSpPr>
          <p:nvPr/>
        </p:nvSpPr>
        <p:spPr>
          <a:xfrm>
            <a:off x="4152900" y="5514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1386F11-5D53-4419-A211-E4D1EF3C6808}"/>
              </a:ext>
            </a:extLst>
          </p:cNvPr>
          <p:cNvSpPr>
            <a:spLocks noGrp="1"/>
          </p:cNvSpPr>
          <p:nvPr/>
        </p:nvSpPr>
        <p:spPr>
          <a:xfrm>
            <a:off x="6410325" y="55149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endParaRPr sz="1500" b="1" i="0" dirty="0">
              <a:solidFill>
                <a:srgbClr val="3B82F6"/>
              </a:solidFill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76E608C-F623-4B1F-83CA-00F43B802C66}"/>
              </a:ext>
            </a:extLst>
          </p:cNvPr>
          <p:cNvSpPr>
            <a:spLocks noGrp="1"/>
          </p:cNvSpPr>
          <p:nvPr/>
        </p:nvSpPr>
        <p:spPr>
          <a:xfrm>
            <a:off x="6953250" y="5514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 i="0">
                <a:solidFill>
                  <a:srgbClr val="111827"/>
                </a:solidFill>
              </a:defRPr>
            </a:pPr>
            <a:endParaRPr sz="1275" b="1" i="0" dirty="0">
              <a:solidFill>
                <a:srgbClr val="111827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421F02E-DC5B-4D25-8E4D-63B09E29034D}"/>
              </a:ext>
            </a:extLst>
          </p:cNvPr>
          <p:cNvSpPr>
            <a:spLocks noGrp="1"/>
          </p:cNvSpPr>
          <p:nvPr/>
        </p:nvSpPr>
        <p:spPr>
          <a:xfrm>
            <a:off x="9210675" y="5514975"/>
            <a:ext cx="523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endParaRPr sz="1500" b="1" i="0" dirty="0">
              <a:solidFill>
                <a:srgbClr val="3B82F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page-number">
            <a:extLst>
              <a:ext uri="{FF2B5EF4-FFF2-40B4-BE49-F238E27FC236}">
                <a16:creationId xmlns:a16="http://schemas.microsoft.com/office/drawing/2014/main" id="{981D165F-57EE-451A-B416-9AED9150D5A1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10</a:t>
            </a:r>
          </a:p>
        </p:txBody>
      </p:sp>
      <p:pic>
        <p:nvPicPr>
          <p:cNvPr id="18" name="Content Placeholder 8">
            <a:extLst>
              <a:ext uri="{FF2B5EF4-FFF2-40B4-BE49-F238E27FC236}">
                <a16:creationId xmlns:a16="http://schemas.microsoft.com/office/drawing/2014/main" id="{954CA735-DFF0-4477-91FE-89623C895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9" y="2243345"/>
            <a:ext cx="10515600" cy="381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2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1F000F21-E27C-4F80-8B7F-5A2A3D40BE65}"/>
              </a:ext>
            </a:extLst>
          </p:cNvPr>
          <p:cNvSpPr>
            <a:spLocks noGrp="1"/>
          </p:cNvSpPr>
          <p:nvPr/>
        </p:nvSpPr>
        <p:spPr>
          <a:xfrm>
            <a:off x="609600" y="333374"/>
            <a:ext cx="5715000" cy="495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Simulation Methodology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417B6BB-5992-401E-91AC-FB6A954EE3C6}"/>
              </a:ext>
            </a:extLst>
          </p:cNvPr>
          <p:cNvSpPr>
            <a:spLocks noGrp="1"/>
          </p:cNvSpPr>
          <p:nvPr/>
        </p:nvSpPr>
        <p:spPr>
          <a:xfrm>
            <a:off x="609600" y="4371976"/>
            <a:ext cx="10953749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lang="en-US" sz="2850" b="0" i="0" dirty="0">
                <a:solidFill>
                  <a:srgbClr val="111827"/>
                </a:solidFill>
              </a:rPr>
              <a:t>A controlled sweep holds everything else fixed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DADAA71B-D0D5-4363-A274-522768B9B4E1}"/>
              </a:ext>
            </a:extLst>
          </p:cNvPr>
          <p:cNvSpPr>
            <a:spLocks noGrp="1"/>
          </p:cNvSpPr>
          <p:nvPr/>
        </p:nvSpPr>
        <p:spPr>
          <a:xfrm>
            <a:off x="609600" y="1762126"/>
            <a:ext cx="5238750" cy="2266948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9B8EBA63-BB41-42F6-B6D3-BE1D87D9A0A6}"/>
              </a:ext>
            </a:extLst>
          </p:cNvPr>
          <p:cNvSpPr>
            <a:spLocks noGrp="1"/>
          </p:cNvSpPr>
          <p:nvPr/>
        </p:nvSpPr>
        <p:spPr>
          <a:xfrm>
            <a:off x="6076950" y="1790700"/>
            <a:ext cx="5505450" cy="2238374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79C920F-7A75-4BCE-B7D7-166AD4290D73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Error implementation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9DF05F4-0D5B-4668-AB61-5D8AE7FB4525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A7F7571-2753-401F-84D5-0A8EA10DE3D1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Apply one localized rotation to one selected data qubit.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134BB09-4DAB-4A3B-8785-181B982A1507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4A3109C-2918-4B1A-A482-BF8B95A65FC2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Test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Rₓ(θ), Rᵧ(θ), and Rz(θ</a:t>
            </a:r>
            <a:r>
              <a:rPr sz="1500" b="0" i="0" dirty="0">
                <a:solidFill>
                  <a:srgbClr val="111827"/>
                </a:solidFill>
              </a:rPr>
              <a:t>) separately.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97C2411-0E6B-41D5-A120-36F3C4ED1994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74F3B1A-29D4-4339-B84E-0B9D5EA5A12A}"/>
              </a:ext>
            </a:extLst>
          </p:cNvPr>
          <p:cNvSpPr>
            <a:spLocks noGrp="1"/>
          </p:cNvSpPr>
          <p:nvPr/>
        </p:nvSpPr>
        <p:spPr>
          <a:xfrm>
            <a:off x="1104900" y="34671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Repeat independently at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E₁, E₂, E₃, and E₄.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A578119-632F-4F3F-8B00-6D5FF23B93AE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Simulation parameters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4A797CB-2C29-4D45-BAA6-323EAD76160F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AC5E96B-EE36-493F-87F1-FB66A39652F5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Input qubits: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∈ {1, 3, 5, 7, 9}; target q=⌊n/2⌋.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0C6318E-E4A2-441D-9621-9F028E0F3D3F}"/>
              </a:ext>
            </a:extLst>
          </p:cNvPr>
          <p:cNvSpPr>
            <a:spLocks noGrp="1"/>
          </p:cNvSpPr>
          <p:nvPr/>
        </p:nvSpPr>
        <p:spPr>
          <a:xfrm>
            <a:off x="630555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F71FD36-F28E-4B15-8F78-FBFCBAFAE4D8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Angle: 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0°–180° in </a:t>
            </a:r>
            <a:r>
              <a:rPr lang="en-US" sz="150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° </a:t>
            </a:r>
            <a:r>
              <a:rPr sz="1500" b="0" i="0" dirty="0">
                <a:solidFill>
                  <a:srgbClr val="111827"/>
                </a:solidFill>
              </a:rPr>
              <a:t>increments.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E963547-3E6A-41D1-94F7-33D8310B77A7}"/>
              </a:ext>
            </a:extLst>
          </p:cNvPr>
          <p:cNvSpPr>
            <a:spLocks noGrp="1"/>
          </p:cNvSpPr>
          <p:nvPr/>
        </p:nvSpPr>
        <p:spPr>
          <a:xfrm>
            <a:off x="630555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FE075A90-13EE-450E-A787-376A241CB2DD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1024</a:t>
            </a:r>
            <a:r>
              <a:rPr sz="1500" b="0" i="0" dirty="0">
                <a:solidFill>
                  <a:srgbClr val="111827"/>
                </a:solidFill>
              </a:rPr>
              <a:t> measurement shots per circuit execution.</a:t>
            </a:r>
          </a:p>
        </p:txBody>
      </p:sp>
      <p:sp>
        <p:nvSpPr>
          <p:cNvPr id="19" name="key-finding">
            <a:extLst>
              <a:ext uri="{FF2B5EF4-FFF2-40B4-BE49-F238E27FC236}">
                <a16:creationId xmlns:a16="http://schemas.microsoft.com/office/drawing/2014/main" id="{D48C31F1-246D-430D-9EED-9FE95B1C00B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58E6C75-8E9C-4C3F-BC48-507F5CFD46FA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Environment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E6DA33A-FA24-4BA6-BD50-7E15A4EE4114}"/>
              </a:ext>
            </a:extLst>
          </p:cNvPr>
          <p:cNvSpPr>
            <a:spLocks noGrp="1"/>
          </p:cNvSpPr>
          <p:nvPr/>
        </p:nvSpPr>
        <p:spPr>
          <a:xfrm>
            <a:off x="2047875" y="58483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Python • NumPy • SciPy • Matplotlib • JupyterLab • Git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2A809E55-616F-4544-8026-3B27DA682960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">
            <a:extLst>
              <a:ext uri="{FF2B5EF4-FFF2-40B4-BE49-F238E27FC236}">
                <a16:creationId xmlns:a16="http://schemas.microsoft.com/office/drawing/2014/main" id="{230D9053-F937-48C2-BBA7-FC1C6E3C9FBD}"/>
              </a:ext>
            </a:extLst>
          </p:cNvPr>
          <p:cNvSpPr>
            <a:spLocks noGrp="1"/>
          </p:cNvSpPr>
          <p:nvPr/>
        </p:nvSpPr>
        <p:spPr>
          <a:xfrm>
            <a:off x="609600" y="119270"/>
            <a:ext cx="5715000" cy="10626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Simulation workflow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92BF3B4-963A-41C3-8991-1C7CE9086F6C}"/>
              </a:ext>
            </a:extLst>
          </p:cNvPr>
          <p:cNvSpPr>
            <a:spLocks noGrp="1"/>
          </p:cNvSpPr>
          <p:nvPr/>
        </p:nvSpPr>
        <p:spPr>
          <a:xfrm>
            <a:off x="609600" y="1220028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Every trial produces one comparable success probability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DA4897BB-2FBA-43CC-BE73-0357533ECF67}"/>
              </a:ext>
            </a:extLst>
          </p:cNvPr>
          <p:cNvSpPr>
            <a:spLocks noGrp="1"/>
          </p:cNvSpPr>
          <p:nvPr/>
        </p:nvSpPr>
        <p:spPr>
          <a:xfrm>
            <a:off x="438150" y="1952625"/>
            <a:ext cx="1952625" cy="1524000"/>
          </a:xfrm>
          <a:prstGeom prst="roundRect">
            <a:avLst>
              <a:gd name="adj" fmla="val 75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CFF035E-B1CE-4954-A9C2-49A14C8797A7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8AE0B0C-5C38-4F83-80C8-A7C2B04E3ADC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619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Choose n, axis, location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C7F4AF2-6B21-4EC4-AC5C-76191F8593DB}"/>
              </a:ext>
            </a:extLst>
          </p:cNvPr>
          <p:cNvSpPr>
            <a:spLocks noGrp="1"/>
          </p:cNvSpPr>
          <p:nvPr/>
        </p:nvSpPr>
        <p:spPr>
          <a:xfrm>
            <a:off x="2409825" y="24765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 i="0">
                <a:solidFill>
                  <a:srgbClr val="5F6B7A"/>
                </a:solidFill>
              </a:defRPr>
            </a:pPr>
            <a:r>
              <a:rPr sz="2250" b="1" i="0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71CBEDE9-91ED-4682-8FA4-8E9CF8E46A5F}"/>
              </a:ext>
            </a:extLst>
          </p:cNvPr>
          <p:cNvSpPr>
            <a:spLocks noGrp="1"/>
          </p:cNvSpPr>
          <p:nvPr/>
        </p:nvSpPr>
        <p:spPr>
          <a:xfrm>
            <a:off x="2771775" y="1972503"/>
            <a:ext cx="195262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5575AF1-A81B-4C70-976E-0D9DEA7EFB4D}"/>
              </a:ext>
            </a:extLst>
          </p:cNvPr>
          <p:cNvSpPr>
            <a:spLocks noGrp="1"/>
          </p:cNvSpPr>
          <p:nvPr/>
        </p:nvSpPr>
        <p:spPr>
          <a:xfrm>
            <a:off x="2943225" y="20955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74B54F1-60D7-4C26-BCE0-4C925B7CB1A0}"/>
              </a:ext>
            </a:extLst>
          </p:cNvPr>
          <p:cNvSpPr>
            <a:spLocks noGrp="1"/>
          </p:cNvSpPr>
          <p:nvPr/>
        </p:nvSpPr>
        <p:spPr>
          <a:xfrm>
            <a:off x="2943225" y="2647950"/>
            <a:ext cx="1619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Choose θ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7933235-1EDE-4362-B0CB-E7D14EFC55A0}"/>
              </a:ext>
            </a:extLst>
          </p:cNvPr>
          <p:cNvSpPr>
            <a:spLocks noGrp="1"/>
          </p:cNvSpPr>
          <p:nvPr/>
        </p:nvSpPr>
        <p:spPr>
          <a:xfrm>
            <a:off x="4743450" y="24765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 i="0">
                <a:solidFill>
                  <a:srgbClr val="5F6B7A"/>
                </a:solidFill>
              </a:defRPr>
            </a:pPr>
            <a:r>
              <a:rPr sz="2250" b="1" i="0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D22EA243-E0A3-4119-9D2F-A25DD4E5F26D}"/>
              </a:ext>
            </a:extLst>
          </p:cNvPr>
          <p:cNvSpPr>
            <a:spLocks noGrp="1"/>
          </p:cNvSpPr>
          <p:nvPr/>
        </p:nvSpPr>
        <p:spPr>
          <a:xfrm>
            <a:off x="5105400" y="1952625"/>
            <a:ext cx="1952625" cy="1524000"/>
          </a:xfrm>
          <a:prstGeom prst="roundRect">
            <a:avLst>
              <a:gd name="adj" fmla="val 75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9A9A413-E56F-4753-8B82-F37A266215AE}"/>
              </a:ext>
            </a:extLst>
          </p:cNvPr>
          <p:cNvSpPr>
            <a:spLocks noGrp="1"/>
          </p:cNvSpPr>
          <p:nvPr/>
        </p:nvSpPr>
        <p:spPr>
          <a:xfrm>
            <a:off x="5276850" y="20955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6930959-2A45-4A34-8B64-1D27C33B487B}"/>
              </a:ext>
            </a:extLst>
          </p:cNvPr>
          <p:cNvSpPr>
            <a:spLocks noGrp="1"/>
          </p:cNvSpPr>
          <p:nvPr/>
        </p:nvSpPr>
        <p:spPr>
          <a:xfrm>
            <a:off x="5276850" y="2647950"/>
            <a:ext cx="1619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Build and execute circuit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C57A0BA-23BA-48A9-802C-C2044453CD2B}"/>
              </a:ext>
            </a:extLst>
          </p:cNvPr>
          <p:cNvSpPr>
            <a:spLocks noGrp="1"/>
          </p:cNvSpPr>
          <p:nvPr/>
        </p:nvSpPr>
        <p:spPr>
          <a:xfrm>
            <a:off x="7077075" y="24765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 i="0">
                <a:solidFill>
                  <a:srgbClr val="5F6B7A"/>
                </a:solidFill>
              </a:defRPr>
            </a:pPr>
            <a:r>
              <a:rPr sz="2250" b="1" i="0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B45A4A-C566-4599-97C7-F3E4F9B53753}"/>
              </a:ext>
            </a:extLst>
          </p:cNvPr>
          <p:cNvSpPr>
            <a:spLocks noGrp="1"/>
          </p:cNvSpPr>
          <p:nvPr/>
        </p:nvSpPr>
        <p:spPr>
          <a:xfrm>
            <a:off x="7439025" y="1952625"/>
            <a:ext cx="1952625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9EEF4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D076E74-6104-4B8E-8A7E-3F05BAF6A553}"/>
              </a:ext>
            </a:extLst>
          </p:cNvPr>
          <p:cNvSpPr>
            <a:spLocks noGrp="1"/>
          </p:cNvSpPr>
          <p:nvPr/>
        </p:nvSpPr>
        <p:spPr>
          <a:xfrm>
            <a:off x="7610475" y="20955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E910162-329D-47CF-8AF5-A6D5F9780074}"/>
              </a:ext>
            </a:extLst>
          </p:cNvPr>
          <p:cNvSpPr>
            <a:spLocks noGrp="1"/>
          </p:cNvSpPr>
          <p:nvPr/>
        </p:nvSpPr>
        <p:spPr>
          <a:xfrm>
            <a:off x="7610475" y="2647950"/>
            <a:ext cx="1619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Repeat 1024 shots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80C5490-4461-4EE7-A2CA-C234F3C2B156}"/>
              </a:ext>
            </a:extLst>
          </p:cNvPr>
          <p:cNvSpPr>
            <a:spLocks noGrp="1"/>
          </p:cNvSpPr>
          <p:nvPr/>
        </p:nvSpPr>
        <p:spPr>
          <a:xfrm>
            <a:off x="9410700" y="2476500"/>
            <a:ext cx="38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 i="0">
                <a:solidFill>
                  <a:srgbClr val="5F6B7A"/>
                </a:solidFill>
              </a:defRPr>
            </a:pPr>
            <a:r>
              <a:rPr sz="2250" b="1" i="0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12E450CC-0A1F-4C0E-8CBD-53388A52D506}"/>
              </a:ext>
            </a:extLst>
          </p:cNvPr>
          <p:cNvSpPr>
            <a:spLocks noGrp="1"/>
          </p:cNvSpPr>
          <p:nvPr/>
        </p:nvSpPr>
        <p:spPr>
          <a:xfrm>
            <a:off x="9772650" y="1952625"/>
            <a:ext cx="1952625" cy="1524000"/>
          </a:xfrm>
          <a:prstGeom prst="roundRect">
            <a:avLst>
              <a:gd name="adj" fmla="val 75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94DFCC0-4E01-4406-AF68-25C2771DB3C8}"/>
              </a:ext>
            </a:extLst>
          </p:cNvPr>
          <p:cNvSpPr>
            <a:spLocks noGrp="1"/>
          </p:cNvSpPr>
          <p:nvPr/>
        </p:nvSpPr>
        <p:spPr>
          <a:xfrm>
            <a:off x="9944100" y="20955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 i="0">
                <a:solidFill>
                  <a:srgbClr val="3B82F6"/>
                </a:solidFill>
              </a:defRPr>
            </a:pPr>
            <a:r>
              <a:rPr sz="1875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F072F560-BAB1-46D7-BC83-0AA8E9A8EDC6}"/>
              </a:ext>
            </a:extLst>
          </p:cNvPr>
          <p:cNvSpPr>
            <a:spLocks noGrp="1"/>
          </p:cNvSpPr>
          <p:nvPr/>
        </p:nvSpPr>
        <p:spPr>
          <a:xfrm>
            <a:off x="9944100" y="2647950"/>
            <a:ext cx="1619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Calculate P(0ⁿ)</a:t>
            </a: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DA2CA8B3-7610-4034-92EB-9AE085387A85}"/>
              </a:ext>
            </a:extLst>
          </p:cNvPr>
          <p:cNvSpPr>
            <a:spLocks noGrp="1"/>
          </p:cNvSpPr>
          <p:nvPr/>
        </p:nvSpPr>
        <p:spPr>
          <a:xfrm>
            <a:off x="1714500" y="4143375"/>
            <a:ext cx="8763000" cy="1143000"/>
          </a:xfrm>
          <a:prstGeom prst="roundRect">
            <a:avLst>
              <a:gd name="adj" fmla="val 7500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5F5A20EA-9345-4312-97A1-0A2D83B50C3E}"/>
              </a:ext>
            </a:extLst>
          </p:cNvPr>
          <p:cNvSpPr>
            <a:spLocks noGrp="1"/>
          </p:cNvSpPr>
          <p:nvPr/>
        </p:nvSpPr>
        <p:spPr>
          <a:xfrm>
            <a:off x="2000250" y="43053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5F6B7A"/>
                </a:solidFill>
              </a:defRPr>
            </a:pPr>
            <a:r>
              <a:rPr sz="1425" b="1" i="0">
                <a:solidFill>
                  <a:srgbClr val="5F6B7A"/>
                </a:solidFill>
              </a:rPr>
              <a:t>Performance metric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398126F5-0A77-4AB5-B3D6-73831763F682}"/>
              </a:ext>
            </a:extLst>
          </p:cNvPr>
          <p:cNvSpPr>
            <a:spLocks noGrp="1"/>
          </p:cNvSpPr>
          <p:nvPr/>
        </p:nvSpPr>
        <p:spPr>
          <a:xfrm>
            <a:off x="2000250" y="464820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 i="0">
                <a:solidFill>
                  <a:srgbClr val="1E55A0"/>
                </a:solidFill>
              </a:defRPr>
            </a:pPr>
            <a:r>
              <a:rPr sz="2250" b="1" i="0">
                <a:solidFill>
                  <a:srgbClr val="1E55A0"/>
                </a:solidFill>
              </a:rPr>
              <a:t>P(0ⁿ) = N(0ⁿ) / 1024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2BB16F5C-F3E6-476F-A231-2E8A6F9C5E8B}"/>
              </a:ext>
            </a:extLst>
          </p:cNvPr>
          <p:cNvSpPr>
            <a:spLocks noGrp="1"/>
          </p:cNvSpPr>
          <p:nvPr/>
        </p:nvSpPr>
        <p:spPr>
          <a:xfrm>
            <a:off x="6477000" y="4552950"/>
            <a:ext cx="361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Fraction of shots that produce the all-zero data register</a:t>
            </a:r>
          </a:p>
        </p:txBody>
      </p:sp>
      <p:sp>
        <p:nvSpPr>
          <p:cNvPr id="26" name="page-number">
            <a:extLst>
              <a:ext uri="{FF2B5EF4-FFF2-40B4-BE49-F238E27FC236}">
                <a16:creationId xmlns:a16="http://schemas.microsoft.com/office/drawing/2014/main" id="{C6E70A8D-20A7-4260-A59B-BB5B72F97E2A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">
            <a:extLst>
              <a:ext uri="{FF2B5EF4-FFF2-40B4-BE49-F238E27FC236}">
                <a16:creationId xmlns:a16="http://schemas.microsoft.com/office/drawing/2014/main" id="{C8750C3D-E0BB-448D-92B8-BFC13AF567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1CD38B7-0AA2-4E7D-921E-50308D3CCEDB}"/>
              </a:ext>
            </a:extLst>
          </p:cNvPr>
          <p:cNvSpPr>
            <a:spLocks noGrp="1"/>
          </p:cNvSpPr>
          <p:nvPr/>
        </p:nvSpPr>
        <p:spPr>
          <a:xfrm>
            <a:off x="685800" y="904874"/>
            <a:ext cx="7086600" cy="8941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Results and Discussion</a:t>
            </a:r>
            <a:endParaRPr lang="en-US" sz="4000" b="1" i="0" dirty="0">
              <a:solidFill>
                <a:srgbClr val="111827"/>
              </a:solidFill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19FE0D-FF92-4ABE-A5B4-C0237AE0549D}"/>
              </a:ext>
            </a:extLst>
          </p:cNvPr>
          <p:cNvSpPr>
            <a:spLocks noGrp="1"/>
          </p:cNvSpPr>
          <p:nvPr/>
        </p:nvSpPr>
        <p:spPr>
          <a:xfrm>
            <a:off x="685800" y="1941858"/>
            <a:ext cx="9250052" cy="10108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750" b="1" i="0">
                <a:solidFill>
                  <a:srgbClr val="111827"/>
                </a:solidFill>
              </a:defRPr>
            </a:pPr>
            <a:r>
              <a:rPr sz="2800" i="0" dirty="0">
                <a:solidFill>
                  <a:srgbClr val="111827"/>
                </a:solidFill>
              </a:rPr>
              <a:t>Sensitivity is an</a:t>
            </a:r>
            <a:r>
              <a:rPr lang="en-US" sz="2800" dirty="0">
                <a:solidFill>
                  <a:srgbClr val="111827"/>
                </a:solidFill>
              </a:rPr>
              <a:t> </a:t>
            </a:r>
            <a:r>
              <a:rPr lang="en-US" sz="2800" i="0" dirty="0">
                <a:solidFill>
                  <a:srgbClr val="111827"/>
                </a:solidFill>
              </a:rPr>
              <a:t>axis–location interaction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08290FA-DE3D-4B7F-A9CB-F36922F6B847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7381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 i="0">
                <a:solidFill>
                  <a:srgbClr val="5F6B7A"/>
                </a:solidFill>
              </a:defRPr>
            </a:pPr>
            <a:r>
              <a:rPr sz="1650" b="0" i="0" dirty="0">
                <a:solidFill>
                  <a:srgbClr val="5F6B7A"/>
                </a:solidFill>
              </a:rPr>
              <a:t>Nine plots test two constant functions and one balanced function across X, Y, and Z rotations.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976F8A2B-EF6E-4C80-BABD-D233E944C973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30480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1C5BCC-BCA1-497A-8508-08BAFC521CFD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590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3B82F6"/>
                </a:solidFill>
              </a:defRPr>
            </a:pPr>
            <a:r>
              <a:rPr sz="3150" b="1" i="0">
                <a:solidFill>
                  <a:srgbClr val="3B82F6"/>
                </a:solidFill>
              </a:rPr>
              <a:t>X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636EDF1-C413-4947-A729-2A8D390A643E}"/>
              </a:ext>
            </a:extLst>
          </p:cNvPr>
          <p:cNvSpPr>
            <a:spLocks noGrp="1"/>
          </p:cNvSpPr>
          <p:nvPr/>
        </p:nvSpPr>
        <p:spPr>
          <a:xfrm>
            <a:off x="1581150" y="5000625"/>
            <a:ext cx="195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 dirty="0">
                <a:solidFill>
                  <a:srgbClr val="111827"/>
                </a:solidFill>
              </a:rPr>
              <a:t>E₁ </a:t>
            </a:r>
            <a:r>
              <a:rPr lang="en-US" sz="1500" b="1" i="0" dirty="0">
                <a:solidFill>
                  <a:srgbClr val="111827"/>
                </a:solidFill>
              </a:rPr>
              <a:t> and </a:t>
            </a:r>
            <a:r>
              <a:rPr sz="1500" b="1" i="0" dirty="0">
                <a:solidFill>
                  <a:srgbClr val="111827"/>
                </a:solidFill>
              </a:rPr>
              <a:t> E₄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67B4ED5-D097-4EF6-A80A-9E84B39D5AB8}"/>
              </a:ext>
            </a:extLst>
          </p:cNvPr>
          <p:cNvSpPr>
            <a:spLocks noGrp="1"/>
          </p:cNvSpPr>
          <p:nvPr/>
        </p:nvSpPr>
        <p:spPr>
          <a:xfrm>
            <a:off x="4152900" y="4762500"/>
            <a:ext cx="30480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1F9DC46-7339-4EDF-86F1-28EB89DFA5DA}"/>
              </a:ext>
            </a:extLst>
          </p:cNvPr>
          <p:cNvSpPr>
            <a:spLocks noGrp="1"/>
          </p:cNvSpPr>
          <p:nvPr/>
        </p:nvSpPr>
        <p:spPr>
          <a:xfrm>
            <a:off x="4343400" y="4905375"/>
            <a:ext cx="590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EA7A14"/>
                </a:solidFill>
              </a:defRPr>
            </a:pPr>
            <a:r>
              <a:rPr sz="3150" b="1" i="0">
                <a:solidFill>
                  <a:srgbClr val="EA7A14"/>
                </a:solidFill>
              </a:rPr>
              <a:t>Y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C6D5ECE-6137-4E1A-BB15-1AD57E18AFA5}"/>
              </a:ext>
            </a:extLst>
          </p:cNvPr>
          <p:cNvSpPr>
            <a:spLocks noGrp="1"/>
          </p:cNvSpPr>
          <p:nvPr/>
        </p:nvSpPr>
        <p:spPr>
          <a:xfrm>
            <a:off x="5010150" y="5000625"/>
            <a:ext cx="195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All locations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FCB27A01-C8D6-47EC-A1BC-2598C2970B78}"/>
              </a:ext>
            </a:extLst>
          </p:cNvPr>
          <p:cNvSpPr>
            <a:spLocks noGrp="1"/>
          </p:cNvSpPr>
          <p:nvPr/>
        </p:nvSpPr>
        <p:spPr>
          <a:xfrm>
            <a:off x="7581900" y="4762500"/>
            <a:ext cx="30480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F21BD14-0492-4158-82AC-C8916C441B85}"/>
              </a:ext>
            </a:extLst>
          </p:cNvPr>
          <p:cNvSpPr>
            <a:spLocks noGrp="1"/>
          </p:cNvSpPr>
          <p:nvPr/>
        </p:nvSpPr>
        <p:spPr>
          <a:xfrm>
            <a:off x="7772400" y="4905375"/>
            <a:ext cx="590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 i="0">
                <a:solidFill>
                  <a:srgbClr val="2E9E69"/>
                </a:solidFill>
              </a:defRPr>
            </a:pPr>
            <a:r>
              <a:rPr sz="3150" b="1" i="0">
                <a:solidFill>
                  <a:srgbClr val="2E9E69"/>
                </a:solidFill>
              </a:rPr>
              <a:t>Z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2AE5D6A-3177-43F5-A5AA-3996FB3BE013}"/>
              </a:ext>
            </a:extLst>
          </p:cNvPr>
          <p:cNvSpPr>
            <a:spLocks noGrp="1"/>
          </p:cNvSpPr>
          <p:nvPr/>
        </p:nvSpPr>
        <p:spPr>
          <a:xfrm>
            <a:off x="8439150" y="5000625"/>
            <a:ext cx="1952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 dirty="0">
                <a:solidFill>
                  <a:srgbClr val="111827"/>
                </a:solidFill>
              </a:rPr>
              <a:t>E₂ </a:t>
            </a:r>
            <a:r>
              <a:rPr lang="en-US" sz="1500" b="1" dirty="0">
                <a:solidFill>
                  <a:srgbClr val="111827"/>
                </a:solidFill>
              </a:rPr>
              <a:t> and </a:t>
            </a:r>
            <a:r>
              <a:rPr sz="1500" b="1" i="0" dirty="0">
                <a:solidFill>
                  <a:srgbClr val="111827"/>
                </a:solidFill>
              </a:rPr>
              <a:t>E₃</a:t>
            </a:r>
          </a:p>
        </p:txBody>
      </p:sp>
      <p:sp>
        <p:nvSpPr>
          <p:cNvPr id="14" name="page-number">
            <a:extLst>
              <a:ext uri="{FF2B5EF4-FFF2-40B4-BE49-F238E27FC236}">
                <a16:creationId xmlns:a16="http://schemas.microsoft.com/office/drawing/2014/main" id="{39D0C072-1311-46F8-953E-66B5CB9A9F85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9640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2BA106D5-CCE2-42F7-82B6-B189394696AE}"/>
              </a:ext>
            </a:extLst>
          </p:cNvPr>
          <p:cNvSpPr>
            <a:spLocks noGrp="1"/>
          </p:cNvSpPr>
          <p:nvPr/>
        </p:nvSpPr>
        <p:spPr>
          <a:xfrm>
            <a:off x="609600" y="308113"/>
            <a:ext cx="5715000" cy="745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4FF5253-4FA5-477B-9B6A-ED97C25A386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898F973A-9B5E-49CC-A02A-A99078B2E229}"/>
              </a:ext>
            </a:extLst>
          </p:cNvPr>
          <p:cNvSpPr>
            <a:spLocks noGrp="1"/>
          </p:cNvSpPr>
          <p:nvPr/>
        </p:nvSpPr>
        <p:spPr>
          <a:xfrm>
            <a:off x="8020050" y="1638300"/>
            <a:ext cx="3562350" cy="423484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3E8B273-42F9-484E-9A45-381A789EEC3F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X-axis rotation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D9A1633-D7D1-4B46-AC10-A834C0BFD476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0D3B76-631E-431B-9C86-368C3218442A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E₁ and E₄ degrade together from P(0ⁿ)≈1 toward 0.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330A994-2D27-4590-BB39-AE5620A14696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023154D-2672-4DA2-809F-D9E7D369BD0A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remain close to the ideal curve.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EDD7AEF-A1BF-4768-9950-FF72ED9A679F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35F15AF-1E8C-449B-A7E1-CE0091A879A2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endParaRPr lang="en-US" sz="1350" b="0" i="0" dirty="0">
              <a:solidFill>
                <a:srgbClr val="111827"/>
              </a:solidFill>
            </a:endParaRPr>
          </a:p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At intermediate stages, X-basis eigenstates turn the rotation mainly into phase.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9B0832CB-76A8-4427-9D7D-236CEB819C0C}"/>
              </a:ext>
            </a:extLst>
          </p:cNvPr>
          <p:cNvSpPr>
            <a:spLocks noGrp="1"/>
          </p:cNvSpPr>
          <p:nvPr/>
        </p:nvSpPr>
        <p:spPr>
          <a:xfrm>
            <a:off x="8515350" y="4559971"/>
            <a:ext cx="2828925" cy="8692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3B82F6"/>
                </a:solidFill>
              </a:defRPr>
            </a:pPr>
            <a:r>
              <a:rPr lang="en-US" sz="1400" dirty="0"/>
              <a:t>Most sensitive: state preparation and pre-measurement</a:t>
            </a:r>
            <a:endParaRPr lang="en-US" sz="1400" b="1" i="0" dirty="0">
              <a:solidFill>
                <a:srgbClr val="3B82F6"/>
              </a:solidFill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F135F74-CB22-4DB8-9B27-4F9F917DADCB}"/>
              </a:ext>
            </a:extLst>
          </p:cNvPr>
          <p:cNvSpPr>
            <a:spLocks noGrp="1"/>
          </p:cNvSpPr>
          <p:nvPr/>
        </p:nvSpPr>
        <p:spPr>
          <a:xfrm>
            <a:off x="8401050" y="4467225"/>
            <a:ext cx="28003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endParaRPr sz="1275" b="1" i="0" dirty="0">
              <a:solidFill>
                <a:srgbClr val="D94B4B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CF0AEDE-2378-4F7A-9F51-1D93755899D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 dirty="0">
                <a:solidFill>
                  <a:srgbClr val="5F6B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670064C6-D2E1-4876-BFCF-EA73617D18F9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D55805-8E68-4424-8DD5-C78A112E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9" y="1673627"/>
            <a:ext cx="7242676" cy="44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9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06680F6A-12C1-46BF-8F2F-0BD0473B14F5}"/>
              </a:ext>
            </a:extLst>
          </p:cNvPr>
          <p:cNvSpPr>
            <a:spLocks noGrp="1"/>
          </p:cNvSpPr>
          <p:nvPr/>
        </p:nvSpPr>
        <p:spPr>
          <a:xfrm>
            <a:off x="609600" y="109330"/>
            <a:ext cx="5715000" cy="10293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7EB940B-30D7-46BB-95FE-352F0BE4935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lang="en-US"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9D9A72F9-6424-4DC5-8940-8D79C032E179}"/>
              </a:ext>
            </a:extLst>
          </p:cNvPr>
          <p:cNvSpPr>
            <a:spLocks noGrp="1"/>
          </p:cNvSpPr>
          <p:nvPr/>
        </p:nvSpPr>
        <p:spPr>
          <a:xfrm>
            <a:off x="8001000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3B58DAA-5BEF-4B6C-81F8-476AE4249A50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Y-axis rotation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681550F-0574-4500-A7FE-B14BD2C26B91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E2DEC8B-29DC-4517-BBC6-2907CE7F345B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lang="en-US" sz="1350" b="0" i="0" dirty="0">
                <a:solidFill>
                  <a:srgbClr val="111827"/>
                </a:solidFill>
              </a:rPr>
              <a:t>All four error-location curves nearly overlap.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A0EB29A-D586-4E85-B2CC-76BCFE4E7A91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8563748-E273-4751-AF7E-C0E0D5FD8493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P(0ⁿ) decreases steadily as θ approaches 180°.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C22B141-B065-44FC-8246-4BC933FF5041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27449B9-324D-44E5-9EEB-C84905EE7832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Rotation angle dominates; no location is substantially protected.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DD609BA3-0FA6-4813-92D6-A4F3D8158F21}"/>
              </a:ext>
            </a:extLst>
          </p:cNvPr>
          <p:cNvSpPr>
            <a:spLocks noGrp="1"/>
          </p:cNvSpPr>
          <p:nvPr/>
        </p:nvSpPr>
        <p:spPr>
          <a:xfrm>
            <a:off x="8248650" y="4714875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B6242FE-899A-4298-93ED-628A71990421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EA7A14"/>
                </a:solidFill>
              </a:defRPr>
            </a:pPr>
            <a:r>
              <a:rPr lang="en-US" dirty="0"/>
              <a:t>Uniform location sensitivity</a:t>
            </a:r>
            <a:endParaRPr sz="1275" b="1" i="0" dirty="0">
              <a:solidFill>
                <a:srgbClr val="EA7A14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DF759E6-355D-4AA2-868B-4C56413B66C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9EE608FE-A04F-4F8E-9477-6427B4C1BC43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701DC-D543-4885-A072-F2792625E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09" y="1468092"/>
            <a:ext cx="7242676" cy="43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01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178DA994-6378-4D85-A653-26ADA64EB096}"/>
              </a:ext>
            </a:extLst>
          </p:cNvPr>
          <p:cNvSpPr>
            <a:spLocks noGrp="1"/>
          </p:cNvSpPr>
          <p:nvPr/>
        </p:nvSpPr>
        <p:spPr>
          <a:xfrm>
            <a:off x="609600" y="313497"/>
            <a:ext cx="5715000" cy="936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E53E417C-143C-450A-B06D-2C2ACA149963}"/>
              </a:ext>
            </a:extLst>
          </p:cNvPr>
          <p:cNvSpPr>
            <a:spLocks noGrp="1"/>
          </p:cNvSpPr>
          <p:nvPr/>
        </p:nvSpPr>
        <p:spPr>
          <a:xfrm>
            <a:off x="8004313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FF0D1EA-072E-4562-BADD-3D591B67521C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Z-axis rotation</a:t>
            </a:r>
            <a:r>
              <a:rPr lang="en-US" sz="1650" b="1" i="0" dirty="0">
                <a:solidFill>
                  <a:srgbClr val="111827"/>
                </a:solidFill>
              </a:rPr>
              <a:t> </a:t>
            </a:r>
            <a:r>
              <a:rPr lang="en-US" sz="1800" b="0" i="0" dirty="0">
                <a:solidFill>
                  <a:srgbClr val="111827"/>
                </a:solidFill>
              </a:rPr>
              <a:t>constant f(x)=1, Z rotations target E₂ and E₃</a:t>
            </a:r>
            <a:endParaRPr sz="1650" b="1" i="0" dirty="0">
              <a:solidFill>
                <a:srgbClr val="111827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5D28410-D1DE-45CC-942C-877EDF80668F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C75A3B7-85B5-4F7D-A8C6-09C1D3CC0FB1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E₁ and E₄ remain essentially ideal.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3FCBAB5-80BD-4BD4-A573-629CC24DDC86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9D34AE5-A31C-4817-8850-498B8101588E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lose success probability as θ increases.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29A09CB-7028-4D12-89C3-439B5C7472A1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FECCBA2-F100-4F8A-AD96-9D8447BC3A55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Relative phase changes inside the interference region alter the final outcome.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7B72DB5E-29BF-4D68-824B-BB8EEF86AD79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847EC93-9D61-4C12-A777-A9AC0379DB8C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lang="en-US" dirty="0"/>
              <a:t>Most sensitive: oracle input and oracle output</a:t>
            </a:r>
            <a:endParaRPr sz="1275" b="1" i="0" dirty="0">
              <a:solidFill>
                <a:srgbClr val="2E9E69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507E8FE-D927-4701-A668-1CB2895576C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BAD154F4-01F5-4F22-A993-C828D7248B2C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E3C995-D279-45FD-94E1-5CB511A8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02" y="1428750"/>
            <a:ext cx="7242676" cy="430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CB2D2292-3FA0-4A32-A938-729B6E88EE11}"/>
              </a:ext>
            </a:extLst>
          </p:cNvPr>
          <p:cNvSpPr>
            <a:spLocks noGrp="1"/>
          </p:cNvSpPr>
          <p:nvPr/>
        </p:nvSpPr>
        <p:spPr>
          <a:xfrm>
            <a:off x="609600" y="148595"/>
            <a:ext cx="5715000" cy="998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5F389FC-BD3B-41A9-AAE3-94D9DF102AC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A5EF760E-DB4C-46F0-9F3C-E18264D39C99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FB182E5-0785-409D-9204-434C2358622C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314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X-axis rotation · </a:t>
            </a:r>
            <a:r>
              <a:rPr lang="en-US" sz="1800" b="0" i="0" dirty="0">
                <a:solidFill>
                  <a:srgbClr val="111827"/>
                </a:solidFill>
              </a:rPr>
              <a:t>Constant f(x)=0 </a:t>
            </a:r>
            <a:endParaRPr sz="1650" b="1" i="0" dirty="0">
              <a:solidFill>
                <a:srgbClr val="111827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76434B1-D207-4C03-BED9-64A76C674AFF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206F6F4-7119-4A3A-8C8A-CEFE912970A7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E₁ and E₄ again show the dominant degradation.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58D871D-AFE5-40A8-AD60-D81F264A1594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6054198-1164-4ADD-B4C6-6549C867BB81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remain near the ideal result.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C506D96-8E1A-48D8-A249-CAADA4093F35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C14572C-BBE2-43A8-9142-56D533C84381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location pattern is not specific to the constant output value.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88152238-1903-4231-BCFF-DCF6D3C4D493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D59DE84-07BD-4B6C-A25C-C8ACB64FE3BD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3B82F6"/>
                </a:solidFill>
              </a:defRPr>
            </a:pPr>
            <a:r>
              <a:rPr lang="en-US" dirty="0"/>
              <a:t>Robust pattern across both constant functions</a:t>
            </a:r>
            <a:endParaRPr sz="1275" b="1" i="0" dirty="0">
              <a:solidFill>
                <a:srgbClr val="3B82F6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C102940-156F-443B-9FD3-B2FBB1CBB755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643B2D93-1F0D-4CA7-8FAD-A22D59F14643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17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C1D359-CA87-497E-ABBA-1D2E1BDBA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1" y="1623055"/>
            <a:ext cx="7239000" cy="40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97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67509649-FE0B-46AB-BCCD-6F643247F429}"/>
              </a:ext>
            </a:extLst>
          </p:cNvPr>
          <p:cNvSpPr>
            <a:spLocks noGrp="1"/>
          </p:cNvSpPr>
          <p:nvPr/>
        </p:nvSpPr>
        <p:spPr>
          <a:xfrm>
            <a:off x="609600" y="333374"/>
            <a:ext cx="57150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EC22F3B-2A59-45D9-BDBD-E475F78DB3F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31CCEA4A-2F6B-4F66-8406-4ABB4CD7875E}"/>
              </a:ext>
            </a:extLst>
          </p:cNvPr>
          <p:cNvSpPr>
            <a:spLocks noGrp="1"/>
          </p:cNvSpPr>
          <p:nvPr/>
        </p:nvSpPr>
        <p:spPr>
          <a:xfrm>
            <a:off x="8001000" y="1540564"/>
            <a:ext cx="3562350" cy="3888685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F17ADB9-7861-483E-A052-E0C27FEC25F7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Y-axis rotation · </a:t>
            </a:r>
            <a:r>
              <a:rPr lang="en-US" sz="1800" b="0" i="0" dirty="0">
                <a:solidFill>
                  <a:srgbClr val="111827"/>
                </a:solidFill>
              </a:rPr>
              <a:t>Constant f(x)=0 </a:t>
            </a:r>
            <a:endParaRPr sz="1650" b="1" i="0" dirty="0">
              <a:solidFill>
                <a:srgbClr val="111827"/>
              </a:solidFill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0C87B62-B553-4F3E-851E-86DD987E0EFA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E55F87A-9D8E-40C5-B4BF-542431F4175B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All locations decrease along nearly the same trajectory.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ACB879B-3678-4E75-B5D6-861AA5AD975C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B78E183-3F59-4839-8EB2-8E0C370F1375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Differences are consistent with finite-shot fluctuations.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FAEE44C-D478-4EAB-918E-B0F035F0AD4C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3EB8561-3A7B-4659-8F98-BB4606F8FACA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Angle remains more important than position for Y rotations.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0F6C49D8-796D-45E2-80D1-D59CD12F7584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3095625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5418096-E40A-42F6-B45D-96CB82C9E978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EA7A14"/>
                </a:solidFill>
              </a:defRPr>
            </a:pPr>
            <a:r>
              <a:rPr lang="en-US" dirty="0"/>
              <a:t>Y response is location-independent</a:t>
            </a:r>
            <a:endParaRPr sz="1275" b="1" i="0" dirty="0">
              <a:solidFill>
                <a:srgbClr val="EA7A14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756363A-BB37-4DAA-85DE-85D3B470745E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E1EE8C9B-D7D6-4B2A-8776-397F8021013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CA93F-8E1D-4BD8-B490-14D3FF0BC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49" y="1428750"/>
            <a:ext cx="7242676" cy="425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01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B546C39B-24F7-4F60-9866-9365FDC9C349}"/>
              </a:ext>
            </a:extLst>
          </p:cNvPr>
          <p:cNvSpPr>
            <a:spLocks noGrp="1"/>
          </p:cNvSpPr>
          <p:nvPr/>
        </p:nvSpPr>
        <p:spPr>
          <a:xfrm>
            <a:off x="695738" y="218661"/>
            <a:ext cx="5628861" cy="604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E163FFE-E510-489E-B49C-AAD9F47469B6}"/>
              </a:ext>
            </a:extLst>
          </p:cNvPr>
          <p:cNvSpPr>
            <a:spLocks noGrp="1"/>
          </p:cNvSpPr>
          <p:nvPr/>
        </p:nvSpPr>
        <p:spPr>
          <a:xfrm>
            <a:off x="609600" y="4461014"/>
            <a:ext cx="10273748" cy="1104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Constant f(x)=0 reproduces the Z-axis interference sensitivity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2DA37ADA-D009-4F20-833B-35F1F78AB067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2822714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1AAD06F-C0D9-475D-89D5-DCABD455CD31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Z-axis rotation · constant 0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9BEF24C-60A1-42E0-B9A3-57CA5FDA2F10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A5BF08C-E5A2-4364-B303-FF7238949F82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E₂ and E₃ are again the vulnerable positions.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A0B6F35-8214-4D01-90BA-35CA7363FEC5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32E147D-34D9-4791-9486-8A9BE3ACB53D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E₁ and E₄ stay near P(0ⁿ)=1.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B504E94-248C-4507-8264-D7490F209BAC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A1CEB8C-04BD-4425-945B-D91BCEFEEA9A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same phase-sensitive mechanism holds for both constant oracles.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FD94F55-24E2-46D1-9312-BF8D5DB31205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endParaRPr sz="1275" b="1" i="0" dirty="0">
              <a:solidFill>
                <a:srgbClr val="2E9E69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C9575C8-3DAD-4BA0-8C60-32F62332062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0BB51516-78AD-4843-A4D3-10821613F55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D3A7D-EAA9-4F5C-9D7C-DD8BB99E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91" y="1162878"/>
            <a:ext cx="6527059" cy="316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8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2B027F7B-2F5E-456A-8298-9C167FAECB79}"/>
              </a:ext>
            </a:extLst>
          </p:cNvPr>
          <p:cNvSpPr>
            <a:spLocks noGrp="1"/>
          </p:cNvSpPr>
          <p:nvPr/>
        </p:nvSpPr>
        <p:spPr>
          <a:xfrm>
            <a:off x="609600" y="178904"/>
            <a:ext cx="5715000" cy="745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987D7A9-38FF-4C2A-A665-B1B751CE9764}"/>
              </a:ext>
            </a:extLst>
          </p:cNvPr>
          <p:cNvSpPr>
            <a:spLocks noGrp="1"/>
          </p:cNvSpPr>
          <p:nvPr/>
        </p:nvSpPr>
        <p:spPr>
          <a:xfrm>
            <a:off x="387626" y="5000625"/>
            <a:ext cx="8127724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4" y="1428748"/>
            <a:ext cx="6391275" cy="3829051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F018C003-B978-47DD-A75B-277B69DE8DF5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379095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C6BE9AB-E5EF-480D-B36E-82C445728BD5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X-axis rotation · balanced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614C2DB-0FE1-4473-90F4-6096D12ED38A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7E0D61B-D228-411B-A5AE-87B1A84ED50F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P(0ⁿ) remains approximately zero for all locations and angles.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873C81A-F4A7-42F8-8E74-1F0AF7EA9EF6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772024D-F17A-4E6F-931B-933C50C08DE6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All curves overlap with the ideal balanced result.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3FF2CF2-D3E0-4886-8F90-0AAFE442F501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4F0ABC1-E05D-41B8-98D7-AA90A4069ECE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This metric does not reveal changes among nonzero bit strings.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59CF488-39AF-4636-AFEA-26696930BF73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3B82F6"/>
                </a:solidFill>
              </a:defRPr>
            </a:pPr>
            <a:endParaRPr sz="1275" b="1" i="0" dirty="0">
              <a:solidFill>
                <a:srgbClr val="3B82F6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4F7D73E-6F76-4AE9-BF4C-FB40CBB640D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664DFE16-9EAD-4547-8B56-4DBF89A3FD1F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61303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7ABE75C2-0E06-4B6B-8D3C-648BFD76677E}"/>
              </a:ext>
            </a:extLst>
          </p:cNvPr>
          <p:cNvSpPr>
            <a:spLocks noGrp="1"/>
          </p:cNvSpPr>
          <p:nvPr/>
        </p:nvSpPr>
        <p:spPr>
          <a:xfrm>
            <a:off x="609600" y="188843"/>
            <a:ext cx="5715000" cy="8945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329DD89-D87F-4466-A375-9208D7436E7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21DDF9A4-5885-466F-B350-F366F084A249}"/>
              </a:ext>
            </a:extLst>
          </p:cNvPr>
          <p:cNvSpPr>
            <a:spLocks noGrp="1"/>
          </p:cNvSpPr>
          <p:nvPr/>
        </p:nvSpPr>
        <p:spPr>
          <a:xfrm>
            <a:off x="8020050" y="1428750"/>
            <a:ext cx="3562350" cy="40005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68B11B2-E57E-48C9-B1F9-6E37A5EFCA8A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Y-axis rotation · balanced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78EC765-1FAF-474C-ABF8-C13EF356FA47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85133D1-CBDB-48FD-9713-26B55798C98E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all-zero probability stays at numerical zero.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3204448-8426-441F-82D6-3E68D88BBBBC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C755B6D-F0C7-4F27-A43A-26FEA86A6869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No axis–location dependence appears in P(0ⁿ).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D9136BB-F1C0-4BBB-9478-72D094AB0BF5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5B2B9B2-9028-4083-B22F-E0003ED16787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A full-distribution metric is needed to test whether other outputs changed.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3E5ABA1-BD1B-4B47-8ED1-257F058E062F}"/>
              </a:ext>
            </a:extLst>
          </p:cNvPr>
          <p:cNvSpPr>
            <a:spLocks noGrp="1"/>
          </p:cNvSpPr>
          <p:nvPr/>
        </p:nvSpPr>
        <p:spPr>
          <a:xfrm>
            <a:off x="8401050" y="4676775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EA7A14"/>
                </a:solidFill>
              </a:defRPr>
            </a:pPr>
            <a:endParaRPr sz="1275" b="1" i="0" dirty="0">
              <a:solidFill>
                <a:srgbClr val="EA7A14"/>
              </a:solidFill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53F7B8E-E1F7-4FEA-AF79-3017B0CEBBA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540CA745-2C30-41C7-9659-0FCCEC2F464F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2BC9E1-3D94-4166-83BD-E075C78DD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19200"/>
            <a:ext cx="7071973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03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9A40BD8A-AABB-4DAD-9F1C-AF626A73939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57150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endParaRPr lang="en-US" sz="4000" dirty="0">
              <a:solidFill>
                <a:srgbClr val="111827"/>
              </a:solidFill>
            </a:endParaRPr>
          </a:p>
          <a:p>
            <a:pPr>
              <a:defRPr sz="900" b="1" i="0">
                <a:solidFill>
                  <a:srgbClr val="3B82F6"/>
                </a:solidFill>
              </a:defRPr>
            </a:pPr>
            <a:r>
              <a:rPr lang="en-US" sz="4000" dirty="0">
                <a:solidFill>
                  <a:srgbClr val="111827"/>
                </a:solidFill>
              </a:rPr>
              <a:t>Continued…</a:t>
            </a: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111827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lang="en-US" sz="4000" b="1" i="0" dirty="0">
              <a:solidFill>
                <a:srgbClr val="3B82F6"/>
              </a:solidFill>
            </a:endParaRPr>
          </a:p>
          <a:p>
            <a:pPr algn="l">
              <a:defRPr sz="900" b="1" i="0">
                <a:solidFill>
                  <a:srgbClr val="3B82F6"/>
                </a:solidFill>
              </a:defRPr>
            </a:pPr>
            <a:endParaRPr sz="4000" b="1" i="0" dirty="0">
              <a:solidFill>
                <a:srgbClr val="3B82F6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7F8F857-023B-4DF6-B75B-A47B226A9928}"/>
              </a:ext>
            </a:extLst>
          </p:cNvPr>
          <p:cNvSpPr>
            <a:spLocks noGrp="1"/>
          </p:cNvSpPr>
          <p:nvPr/>
        </p:nvSpPr>
        <p:spPr>
          <a:xfrm>
            <a:off x="609600" y="572536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62A8EF9-016F-4F1D-BC62-726FC0C89847}"/>
              </a:ext>
            </a:extLst>
          </p:cNvPr>
          <p:cNvSpPr>
            <a:spLocks noGrp="1"/>
          </p:cNvSpPr>
          <p:nvPr/>
        </p:nvSpPr>
        <p:spPr>
          <a:xfrm>
            <a:off x="8001000" y="1638300"/>
            <a:ext cx="3562350" cy="3581400"/>
          </a:xfrm>
          <a:prstGeom prst="roundRect">
            <a:avLst>
              <a:gd name="adj" fmla="val 267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3255F0D-C42A-40E1-9406-179918DAED8C}"/>
              </a:ext>
            </a:extLst>
          </p:cNvPr>
          <p:cNvSpPr>
            <a:spLocks noGrp="1"/>
          </p:cNvSpPr>
          <p:nvPr/>
        </p:nvSpPr>
        <p:spPr>
          <a:xfrm>
            <a:off x="8248650" y="1638300"/>
            <a:ext cx="3095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Z-axis rotation · balanced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646BE9F-13AB-4044-873D-C6820F35E017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174BCD2-A1F1-48B9-BD7B-5CD81EFC1143}"/>
              </a:ext>
            </a:extLst>
          </p:cNvPr>
          <p:cNvSpPr>
            <a:spLocks noGrp="1"/>
          </p:cNvSpPr>
          <p:nvPr/>
        </p:nvSpPr>
        <p:spPr>
          <a:xfrm>
            <a:off x="8515350" y="23336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P(0ⁿ) remains approximately zero throughout the sweep.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EEF1A68-CF1C-400B-AE16-957D74357F55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D8031C9-E261-4A97-9DF6-1584C3A662D1}"/>
              </a:ext>
            </a:extLst>
          </p:cNvPr>
          <p:cNvSpPr>
            <a:spLocks noGrp="1"/>
          </p:cNvSpPr>
          <p:nvPr/>
        </p:nvSpPr>
        <p:spPr>
          <a:xfrm>
            <a:off x="8515350" y="300037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decision rule still reports balanced.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5774138-873F-45E9-BBF8-157918B8F443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3CC0408-E037-4975-8771-109D7B4110F8}"/>
              </a:ext>
            </a:extLst>
          </p:cNvPr>
          <p:cNvSpPr>
            <a:spLocks noGrp="1"/>
          </p:cNvSpPr>
          <p:nvPr/>
        </p:nvSpPr>
        <p:spPr>
          <a:xfrm>
            <a:off x="8515350" y="3667125"/>
            <a:ext cx="2828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Stable classification does not imply that the complete output state is unchanged.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D475D2D-6112-4F58-86EF-EF227A87850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 i="0">
                <a:solidFill>
                  <a:srgbClr val="5F6B7A"/>
                </a:solidFill>
              </a:defRPr>
            </a:pPr>
            <a:r>
              <a:rPr sz="975" b="0" i="0">
                <a:solidFill>
                  <a:srgbClr val="5F6B7A"/>
                </a:solidFill>
              </a:rPr>
              <a:t>Each plotted rotation uses the angle sweep θ = 0°…180°</a:t>
            </a:r>
          </a:p>
        </p:txBody>
      </p:sp>
      <p:sp>
        <p:nvSpPr>
          <p:cNvPr id="15" name="page-number">
            <a:extLst>
              <a:ext uri="{FF2B5EF4-FFF2-40B4-BE49-F238E27FC236}">
                <a16:creationId xmlns:a16="http://schemas.microsoft.com/office/drawing/2014/main" id="{74405654-4578-4307-83E0-688D029E7B87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1A407-D02B-4C69-8EB5-9A6BACFE2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59" y="1537899"/>
            <a:ext cx="6626926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03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">
            <a:extLst>
              <a:ext uri="{FF2B5EF4-FFF2-40B4-BE49-F238E27FC236}">
                <a16:creationId xmlns:a16="http://schemas.microsoft.com/office/drawing/2014/main" id="{5287EE35-EA7D-406E-88D2-FD1AC017DEBD}"/>
              </a:ext>
            </a:extLst>
          </p:cNvPr>
          <p:cNvSpPr>
            <a:spLocks noGrp="1"/>
          </p:cNvSpPr>
          <p:nvPr/>
        </p:nvSpPr>
        <p:spPr>
          <a:xfrm>
            <a:off x="609600" y="190499"/>
            <a:ext cx="9289774" cy="783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C</a:t>
            </a:r>
            <a:r>
              <a:rPr lang="en-US" sz="4000" b="1" dirty="0">
                <a:solidFill>
                  <a:srgbClr val="111827"/>
                </a:solidFill>
              </a:rPr>
              <a:t>ross</a:t>
            </a:r>
            <a:r>
              <a:rPr sz="4000" b="1" i="0" dirty="0">
                <a:solidFill>
                  <a:srgbClr val="111827"/>
                </a:solidFill>
              </a:rPr>
              <a:t>-R</a:t>
            </a:r>
            <a:r>
              <a:rPr lang="en-US" sz="4000" b="1" i="0" dirty="0">
                <a:solidFill>
                  <a:srgbClr val="111827"/>
                </a:solidFill>
              </a:rPr>
              <a:t>esult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3ECC77B-93CB-4457-9A80-4905CC515AA5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953750" cy="714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Each axis has a distinct vulnerability map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DA56E7-98C5-427A-816E-B4BE973AF8F5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5F6B7A"/>
                </a:solidFill>
              </a:defRPr>
            </a:pPr>
            <a:r>
              <a:rPr sz="1425" b="1" i="0">
                <a:solidFill>
                  <a:srgbClr val="5F6B7A"/>
                </a:solidFill>
              </a:rPr>
              <a:t>Rotation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6AD90D6-6BA4-446A-BA51-495FBEE401BB}"/>
              </a:ext>
            </a:extLst>
          </p:cNvPr>
          <p:cNvSpPr>
            <a:spLocks noGrp="1"/>
          </p:cNvSpPr>
          <p:nvPr/>
        </p:nvSpPr>
        <p:spPr>
          <a:xfrm>
            <a:off x="3714750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E₁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3F15BA2-A67C-4B81-9C82-D375A9DBB45C}"/>
              </a:ext>
            </a:extLst>
          </p:cNvPr>
          <p:cNvSpPr>
            <a:spLocks noGrp="1"/>
          </p:cNvSpPr>
          <p:nvPr/>
        </p:nvSpPr>
        <p:spPr>
          <a:xfrm>
            <a:off x="5572125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E₂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B4F1ABA-EA49-490A-9E76-C0F1D94987A3}"/>
              </a:ext>
            </a:extLst>
          </p:cNvPr>
          <p:cNvSpPr>
            <a:spLocks noGrp="1"/>
          </p:cNvSpPr>
          <p:nvPr/>
        </p:nvSpPr>
        <p:spPr>
          <a:xfrm>
            <a:off x="7429500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E₃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7862B06-274E-4694-B4AF-3838C8362AD0}"/>
              </a:ext>
            </a:extLst>
          </p:cNvPr>
          <p:cNvSpPr>
            <a:spLocks noGrp="1"/>
          </p:cNvSpPr>
          <p:nvPr/>
        </p:nvSpPr>
        <p:spPr>
          <a:xfrm>
            <a:off x="9286875" y="1571625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111827"/>
                </a:solidFill>
              </a:defRPr>
            </a:pPr>
            <a:r>
              <a:rPr sz="1575" b="1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E₄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1A7A9C5-CC75-472B-8283-E7AEC6214713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 i="0">
                <a:solidFill>
                  <a:srgbClr val="3B82F6"/>
                </a:solidFill>
              </a:defRPr>
            </a:pPr>
            <a:r>
              <a:rPr sz="2100" b="1" i="0" dirty="0">
                <a:solidFill>
                  <a:srgbClr val="3B82F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Rₓ(θ)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EBB6817F-3F50-4AE9-8691-83664E379B95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D3F52ED-6913-4615-98F3-FA097A3C0A0F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B4CCD7AD-068A-4FE5-B54E-347D80E35403}"/>
              </a:ext>
            </a:extLst>
          </p:cNvPr>
          <p:cNvSpPr>
            <a:spLocks noGrp="1"/>
          </p:cNvSpPr>
          <p:nvPr/>
        </p:nvSpPr>
        <p:spPr>
          <a:xfrm>
            <a:off x="5572125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972C051-63E6-4634-9A97-D1D075A80DED}"/>
              </a:ext>
            </a:extLst>
          </p:cNvPr>
          <p:cNvSpPr>
            <a:spLocks noGrp="1"/>
          </p:cNvSpPr>
          <p:nvPr/>
        </p:nvSpPr>
        <p:spPr>
          <a:xfrm>
            <a:off x="5572125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6C06222C-336F-483A-906B-7ED0B8C5D7A5}"/>
              </a:ext>
            </a:extLst>
          </p:cNvPr>
          <p:cNvSpPr>
            <a:spLocks noGrp="1"/>
          </p:cNvSpPr>
          <p:nvPr/>
        </p:nvSpPr>
        <p:spPr>
          <a:xfrm>
            <a:off x="7429500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53FE7A0-1543-4A0D-A037-D8D8B49E6013}"/>
              </a:ext>
            </a:extLst>
          </p:cNvPr>
          <p:cNvSpPr>
            <a:spLocks noGrp="1"/>
          </p:cNvSpPr>
          <p:nvPr/>
        </p:nvSpPr>
        <p:spPr>
          <a:xfrm>
            <a:off x="7429500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640045E9-7294-4CC5-B70E-915049CCD72D}"/>
              </a:ext>
            </a:extLst>
          </p:cNvPr>
          <p:cNvSpPr>
            <a:spLocks noGrp="1"/>
          </p:cNvSpPr>
          <p:nvPr/>
        </p:nvSpPr>
        <p:spPr>
          <a:xfrm>
            <a:off x="9286875" y="22383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8554786-B3D4-4ECD-AA0D-0CFEB8E6792F}"/>
              </a:ext>
            </a:extLst>
          </p:cNvPr>
          <p:cNvSpPr>
            <a:spLocks noGrp="1"/>
          </p:cNvSpPr>
          <p:nvPr/>
        </p:nvSpPr>
        <p:spPr>
          <a:xfrm>
            <a:off x="9286875" y="223837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F72DE41-3093-40EE-893B-8A366768E083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 i="0">
                <a:solidFill>
                  <a:srgbClr val="EA7A14"/>
                </a:solidFill>
              </a:defRPr>
            </a:pPr>
            <a:r>
              <a:rPr sz="2100" b="1" i="0" dirty="0">
                <a:solidFill>
                  <a:srgbClr val="EA7A14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Rᵧ(θ)</a:t>
            </a:r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8FD325FC-5EA9-42F8-A535-AD0F7920BB39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3E6E1FC-C893-4D8E-9C21-DA5432458ABC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569E1B90-8610-469F-BFA5-E0038A6F8AA9}"/>
              </a:ext>
            </a:extLst>
          </p:cNvPr>
          <p:cNvSpPr>
            <a:spLocks noGrp="1"/>
          </p:cNvSpPr>
          <p:nvPr/>
        </p:nvSpPr>
        <p:spPr>
          <a:xfrm>
            <a:off x="5572125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CD684EF-7F5B-4EE6-94FC-5897C0B02355}"/>
              </a:ext>
            </a:extLst>
          </p:cNvPr>
          <p:cNvSpPr>
            <a:spLocks noGrp="1"/>
          </p:cNvSpPr>
          <p:nvPr/>
        </p:nvSpPr>
        <p:spPr>
          <a:xfrm>
            <a:off x="5572125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9FB3E512-6460-4C5E-83A7-206CA6FC361D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4F5432D9-D3F6-4A41-AED2-03476D7B4775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24" name="shape">
            <a:extLst>
              <a:ext uri="{FF2B5EF4-FFF2-40B4-BE49-F238E27FC236}">
                <a16:creationId xmlns:a16="http://schemas.microsoft.com/office/drawing/2014/main" id="{65C11C3B-2A0E-48BF-87AE-CEA463830ED2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E2C28AC-7B90-4EFE-B797-D79F3BE256D8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">
                <a:extLst>
                  <a:ext uri="{FF2B5EF4-FFF2-40B4-BE49-F238E27FC236}">
                    <a16:creationId xmlns:a16="http://schemas.microsoft.com/office/drawing/2014/main" id="{1E50E137-5008-40F2-9B66-4013D9A5AD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4048125"/>
                <a:ext cx="20002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anchor="ctr"/>
              <a:lstStyle/>
              <a:p>
                <a:pPr algn="l">
                  <a:defRPr sz="2100" b="1" i="0">
                    <a:solidFill>
                      <a:srgbClr val="2E9E69"/>
                    </a:solidFill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100" b="1" i="1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100" b="1" i="0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2100" b="1" i="0" smtClean="0">
                            <a:solidFill>
                              <a:srgbClr val="2E9E6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𝐳</m:t>
                        </m:r>
                      </m:sub>
                    </m:sSub>
                    <m:r>
                      <a:rPr lang="en-US" sz="2100" b="1" i="0" smtClean="0">
                        <a:solidFill>
                          <a:srgbClr val="2E9E6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l-GR" sz="2100" b="1" i="0" dirty="0">
                    <a:solidFill>
                      <a:srgbClr val="2E9E69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θ)</a:t>
                </a:r>
                <a:endParaRPr sz="2100" b="1" i="0" dirty="0">
                  <a:solidFill>
                    <a:srgbClr val="2E9E69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">
                <a:extLst>
                  <a:ext uri="{FF2B5EF4-FFF2-40B4-BE49-F238E27FC236}">
                    <a16:creationId xmlns:a16="http://schemas.microsoft.com/office/drawing/2014/main" id="{1E50E137-5008-40F2-9B66-4013D9A5AD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4048125"/>
                <a:ext cx="2000250" cy="609600"/>
              </a:xfrm>
              <a:prstGeom prst="rect">
                <a:avLst/>
              </a:prstGeom>
              <a:blipFill>
                <a:blip r:embed="rId3"/>
                <a:stretch>
                  <a:fillRect l="-305" b="-4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">
            <a:extLst>
              <a:ext uri="{FF2B5EF4-FFF2-40B4-BE49-F238E27FC236}">
                <a16:creationId xmlns:a16="http://schemas.microsoft.com/office/drawing/2014/main" id="{6874CA94-7BEC-405F-93AE-5F35C821A108}"/>
              </a:ext>
            </a:extLst>
          </p:cNvPr>
          <p:cNvSpPr>
            <a:spLocks noGrp="1"/>
          </p:cNvSpPr>
          <p:nvPr/>
        </p:nvSpPr>
        <p:spPr>
          <a:xfrm>
            <a:off x="3714750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AA28B040-4260-4705-9CC2-323899F3A999}"/>
              </a:ext>
            </a:extLst>
          </p:cNvPr>
          <p:cNvSpPr>
            <a:spLocks noGrp="1"/>
          </p:cNvSpPr>
          <p:nvPr/>
        </p:nvSpPr>
        <p:spPr>
          <a:xfrm>
            <a:off x="3714750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29" name="shape">
            <a:extLst>
              <a:ext uri="{FF2B5EF4-FFF2-40B4-BE49-F238E27FC236}">
                <a16:creationId xmlns:a16="http://schemas.microsoft.com/office/drawing/2014/main" id="{EF3177CD-6306-438A-A3B7-A62A64D9710C}"/>
              </a:ext>
            </a:extLst>
          </p:cNvPr>
          <p:cNvSpPr>
            <a:spLocks noGrp="1"/>
          </p:cNvSpPr>
          <p:nvPr/>
        </p:nvSpPr>
        <p:spPr>
          <a:xfrm>
            <a:off x="5572125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38A21026-1012-414A-BE17-CEE108ED4730}"/>
              </a:ext>
            </a:extLst>
          </p:cNvPr>
          <p:cNvSpPr>
            <a:spLocks noGrp="1"/>
          </p:cNvSpPr>
          <p:nvPr/>
        </p:nvSpPr>
        <p:spPr>
          <a:xfrm>
            <a:off x="5572125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31" name="shape">
            <a:extLst>
              <a:ext uri="{FF2B5EF4-FFF2-40B4-BE49-F238E27FC236}">
                <a16:creationId xmlns:a16="http://schemas.microsoft.com/office/drawing/2014/main" id="{95128251-A632-4821-ABE3-8C463C788D9A}"/>
              </a:ext>
            </a:extLst>
          </p:cNvPr>
          <p:cNvSpPr>
            <a:spLocks noGrp="1"/>
          </p:cNvSpPr>
          <p:nvPr/>
        </p:nvSpPr>
        <p:spPr>
          <a:xfrm>
            <a:off x="7429500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0">
            <a:noFill/>
            <a:prstDash val="solid"/>
          </a:ln>
        </p:spPr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502FBA85-B4E8-4915-AFAE-1389C6FD3CA7}"/>
              </a:ext>
            </a:extLst>
          </p:cNvPr>
          <p:cNvSpPr>
            <a:spLocks noGrp="1"/>
          </p:cNvSpPr>
          <p:nvPr/>
        </p:nvSpPr>
        <p:spPr>
          <a:xfrm>
            <a:off x="7429500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D94B4B"/>
                </a:solidFill>
              </a:defRPr>
            </a:pPr>
            <a:r>
              <a:rPr sz="1275" b="1" i="0">
                <a:solidFill>
                  <a:srgbClr val="D94B4B"/>
                </a:solidFill>
              </a:rPr>
              <a:t>HIGH</a:t>
            </a:r>
          </a:p>
        </p:txBody>
      </p:sp>
      <p:sp>
        <p:nvSpPr>
          <p:cNvPr id="33" name="shape">
            <a:extLst>
              <a:ext uri="{FF2B5EF4-FFF2-40B4-BE49-F238E27FC236}">
                <a16:creationId xmlns:a16="http://schemas.microsoft.com/office/drawing/2014/main" id="{F20B35F4-AE8D-421D-B827-989AC08F1E9A}"/>
              </a:ext>
            </a:extLst>
          </p:cNvPr>
          <p:cNvSpPr>
            <a:spLocks noGrp="1"/>
          </p:cNvSpPr>
          <p:nvPr/>
        </p:nvSpPr>
        <p:spPr>
          <a:xfrm>
            <a:off x="9286875" y="40481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AF7F1"/>
          </a:solidFill>
          <a:ln w="0">
            <a:noFill/>
            <a:prstDash val="solid"/>
          </a:ln>
        </p:spPr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34CBD37D-45E8-42DC-AB6F-F016E4182A74}"/>
              </a:ext>
            </a:extLst>
          </p:cNvPr>
          <p:cNvSpPr>
            <a:spLocks noGrp="1"/>
          </p:cNvSpPr>
          <p:nvPr/>
        </p:nvSpPr>
        <p:spPr>
          <a:xfrm>
            <a:off x="9286875" y="4048125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2E9E69"/>
                </a:solidFill>
              </a:defRPr>
            </a:pPr>
            <a:r>
              <a:rPr sz="1275" b="1" i="0">
                <a:solidFill>
                  <a:srgbClr val="2E9E69"/>
                </a:solidFill>
              </a:rPr>
              <a:t>LOW</a:t>
            </a:r>
          </a:p>
        </p:txBody>
      </p:sp>
      <p:sp>
        <p:nvSpPr>
          <p:cNvPr id="35" name="key-finding">
            <a:extLst>
              <a:ext uri="{FF2B5EF4-FFF2-40B4-BE49-F238E27FC236}">
                <a16:creationId xmlns:a16="http://schemas.microsoft.com/office/drawing/2014/main" id="{8C1AC967-8588-4E38-A25E-149BA0AE0273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932B9E12-95DE-46EF-9BA6-39D1D18D1993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Interpretation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552AE88A-AA6D-478E-AEC2-BD82CFB605E0}"/>
              </a:ext>
            </a:extLst>
          </p:cNvPr>
          <p:cNvSpPr>
            <a:spLocks noGrp="1"/>
          </p:cNvSpPr>
          <p:nvPr/>
        </p:nvSpPr>
        <p:spPr>
          <a:xfrm>
            <a:off x="2047875" y="52197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X errors attack circuit boundaries; Z errors attack the interference region; Y errors affect all stages.</a:t>
            </a:r>
          </a:p>
        </p:txBody>
      </p:sp>
      <p:sp>
        <p:nvSpPr>
          <p:cNvPr id="38" name="page-number">
            <a:extLst>
              <a:ext uri="{FF2B5EF4-FFF2-40B4-BE49-F238E27FC236}">
                <a16:creationId xmlns:a16="http://schemas.microsoft.com/office/drawing/2014/main" id="{C6A801E2-2537-4618-8201-4EA2E7F5203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62534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AD2355E6-A71F-471F-AEF0-112472C0ADC0}"/>
              </a:ext>
            </a:extLst>
          </p:cNvPr>
          <p:cNvSpPr>
            <a:spLocks noGrp="1"/>
          </p:cNvSpPr>
          <p:nvPr/>
        </p:nvSpPr>
        <p:spPr>
          <a:xfrm>
            <a:off x="609600" y="85724"/>
            <a:ext cx="8444948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sz="4000" b="1" i="0" dirty="0">
                <a:solidFill>
                  <a:srgbClr val="111827"/>
                </a:solidFill>
              </a:rPr>
              <a:t>S</a:t>
            </a:r>
            <a:r>
              <a:rPr lang="en-US" sz="4000" b="1" i="0" dirty="0">
                <a:solidFill>
                  <a:srgbClr val="111827"/>
                </a:solidFill>
              </a:rPr>
              <a:t>cope</a:t>
            </a:r>
            <a:r>
              <a:rPr sz="4000" b="1" i="0" dirty="0">
                <a:solidFill>
                  <a:srgbClr val="111827"/>
                </a:solidFill>
              </a:rPr>
              <a:t> </a:t>
            </a:r>
            <a:r>
              <a:rPr lang="en-US" sz="4000" b="1" i="0" dirty="0">
                <a:solidFill>
                  <a:srgbClr val="111827"/>
                </a:solidFill>
              </a:rPr>
              <a:t>and </a:t>
            </a:r>
            <a:r>
              <a:rPr sz="4000" b="1" i="0" dirty="0">
                <a:solidFill>
                  <a:srgbClr val="111827"/>
                </a:solidFill>
              </a:rPr>
              <a:t> L</a:t>
            </a:r>
            <a:r>
              <a:rPr lang="en-US" sz="4000" b="1" i="0" dirty="0">
                <a:solidFill>
                  <a:srgbClr val="111827"/>
                </a:solidFill>
              </a:rPr>
              <a:t>imitations 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C8DB83B-3385-44DE-950C-40F4AB2A0A0C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953750" cy="600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The conclusions are precis</a:t>
            </a:r>
            <a:r>
              <a:rPr lang="en-US" sz="2850" b="0" i="0" dirty="0">
                <a:solidFill>
                  <a:srgbClr val="111827"/>
                </a:solidFill>
              </a:rPr>
              <a:t>e</a:t>
            </a:r>
            <a:endParaRPr sz="2850" b="0" i="0" dirty="0">
              <a:solidFill>
                <a:srgbClr val="111827"/>
              </a:solidFill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B6364119-A0B0-4038-9B3C-963F457AF09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238750" cy="38576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99E075E3-BD61-42A3-BB7A-B2E0903EE02C}"/>
              </a:ext>
            </a:extLst>
          </p:cNvPr>
          <p:cNvSpPr>
            <a:spLocks noGrp="1"/>
          </p:cNvSpPr>
          <p:nvPr/>
        </p:nvSpPr>
        <p:spPr>
          <a:xfrm>
            <a:off x="6076950" y="1571625"/>
            <a:ext cx="5505450" cy="3857625"/>
          </a:xfrm>
          <a:prstGeom prst="roundRect">
            <a:avLst>
              <a:gd name="adj" fmla="val 197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D77749-44BC-4CAD-A0F7-E215E3A17CBE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What this study establishes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74E1F80-7B5E-460B-A333-794D66EC57BB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0B583B9-1A1A-4F4B-8237-5A6B3516CA55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Axis and circuit position jointly determine coherent-error sensitivity.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7F0A846-A620-4A36-91B9-B8A6907664C3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766CFFF-F03F-4C8D-8FA1-C95726E6F6FC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The pattern repeats across both constant functions.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BD96B9B-2517-4F86-871B-5E0F89AC1581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8F62E2C-01CA-47B6-AFAE-AAEB90994B74}"/>
              </a:ext>
            </a:extLst>
          </p:cNvPr>
          <p:cNvSpPr>
            <a:spLocks noGrp="1"/>
          </p:cNvSpPr>
          <p:nvPr/>
        </p:nvSpPr>
        <p:spPr>
          <a:xfrm>
            <a:off x="1104900" y="34671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Balanced classification is stable under the selected metric.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DE41C07-0777-4DE3-A01C-341023E6C949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What it does not claim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F2E40CE-867E-4B45-B56C-A0F5C8AB6D3A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7F7BEBD-1C9E-480F-AC16-F19BECFEEDF6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No depolarizing, damping, decoherence, or stochastic-noise model.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C67DB4B-7E3E-4AD5-8040-A188064FFDD8}"/>
              </a:ext>
            </a:extLst>
          </p:cNvPr>
          <p:cNvSpPr>
            <a:spLocks noGrp="1"/>
          </p:cNvSpPr>
          <p:nvPr/>
        </p:nvSpPr>
        <p:spPr>
          <a:xfrm>
            <a:off x="6305550" y="28765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1FFDFD3-43D2-4BF9-B7E4-AC7148138E80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</a:rPr>
              <a:t>One selected </a:t>
            </a:r>
            <a:r>
              <a:rPr lang="en-US" sz="1500" dirty="0">
                <a:solidFill>
                  <a:srgbClr val="111827"/>
                </a:solidFill>
              </a:rPr>
              <a:t>input</a:t>
            </a:r>
            <a:r>
              <a:rPr sz="1500" b="0" i="0" dirty="0">
                <a:solidFill>
                  <a:srgbClr val="111827"/>
                </a:solidFill>
              </a:rPr>
              <a:t> qubit; no correlated or multi-qubit errors.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34DDD55-B3AD-4E8A-9B22-3F2D2A1D5BC0}"/>
              </a:ext>
            </a:extLst>
          </p:cNvPr>
          <p:cNvSpPr>
            <a:spLocks noGrp="1"/>
          </p:cNvSpPr>
          <p:nvPr/>
        </p:nvSpPr>
        <p:spPr>
          <a:xfrm>
            <a:off x="6305550" y="34671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 i="0">
                <a:solidFill>
                  <a:srgbClr val="3B82F6"/>
                </a:solidFill>
              </a:defRPr>
            </a:pPr>
            <a:r>
              <a:rPr sz="1500" b="1" i="0">
                <a:solidFill>
                  <a:srgbClr val="3B82F6"/>
                </a:solidFill>
              </a:rPr>
              <a:t>•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DE8BF6E-13ED-4E1C-AE8D-3D4BADC7ECA4}"/>
              </a:ext>
            </a:extLst>
          </p:cNvPr>
          <p:cNvSpPr>
            <a:spLocks noGrp="1"/>
          </p:cNvSpPr>
          <p:nvPr/>
        </p:nvSpPr>
        <p:spPr>
          <a:xfrm>
            <a:off x="6572250" y="3467100"/>
            <a:ext cx="468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P(0ⁿ) </a:t>
            </a:r>
            <a:r>
              <a:rPr sz="1500" b="0" i="0" dirty="0">
                <a:solidFill>
                  <a:srgbClr val="111827"/>
                </a:solidFill>
              </a:rPr>
              <a:t>does not expose redistribution among nonzero outcomes.</a:t>
            </a:r>
          </a:p>
        </p:txBody>
      </p:sp>
      <p:sp>
        <p:nvSpPr>
          <p:cNvPr id="19" name="key-finding">
            <a:extLst>
              <a:ext uri="{FF2B5EF4-FFF2-40B4-BE49-F238E27FC236}">
                <a16:creationId xmlns:a16="http://schemas.microsoft.com/office/drawing/2014/main" id="{E062200A-9C01-4C99-A5DA-D8DD2C36D4A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4ADA54F-20C8-4838-BB2B-1FB39E3BC507}"/>
              </a:ext>
            </a:extLst>
          </p:cNvPr>
          <p:cNvSpPr>
            <a:spLocks noGrp="1"/>
          </p:cNvSpPr>
          <p:nvPr/>
        </p:nvSpPr>
        <p:spPr>
          <a:xfrm>
            <a:off x="781050" y="58483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 i="0">
                <a:solidFill>
                  <a:srgbClr val="3B82F6"/>
                </a:solidFill>
              </a:defRPr>
            </a:pPr>
            <a:r>
              <a:rPr sz="1350" b="1" i="0">
                <a:solidFill>
                  <a:srgbClr val="3B82F6"/>
                </a:solidFill>
              </a:rPr>
              <a:t>Experimental scope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0966554-97D8-4FDE-AAA4-79D594BB3377}"/>
              </a:ext>
            </a:extLst>
          </p:cNvPr>
          <p:cNvSpPr>
            <a:spLocks noGrp="1"/>
          </p:cNvSpPr>
          <p:nvPr/>
        </p:nvSpPr>
        <p:spPr>
          <a:xfrm>
            <a:off x="2047875" y="58483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 dirty="0">
                <a:solidFill>
                  <a:srgbClr val="111827"/>
                </a:solidFill>
              </a:rPr>
              <a:t>Simulation with </a:t>
            </a:r>
            <a:r>
              <a:rPr sz="1350" b="0" i="0" dirty="0">
                <a:solidFill>
                  <a:srgbClr val="111827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1024</a:t>
            </a:r>
            <a:r>
              <a:rPr sz="1350" b="0" i="0" dirty="0">
                <a:solidFill>
                  <a:srgbClr val="111827"/>
                </a:solidFill>
              </a:rPr>
              <a:t> shots; hardware drift and device-specific calibration are not modeled.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BD7E4638-F757-415B-AEB2-F9957542C6DD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5414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E33A1BE9-FA1E-4E54-AD98-971B21763348}"/>
              </a:ext>
            </a:extLst>
          </p:cNvPr>
          <p:cNvSpPr>
            <a:spLocks noGrp="1"/>
          </p:cNvSpPr>
          <p:nvPr/>
        </p:nvSpPr>
        <p:spPr>
          <a:xfrm>
            <a:off x="609600" y="139148"/>
            <a:ext cx="5715000" cy="76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3B82F6"/>
                </a:solidFill>
              </a:defRPr>
            </a:pPr>
            <a:r>
              <a:rPr lang="en-US" sz="4000" b="1" i="0" dirty="0">
                <a:solidFill>
                  <a:srgbClr val="111827"/>
                </a:solidFill>
              </a:rPr>
              <a:t>Conclusions </a:t>
            </a:r>
            <a:endParaRPr sz="4000" b="1" i="0" dirty="0">
              <a:solidFill>
                <a:srgbClr val="111827"/>
              </a:solidFill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89B5BA5-304D-4BB7-A99F-63A7D347C13E}"/>
              </a:ext>
            </a:extLst>
          </p:cNvPr>
          <p:cNvSpPr>
            <a:spLocks noGrp="1"/>
          </p:cNvSpPr>
          <p:nvPr/>
        </p:nvSpPr>
        <p:spPr>
          <a:xfrm>
            <a:off x="609600" y="904874"/>
            <a:ext cx="10953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0" i="0">
                <a:solidFill>
                  <a:srgbClr val="111827"/>
                </a:solidFill>
              </a:defRPr>
            </a:pPr>
            <a:r>
              <a:rPr sz="2850" b="0" i="0" dirty="0">
                <a:solidFill>
                  <a:srgbClr val="111827"/>
                </a:solidFill>
              </a:rPr>
              <a:t>Error mitigation should be matched to the error mechanism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2BD26D49-B6AA-42C6-8F8F-BBC55D5578E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0810875" cy="819150"/>
          </a:xfrm>
          <a:prstGeom prst="roundRect">
            <a:avLst>
              <a:gd name="adj" fmla="val 1046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59403AD-E23E-4538-943D-1FDE7EDD57A6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61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 i="0">
                <a:solidFill>
                  <a:srgbClr val="3B82F6"/>
                </a:solidFill>
              </a:defRPr>
            </a:pPr>
            <a:r>
              <a:rPr sz="3000" b="1" i="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389062E-E0E1-4E8F-9ACF-9E711D149C5D}"/>
              </a:ext>
            </a:extLst>
          </p:cNvPr>
          <p:cNvSpPr>
            <a:spLocks noGrp="1"/>
          </p:cNvSpPr>
          <p:nvPr/>
        </p:nvSpPr>
        <p:spPr>
          <a:xfrm>
            <a:off x="1619250" y="1638300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Protect preparation and pre-measurement stages</a:t>
            </a:r>
          </a:p>
        </p:txBody>
      </p:sp>
      <p:sp>
        <p:nvSpPr>
          <p:cNvPr id="6" name="pill">
            <a:extLst>
              <a:ext uri="{FF2B5EF4-FFF2-40B4-BE49-F238E27FC236}">
                <a16:creationId xmlns:a16="http://schemas.microsoft.com/office/drawing/2014/main" id="{3AB34878-4062-45A7-8EB8-5F4211DE5E94}"/>
              </a:ext>
            </a:extLst>
          </p:cNvPr>
          <p:cNvSpPr>
            <a:spLocks noGrp="1"/>
          </p:cNvSpPr>
          <p:nvPr/>
        </p:nvSpPr>
        <p:spPr>
          <a:xfrm>
            <a:off x="8858250" y="1762125"/>
            <a:ext cx="200025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9B664BC-341D-4070-B245-ECEE28862F70}"/>
              </a:ext>
            </a:extLst>
          </p:cNvPr>
          <p:cNvSpPr>
            <a:spLocks noGrp="1"/>
          </p:cNvSpPr>
          <p:nvPr/>
        </p:nvSpPr>
        <p:spPr>
          <a:xfrm>
            <a:off x="8858250" y="17621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3B82F6"/>
                </a:solidFill>
              </a:defRPr>
            </a:pPr>
            <a:r>
              <a:rPr sz="1125" b="1" i="0" dirty="0">
                <a:solidFill>
                  <a:srgbClr val="3B82F6"/>
                </a:solidFill>
              </a:rPr>
              <a:t>E₁ </a:t>
            </a:r>
            <a:r>
              <a:rPr lang="en-US" sz="1125" b="1" i="0" dirty="0">
                <a:solidFill>
                  <a:srgbClr val="3B82F6"/>
                </a:solidFill>
              </a:rPr>
              <a:t> and </a:t>
            </a:r>
            <a:r>
              <a:rPr sz="1125" b="1" i="0" dirty="0">
                <a:solidFill>
                  <a:srgbClr val="3B82F6"/>
                </a:solidFill>
              </a:rPr>
              <a:t> E₄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E9784A6-2CD8-481E-B368-7A75C3821003}"/>
              </a:ext>
            </a:extLst>
          </p:cNvPr>
          <p:cNvSpPr>
            <a:spLocks noGrp="1"/>
          </p:cNvSpPr>
          <p:nvPr/>
        </p:nvSpPr>
        <p:spPr>
          <a:xfrm>
            <a:off x="666750" y="2639254"/>
            <a:ext cx="10810875" cy="819150"/>
          </a:xfrm>
          <a:prstGeom prst="roundRect">
            <a:avLst>
              <a:gd name="adj" fmla="val 1046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50EA7A1-9C87-4D49-95C3-EDBAFA9D2609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61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 i="0">
                <a:solidFill>
                  <a:srgbClr val="EA7A14"/>
                </a:solidFill>
              </a:defRPr>
            </a:pPr>
            <a:r>
              <a:rPr sz="3000" b="1" i="0" dirty="0">
                <a:solidFill>
                  <a:srgbClr val="EA7A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29D2511-0F07-48B5-BDBA-215E9B52A7BD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 dirty="0">
                <a:solidFill>
                  <a:srgbClr val="111827"/>
                </a:solidFill>
              </a:rPr>
              <a:t>Treat the circuit as uniformly exposed</a:t>
            </a:r>
          </a:p>
        </p:txBody>
      </p:sp>
      <p:sp>
        <p:nvSpPr>
          <p:cNvPr id="11" name="pill">
            <a:extLst>
              <a:ext uri="{FF2B5EF4-FFF2-40B4-BE49-F238E27FC236}">
                <a16:creationId xmlns:a16="http://schemas.microsoft.com/office/drawing/2014/main" id="{27CC70E6-F6B6-429A-8E24-B31311741DD4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00025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EBD3C23-19CF-4B34-902B-C323E4850117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EA7A14"/>
                </a:solidFill>
              </a:defRPr>
            </a:pPr>
            <a:r>
              <a:rPr sz="1125" b="1" i="0">
                <a:solidFill>
                  <a:srgbClr val="EA7A14"/>
                </a:solidFill>
              </a:rPr>
              <a:t>E₁–E₄</a:t>
            </a: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BBE959F7-79A6-433C-B3BC-2EE2BF2C10EB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810875" cy="819150"/>
          </a:xfrm>
          <a:prstGeom prst="roundRect">
            <a:avLst>
              <a:gd name="adj" fmla="val 10465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4B4A228-E860-4E7E-B9CA-7EA91859E48B}"/>
              </a:ext>
            </a:extLst>
          </p:cNvPr>
          <p:cNvSpPr>
            <a:spLocks noGrp="1"/>
          </p:cNvSpPr>
          <p:nvPr/>
        </p:nvSpPr>
        <p:spPr>
          <a:xfrm>
            <a:off x="838200" y="3838575"/>
            <a:ext cx="619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 i="0">
                <a:solidFill>
                  <a:srgbClr val="2E9E69"/>
                </a:solidFill>
              </a:defRPr>
            </a:pPr>
            <a:r>
              <a:rPr sz="3000" b="1" i="0">
                <a:solidFill>
                  <a:srgbClr val="2E9E69"/>
                </a:solidFill>
              </a:rPr>
              <a:t>Z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E495728-168B-471F-B5A2-AA1263C89501}"/>
              </a:ext>
            </a:extLst>
          </p:cNvPr>
          <p:cNvSpPr>
            <a:spLocks noGrp="1"/>
          </p:cNvSpPr>
          <p:nvPr/>
        </p:nvSpPr>
        <p:spPr>
          <a:xfrm>
            <a:off x="1619250" y="3829050"/>
            <a:ext cx="676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Protect the phase-sensitive interference region</a:t>
            </a:r>
          </a:p>
        </p:txBody>
      </p:sp>
      <p:sp>
        <p:nvSpPr>
          <p:cNvPr id="16" name="pill">
            <a:extLst>
              <a:ext uri="{FF2B5EF4-FFF2-40B4-BE49-F238E27FC236}">
                <a16:creationId xmlns:a16="http://schemas.microsoft.com/office/drawing/2014/main" id="{455E4F2C-71FE-44C7-9FAE-C8FABEA38563}"/>
              </a:ext>
            </a:extLst>
          </p:cNvPr>
          <p:cNvSpPr>
            <a:spLocks noGrp="1"/>
          </p:cNvSpPr>
          <p:nvPr/>
        </p:nvSpPr>
        <p:spPr>
          <a:xfrm>
            <a:off x="8858250" y="3952875"/>
            <a:ext cx="2000250" cy="323850"/>
          </a:xfrm>
          <a:prstGeom prst="roundRect">
            <a:avLst>
              <a:gd name="adj" fmla="val 47059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C8DAEF3-9445-42F3-AC30-42EB09F36DFD}"/>
              </a:ext>
            </a:extLst>
          </p:cNvPr>
          <p:cNvSpPr>
            <a:spLocks noGrp="1"/>
          </p:cNvSpPr>
          <p:nvPr/>
        </p:nvSpPr>
        <p:spPr>
          <a:xfrm>
            <a:off x="8858250" y="395287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2E9E69"/>
                </a:solidFill>
              </a:defRPr>
            </a:pPr>
            <a:r>
              <a:rPr sz="1125" b="1" i="0" dirty="0">
                <a:solidFill>
                  <a:srgbClr val="2E9E6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E₂ </a:t>
            </a:r>
            <a:r>
              <a:rPr lang="en-US" sz="1125" b="1" i="0" dirty="0">
                <a:solidFill>
                  <a:srgbClr val="2E9E6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sz="1125" b="1" i="0" dirty="0">
                <a:solidFill>
                  <a:srgbClr val="2E9E6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E₃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A68B4E93-D44E-4191-9A9A-D098B3391EB8}"/>
              </a:ext>
            </a:extLst>
          </p:cNvPr>
          <p:cNvSpPr>
            <a:spLocks noGrp="1"/>
          </p:cNvSpPr>
          <p:nvPr/>
        </p:nvSpPr>
        <p:spPr>
          <a:xfrm>
            <a:off x="2800350" y="5625445"/>
            <a:ext cx="475052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 i="0">
                <a:solidFill>
                  <a:srgbClr val="3B82F6"/>
                </a:solidFill>
              </a:defRPr>
            </a:pPr>
            <a:endParaRPr sz="1425" b="1" i="0" dirty="0">
              <a:solidFill>
                <a:srgbClr val="3B82F6"/>
              </a:solidFill>
            </a:endParaRP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7D2AD416-F598-4504-AD48-46BAE8BC8CA6}"/>
              </a:ext>
            </a:extLst>
          </p:cNvPr>
          <p:cNvSpPr>
            <a:spLocks noGrp="1"/>
          </p:cNvSpPr>
          <p:nvPr/>
        </p:nvSpPr>
        <p:spPr>
          <a:xfrm>
            <a:off x="11334750" y="6486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 i="0">
                <a:solidFill>
                  <a:srgbClr val="5F6B7A"/>
                </a:solidFill>
              </a:defRPr>
            </a:pPr>
            <a:r>
              <a:rPr sz="750" b="0" i="0">
                <a:solidFill>
                  <a:srgbClr val="5F6B7A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02224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3DA9-6B15-4DBF-8D19-6DBED7F1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187" y="1236283"/>
            <a:ext cx="9784080" cy="1508760"/>
          </a:xfrm>
          <a:solidFill>
            <a:srgbClr val="EEF6FF"/>
          </a:solidFill>
        </p:spPr>
        <p:txBody>
          <a:bodyPr>
            <a:normAutofit/>
          </a:bodyPr>
          <a:lstStyle/>
          <a:p>
            <a:pPr algn="ctr"/>
            <a:r>
              <a:rPr lang="en-US" sz="4400" cap="none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0C95-E87C-482E-88EF-1796DC52A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187" y="3318235"/>
            <a:ext cx="9487077" cy="1508760"/>
          </a:xfrm>
          <a:solidFill>
            <a:srgbClr val="EEF6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3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29911572"/>
      </p:ext>
    </p:extLst>
  </p:cSld>
  <p:clrMapOvr>
    <a:masterClrMapping/>
  </p:clrMapOvr>
</p:sld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07000"/>
                <a:satMod val="120000"/>
              </a:schemeClr>
            </a:gs>
            <a:gs pos="50000">
              <a:schemeClr val="phClr">
                <a:tint val="70000"/>
                <a:lumMod val="103000"/>
                <a:satMod val="124000"/>
              </a:schemeClr>
            </a:gs>
            <a:gs pos="100000">
              <a:schemeClr val="phClr">
                <a:tint val="85000"/>
                <a:lumMod val="100000"/>
                <a:sat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lumMod val="103000"/>
                <a:satMod val="110000"/>
              </a:schemeClr>
            </a:gs>
            <a:gs pos="50000">
              <a:schemeClr val="phClr">
                <a:shade val="85000"/>
                <a:lumMod val="100000"/>
                <a:satMod val="105000"/>
              </a:schemeClr>
            </a:gs>
            <a:gs pos="100000">
              <a:schemeClr val="phClr">
                <a:shade val="60000"/>
                <a:lumMod val="100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07000"/>
                <a:satMod val="120000"/>
              </a:schemeClr>
            </a:gs>
            <a:gs pos="50000">
              <a:schemeClr val="phClr">
                <a:tint val="70000"/>
                <a:lumMod val="103000"/>
                <a:satMod val="124000"/>
              </a:schemeClr>
            </a:gs>
            <a:gs pos="100000">
              <a:schemeClr val="phClr">
                <a:tint val="85000"/>
                <a:lumMod val="100000"/>
                <a:sat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lumMod val="103000"/>
                <a:satMod val="110000"/>
              </a:schemeClr>
            </a:gs>
            <a:gs pos="50000">
              <a:schemeClr val="phClr">
                <a:shade val="85000"/>
                <a:lumMod val="100000"/>
                <a:satMod val="105000"/>
              </a:schemeClr>
            </a:gs>
            <a:gs pos="100000">
              <a:schemeClr val="phClr">
                <a:shade val="60000"/>
                <a:lumMod val="100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1605</Words>
  <Application>Microsoft Office PowerPoint</Application>
  <DocSecurity>0</DocSecurity>
  <PresentationFormat>Widescreen</PresentationFormat>
  <Paragraphs>355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Cambria Math</vt:lpstr>
      <vt:lpstr>Corbel</vt:lpstr>
      <vt:lpstr>Times New Roman</vt:lpstr>
      <vt:lpstr>Wingdings</vt:lpstr>
      <vt:lpstr>Banded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Abiy Tegegne</cp:lastModifiedBy>
  <cp:revision>25</cp:revision>
  <dcterms:created xsi:type="dcterms:W3CDTF">2026-08-10T01:26:39Z</dcterms:created>
  <dcterms:modified xsi:type="dcterms:W3CDTF">2026-08-10T11:33:28Z</dcterms:modified>
</cp:coreProperties>
</file>