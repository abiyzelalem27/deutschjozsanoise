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56" r:id="rId2"/>
    <p:sldId id="285" r:id="rId3"/>
    <p:sldId id="257" r:id="rId4"/>
    <p:sldId id="258" r:id="rId5"/>
    <p:sldId id="283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biy Tegegne" initials="AT" lastIdx="2" clrIdx="0">
    <p:extLst>
      <p:ext uri="{19B8F6BF-5375-455C-9EA6-DF929625EA0E}">
        <p15:presenceInfo xmlns:p15="http://schemas.microsoft.com/office/powerpoint/2012/main" userId="Abiy Tegegn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111827"/>
    <a:srgbClr val="EEF6FF"/>
    <a:srgbClr val="002060"/>
    <a:srgbClr val="3B82F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36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[1] R. </a:t>
            </a:r>
            <a:r>
              <a:rPr lang="en-US" dirty="0" err="1"/>
              <a:t>Loredo</a:t>
            </a:r>
            <a:r>
              <a:rPr lang="en-US" dirty="0"/>
              <a:t>, Learn Quantum Computing with Python and IBM Quantum, Birmingham: </a:t>
            </a:r>
            <a:r>
              <a:rPr lang="en-US" dirty="0" err="1"/>
              <a:t>Packt</a:t>
            </a:r>
            <a:r>
              <a:rPr lang="en-US" dirty="0"/>
              <a:t> Publishing Ltd, 2025. 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[2]</a:t>
            </a:r>
            <a:r>
              <a:rPr lang="en-US" dirty="0"/>
              <a:t> D. Deutsch and R. </a:t>
            </a:r>
            <a:r>
              <a:rPr lang="en-US" dirty="0" err="1"/>
              <a:t>Jozsa</a:t>
            </a:r>
            <a:r>
              <a:rPr lang="en-US" dirty="0"/>
              <a:t>, “Rapid solution of problems by quantum computation,” </a:t>
            </a:r>
            <a:r>
              <a:rPr lang="en-US" i="1" dirty="0"/>
              <a:t>Proceedings of the Royal Society of London. Series A: Mathematical and Physical Sciences</a:t>
            </a:r>
            <a:r>
              <a:rPr lang="en-US" dirty="0"/>
              <a:t>, vol. 439, no. 1907, pp. 553–558, 1992.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[2]</a:t>
            </a:r>
            <a:r>
              <a:rPr lang="en-US" dirty="0"/>
              <a:t> D. Deutsch and R. </a:t>
            </a:r>
            <a:r>
              <a:rPr lang="en-US" dirty="0" err="1"/>
              <a:t>Jozsa</a:t>
            </a:r>
            <a:r>
              <a:rPr lang="en-US" dirty="0"/>
              <a:t>, “Rapid solution of problems by quantum computation,” </a:t>
            </a:r>
            <a:r>
              <a:rPr lang="en-US" i="1" dirty="0"/>
              <a:t>Proceedings of the Royal Society of London. Series A: Mathematical and Physical Sciences</a:t>
            </a:r>
            <a:r>
              <a:rPr lang="en-US" dirty="0"/>
              <a:t>, vol. 439, no. 1907, pp. 553–558, 1992.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9801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B96A71B-FF2D-4C2B-8557-039F546A0DAD}"/>
              </a:ext>
            </a:extLst>
          </p:cNvPr>
          <p:cNvSpPr>
            <a:spLocks noGrp="1"/>
          </p:cNvSpPr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CB70F4-F09B-4699-A5B1-CAD4DA5F5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buNone/>
              <a:defRPr sz="6000" spc="150" baseline="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F391E-1137-4CA7-BA02-61A811DE23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49503A-160E-4312-9532-500801F8076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69DFD-1F4B-49E9-AA60-72AC11A899E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8B0FD-CBA5-4972-B3FF-C1518BF4D47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57F1E4F-1CFF-5643-939E-02111984F56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9D5F3-EC6A-4412-BF2F-EA2AADE99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DB4B6-071D-4B5B-9DB6-48D720FEA8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586956-3C2D-4AB3-9E5D-6218054A5CF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E91657-03F0-4E05-96A2-2E038421BC1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D5BF8-3DF0-456C-9250-A7B6FE3488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57F1E4F-1CFF-5643-939E-02111984F56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00B32C4-2CD1-4AAE-BDB8-564C6DD050B2}"/>
              </a:ext>
            </a:extLst>
          </p:cNvPr>
          <p:cNvSpPr>
            <a:spLocks noGrp="1"/>
          </p:cNvSpPr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A2E9EA-36FB-41A2-9E50-147223B53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buNone/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743C8A-7246-4593-B7FC-3BF2799E1B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23A4F1-AFF0-4DAE-B63F-367DE75E6DE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F28B34-3AEA-49EE-8B98-39C32079792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3BD698-FD2B-4B5D-A15F-66C0756AD7A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</a:lstStyle>
          <a:p>
            <a:fld id="{D57F1E4F-1CFF-5643-939E-02111984F56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D777D61-2017-4E62-92CE-6BD6DD6C4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B3C45-1414-4EEB-ADC0-B62F846D28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buNone/>
              <a:defRPr sz="22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7FAB8D-E156-4F0B-AF4F-C8F3FDA3A92B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buNone/>
              <a:defRPr sz="22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80479A-E1E5-441E-B129-67A32690AE3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041662-4238-434C-8283-822869CC5A3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430AEA-B1D0-4189-926C-8011831C2A9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57F1E4F-1CFF-5643-939E-02111984F56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830EBC6-7371-420A-861C-AD9B4DB47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D83F9D-AA11-4B71-A9AB-444CFF5C78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C15DF5-A77F-4DE8-8C18-44434FD0FBA3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buNone/>
              <a:defRPr sz="22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0DBD63-70FE-4B56-99C2-B1D563678692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F2D817-8262-47A5-AA07-A605B5D57FF6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buNone/>
              <a:defRPr sz="22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B6F35A-BDF6-4716-AE19-D5A4B041C22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562A37-960C-477D-BDEC-047AD7CCB6A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C53F88-C20F-430D-ACC4-BD7C8FB98BC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57F1E4F-1CFF-5643-939E-02111984F56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3847D-B1A6-499E-8D9E-4983B3510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1C6CF0-AF7F-4C70-AD4F-28C44DC865F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740870-3301-4915-AE18-E166B7ED6B2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BE4645-0E33-4A5F-A759-2588C008388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57F1E4F-1CFF-5643-939E-02111984F56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7F869D-2C54-4283-898F-8E70B576C3E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90581C-B714-47CF-92C5-435A172F0B5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4C37C4-6BAD-4FFF-AA5C-5C6ACB9220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57F1E4F-1CFF-5643-939E-02111984F56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ACE1230A-4B02-437E-88F4-293B6C559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989B3-4E3E-4504-927F-847E07B5F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DFCBCE-91D3-4A16-A6F8-B2D176E3B32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B49723-43B0-4AB0-88FB-E9ACF9E5B13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FF7E76-C76A-46A0-B162-D9FBFC0C097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A69407-DA76-4AE5-B75C-863AE973D01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57F1E4F-1CFF-5643-939E-02111984F56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DE5C4DC-8E65-44D8-8385-6B8CE0AD0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61C13D-2646-4AF8-880C-6FCB7CAF8A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37BAA8-4D05-4971-BD8D-2A7183E76AC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15D760-0FA9-48CB-BACC-C85E692CF05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7A999F-53CD-4648-9571-91D460F6CE8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67A20-B9F0-4062-924B-1B0BC641F31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57F1E4F-1CFF-5643-939E-02111984F56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C5EB0-6A73-40FB-A761-32E7FB63F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6061F6-9200-45E7-A3FB-3BF6F9979B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DEF3D-115A-40C5-B77B-0B8DBEA5AF1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64ADA-19FC-4719-88EC-80E9FCFC86C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944D7E-76D5-40C8-8750-4244633461A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57F1E4F-1CFF-5643-939E-02111984F56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EDFC306-56A7-4E0D-BC70-E0EAB87BC467}"/>
              </a:ext>
            </a:extLst>
          </p:cNvPr>
          <p:cNvSpPr>
            <a:spLocks noGrp="1"/>
          </p:cNvSpPr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F41C53-6B10-4E40-A9F9-F7D2AB5F2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E3D9FD-B9DA-4628-BD36-05B88209A1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F9BA12-5B39-4BAC-B857-D14F45663D8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FE174-1DCF-443A-9CF4-D86D26559DBF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FC5A9-5253-438E-AE74-69C214AE83B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D57F1E4F-1CFF-5643-939E-02111984F56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1264918-57EF-458C-8582-0F20A77E65CE}"/>
              </a:ext>
            </a:extLst>
          </p:cNvPr>
          <p:cNvSpPr>
            <a:spLocks noGrp="1"/>
          </p:cNvSpPr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F33BC6-8515-41EC-B2D2-C2D1F1A68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A5280A-250F-4DD8-8603-2608C5A6B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2FB377-CC2C-4D5A-BF93-F69C9B1060D8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anchor="ctr"/>
          <a:lstStyle>
            <a:lvl1pPr algn="l">
              <a:buNone/>
              <a:defRPr sz="105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48F88-8BCC-4A24-856D-4EF7A4B4E86B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05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5A3F81-BD6A-46AB-95B3-691E4BA237ED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anchor="ctr"/>
          <a:lstStyle>
            <a:lvl1pPr algn="l">
              <a:buNone/>
              <a:defRPr sz="1200" b="0">
                <a:solidFill>
                  <a:schemeClr val="tx1"/>
                </a:solidFill>
              </a:defRPr>
            </a:lvl1pPr>
          </a:lstStyle>
          <a:p>
            <a:fld id="{D57F1E4F-1CFF-5643-939E-02111984F565}" type="slidenum">
              <a:t>‹#›</a:t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lt"/>
          <a:cs typeface="+mj-lt"/>
        </a:defRPr>
      </a:lvl1pPr>
    </p:titleStyle>
    <p:bodyStyle>
      <a:lvl1pPr marL="182880" indent="-182880" algn="l" defTabSz="914400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/>
        <a:buChar char=""/>
        <a:defRPr sz="2200" kern="1200">
          <a:solidFill>
            <a:schemeClr val="tx1"/>
          </a:solidFill>
          <a:latin typeface="+mn-lt"/>
          <a:ea typeface="+mn-lt"/>
          <a:cs typeface="+mn-lt"/>
        </a:defRPr>
      </a:lvl1pPr>
      <a:lvl2pPr marL="411480" indent="-18288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/>
        <a:buChar char="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marL="640080" indent="-18288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/>
        <a:buChar char="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868680" indent="-18288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/>
        <a:buChar char="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marL="1097280" indent="-18288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/>
        <a:buChar char="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marL="1284600" indent="-22860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/>
        <a:buChar char=""/>
        <a:defRPr sz="1600" kern="1200">
          <a:solidFill>
            <a:schemeClr val="tx1"/>
          </a:solidFill>
          <a:latin typeface="+mn-lt"/>
          <a:ea typeface="+mn-lt"/>
          <a:cs typeface="+mn-lt"/>
        </a:defRPr>
      </a:lvl6pPr>
      <a:lvl7pPr marL="1471800" indent="-22860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/>
        <a:buChar char=""/>
        <a:defRPr sz="1600" kern="1200">
          <a:solidFill>
            <a:schemeClr val="tx1"/>
          </a:solidFill>
          <a:latin typeface="+mn-lt"/>
          <a:ea typeface="+mn-lt"/>
          <a:cs typeface="+mn-lt"/>
        </a:defRPr>
      </a:lvl7pPr>
      <a:lvl8pPr marL="1629000" indent="-22860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/>
        <a:buChar char=""/>
        <a:defRPr sz="1600" kern="1200">
          <a:solidFill>
            <a:schemeClr val="tx1"/>
          </a:solidFill>
          <a:latin typeface="+mn-lt"/>
          <a:ea typeface="+mn-lt"/>
          <a:cs typeface="+mn-lt"/>
        </a:defRPr>
      </a:lvl8pPr>
      <a:lvl9pPr marL="1806200" indent="-22860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/>
        <a:buChar char=""/>
        <a:defRPr sz="16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9848" y="177662"/>
            <a:ext cx="3426288" cy="1409700"/>
          </a:xfrm>
          <a:prstGeom prst="rect">
            <a:avLst/>
          </a:prstGeom>
        </p:spPr>
      </p:pic>
      <p:sp>
        <p:nvSpPr>
          <p:cNvPr id="4" name="text">
            <a:extLst>
              <a:ext uri="{FF2B5EF4-FFF2-40B4-BE49-F238E27FC236}">
                <a16:creationId xmlns:a16="http://schemas.microsoft.com/office/drawing/2014/main" id="{040E9A38-5100-4F4D-AB6E-52D8CC5A9905}"/>
              </a:ext>
            </a:extLst>
          </p:cNvPr>
          <p:cNvSpPr>
            <a:spLocks noGrp="1"/>
          </p:cNvSpPr>
          <p:nvPr/>
        </p:nvSpPr>
        <p:spPr>
          <a:xfrm>
            <a:off x="647700" y="1647825"/>
            <a:ext cx="1089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111827"/>
                </a:solidFill>
              </a:defRPr>
            </a:pPr>
            <a:r>
              <a:rPr sz="1575" b="1" i="0" dirty="0">
                <a:solidFill>
                  <a:srgbClr val="111827"/>
                </a:solidFill>
              </a:rPr>
              <a:t>FRIEDRICH </a:t>
            </a:r>
            <a:r>
              <a:rPr sz="1575" b="1" i="0" dirty="0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SCHILLER</a:t>
            </a:r>
            <a:r>
              <a:rPr sz="1575" b="1" i="0" dirty="0">
                <a:solidFill>
                  <a:srgbClr val="111827"/>
                </a:solidFill>
              </a:rPr>
              <a:t> UNIVERSITY JENA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E146B6E1-7120-45C8-BFC6-2FE6BAADE7E6}"/>
              </a:ext>
            </a:extLst>
          </p:cNvPr>
          <p:cNvSpPr>
            <a:spLocks noGrp="1"/>
          </p:cNvSpPr>
          <p:nvPr/>
        </p:nvSpPr>
        <p:spPr>
          <a:xfrm>
            <a:off x="647700" y="2009775"/>
            <a:ext cx="108966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 i="0">
                <a:solidFill>
                  <a:srgbClr val="5F6B7A"/>
                </a:solidFill>
              </a:defRPr>
            </a:pPr>
            <a:r>
              <a:rPr sz="1200" b="1" i="0" dirty="0">
                <a:solidFill>
                  <a:srgbClr val="5F6B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FACULTY OF PHYSICS AND ASTRONOMY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3F6359D9-048F-4B06-83BC-D22255F460D7}"/>
              </a:ext>
            </a:extLst>
          </p:cNvPr>
          <p:cNvSpPr>
            <a:spLocks noGrp="1"/>
          </p:cNvSpPr>
          <p:nvPr/>
        </p:nvSpPr>
        <p:spPr>
          <a:xfrm>
            <a:off x="647700" y="2276475"/>
            <a:ext cx="108966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 i="0">
                <a:solidFill>
                  <a:srgbClr val="5F6B7A"/>
                </a:solidFill>
              </a:defRPr>
            </a:pPr>
            <a:r>
              <a:rPr sz="1200" b="1" i="0" dirty="0">
                <a:solidFill>
                  <a:srgbClr val="5F6B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INSTITUTE FOR SOLID STATE THEORY AND OPTICS</a:t>
            </a:r>
          </a:p>
        </p:txBody>
      </p:sp>
      <p:sp>
        <p:nvSpPr>
          <p:cNvPr id="7" name="shape">
            <a:extLst>
              <a:ext uri="{FF2B5EF4-FFF2-40B4-BE49-F238E27FC236}">
                <a16:creationId xmlns:a16="http://schemas.microsoft.com/office/drawing/2014/main" id="{2D4E8985-A927-45D1-8B22-5038A191DECD}"/>
              </a:ext>
            </a:extLst>
          </p:cNvPr>
          <p:cNvSpPr>
            <a:spLocks noGrp="1"/>
          </p:cNvSpPr>
          <p:nvPr/>
        </p:nvSpPr>
        <p:spPr>
          <a:xfrm>
            <a:off x="1428750" y="2705100"/>
            <a:ext cx="9334500" cy="19050"/>
          </a:xfrm>
          <a:prstGeom prst="rect">
            <a:avLst/>
          </a:prstGeom>
          <a:solidFill>
            <a:srgbClr val="3B82F6"/>
          </a:solidFill>
          <a:ln w="0">
            <a:noFill/>
            <a:prstDash val="solid"/>
          </a:ln>
        </p:spPr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B40497B5-F1BA-4C7A-8FA4-2A345E8E140E}"/>
              </a:ext>
            </a:extLst>
          </p:cNvPr>
          <p:cNvSpPr>
            <a:spLocks noGrp="1"/>
          </p:cNvSpPr>
          <p:nvPr/>
        </p:nvSpPr>
        <p:spPr>
          <a:xfrm>
            <a:off x="152399" y="2914650"/>
            <a:ext cx="11814313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850" b="1" i="0">
                <a:solidFill>
                  <a:srgbClr val="111827"/>
                </a:solidFill>
              </a:defRPr>
            </a:pPr>
            <a:r>
              <a:rPr sz="2850" b="1" i="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Effect of Localized Rotation Errors on the</a:t>
            </a:r>
          </a:p>
          <a:p>
            <a:pPr algn="ctr">
              <a:defRPr sz="2850" b="1" i="0">
                <a:solidFill>
                  <a:srgbClr val="111827"/>
                </a:solidFill>
              </a:defRPr>
            </a:pPr>
            <a:r>
              <a:rPr sz="2850" b="1" i="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Deutsch–</a:t>
            </a:r>
            <a:r>
              <a:rPr sz="2850" b="1" i="0" dirty="0" err="1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Jozsa</a:t>
            </a:r>
            <a:r>
              <a:rPr sz="2850" b="1" i="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Algorithm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CAA8557F-6F08-41D5-AF82-33CFF069C53F}"/>
              </a:ext>
            </a:extLst>
          </p:cNvPr>
          <p:cNvSpPr>
            <a:spLocks noGrp="1"/>
          </p:cNvSpPr>
          <p:nvPr/>
        </p:nvSpPr>
        <p:spPr>
          <a:xfrm>
            <a:off x="1809750" y="3971925"/>
            <a:ext cx="857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 i="0">
                <a:solidFill>
                  <a:srgbClr val="5F6B7A"/>
                </a:solidFill>
              </a:defRPr>
            </a:pPr>
            <a:r>
              <a:rPr sz="1200" b="0" i="0" dirty="0">
                <a:solidFill>
                  <a:srgbClr val="5F6B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Submitted in partial fulfillment of the requirements for the Internship Module</a:t>
            </a:r>
          </a:p>
        </p:txBody>
      </p:sp>
      <p:sp>
        <p:nvSpPr>
          <p:cNvPr id="10" name="shape">
            <a:extLst>
              <a:ext uri="{FF2B5EF4-FFF2-40B4-BE49-F238E27FC236}">
                <a16:creationId xmlns:a16="http://schemas.microsoft.com/office/drawing/2014/main" id="{0F163566-9851-46AB-B29C-07A7CE2030DC}"/>
              </a:ext>
            </a:extLst>
          </p:cNvPr>
          <p:cNvSpPr>
            <a:spLocks noGrp="1"/>
          </p:cNvSpPr>
          <p:nvPr/>
        </p:nvSpPr>
        <p:spPr>
          <a:xfrm>
            <a:off x="647700" y="4533900"/>
            <a:ext cx="10896600" cy="9525"/>
          </a:xfrm>
          <a:prstGeom prst="rect">
            <a:avLst/>
          </a:prstGeom>
          <a:solidFill>
            <a:srgbClr val="E9EEF4"/>
          </a:solidFill>
          <a:ln w="0">
            <a:noFill/>
            <a:prstDash val="solid"/>
          </a:ln>
        </p:spPr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C37DFAD2-B374-44ED-8F8E-5DC2B971D96D}"/>
              </a:ext>
            </a:extLst>
          </p:cNvPr>
          <p:cNvSpPr>
            <a:spLocks noGrp="1"/>
          </p:cNvSpPr>
          <p:nvPr/>
        </p:nvSpPr>
        <p:spPr>
          <a:xfrm>
            <a:off x="914400" y="47625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 i="0">
                <a:solidFill>
                  <a:srgbClr val="3B82F6"/>
                </a:solidFill>
              </a:defRPr>
            </a:pPr>
            <a:r>
              <a:rPr sz="900" b="1" i="0" dirty="0">
                <a:solidFill>
                  <a:srgbClr val="3B82F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SUPERVISOR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B895522B-B49C-458A-B8D2-7BE92AE23D01}"/>
              </a:ext>
            </a:extLst>
          </p:cNvPr>
          <p:cNvSpPr>
            <a:spLocks noGrp="1"/>
          </p:cNvSpPr>
          <p:nvPr/>
        </p:nvSpPr>
        <p:spPr>
          <a:xfrm>
            <a:off x="914400" y="502920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 i="0">
                <a:solidFill>
                  <a:srgbClr val="111827"/>
                </a:solidFill>
              </a:defRPr>
            </a:pPr>
            <a:r>
              <a:rPr sz="1425" b="1" i="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Prof. Dr. Martin </a:t>
            </a:r>
            <a:r>
              <a:rPr sz="1425" b="1" i="0" dirty="0" err="1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Gärttner</a:t>
            </a:r>
            <a:endParaRPr sz="1425" b="1" i="0" dirty="0">
              <a:solidFill>
                <a:srgbClr val="11182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1DDDCF28-2BC3-4FD3-B250-ED0AE5C32BAB}"/>
              </a:ext>
            </a:extLst>
          </p:cNvPr>
          <p:cNvSpPr>
            <a:spLocks noGrp="1"/>
          </p:cNvSpPr>
          <p:nvPr/>
        </p:nvSpPr>
        <p:spPr>
          <a:xfrm>
            <a:off x="7524750" y="476250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 i="0">
                <a:solidFill>
                  <a:srgbClr val="3B82F6"/>
                </a:solidFill>
              </a:defRPr>
            </a:pPr>
            <a:r>
              <a:rPr sz="900" b="1" i="0" dirty="0">
                <a:solidFill>
                  <a:srgbClr val="3B82F6"/>
                </a:solidFill>
              </a:rPr>
              <a:t>ADVISOR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5943DB30-9190-4E7D-AB74-80CABAEF7C99}"/>
              </a:ext>
            </a:extLst>
          </p:cNvPr>
          <p:cNvSpPr>
            <a:spLocks noGrp="1"/>
          </p:cNvSpPr>
          <p:nvPr/>
        </p:nvSpPr>
        <p:spPr>
          <a:xfrm>
            <a:off x="7524750" y="5029200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 i="0">
                <a:solidFill>
                  <a:srgbClr val="111827"/>
                </a:solidFill>
              </a:defRPr>
            </a:pPr>
            <a:r>
              <a:rPr sz="1425" b="1" i="0" dirty="0" err="1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Niklas</a:t>
            </a:r>
            <a:r>
              <a:rPr sz="1425" b="1" i="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Euler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9519724E-7182-439E-B8A5-7649D1B9198A}"/>
              </a:ext>
            </a:extLst>
          </p:cNvPr>
          <p:cNvSpPr>
            <a:spLocks noGrp="1"/>
          </p:cNvSpPr>
          <p:nvPr/>
        </p:nvSpPr>
        <p:spPr>
          <a:xfrm>
            <a:off x="914400" y="561975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 i="0">
                <a:solidFill>
                  <a:srgbClr val="3B82F6"/>
                </a:solidFill>
              </a:defRPr>
            </a:pPr>
            <a:r>
              <a:rPr lang="en-US" sz="900" b="1" dirty="0">
                <a:solidFill>
                  <a:srgbClr val="3B82F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endParaRPr sz="900" b="1" i="0" dirty="0">
              <a:solidFill>
                <a:srgbClr val="3B82F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D8C5A6BE-43DC-45EE-BE93-8B67978D3800}"/>
              </a:ext>
            </a:extLst>
          </p:cNvPr>
          <p:cNvSpPr>
            <a:spLocks noGrp="1"/>
          </p:cNvSpPr>
          <p:nvPr/>
        </p:nvSpPr>
        <p:spPr>
          <a:xfrm>
            <a:off x="914400" y="586740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111827"/>
                </a:solidFill>
              </a:defRPr>
            </a:pPr>
            <a:r>
              <a:rPr sz="1350" b="1" i="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Abiy Zelalem Tegegne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7D2A737A-2DF3-41F4-8141-BBF60F3F23F0}"/>
              </a:ext>
            </a:extLst>
          </p:cNvPr>
          <p:cNvSpPr>
            <a:spLocks noGrp="1"/>
          </p:cNvSpPr>
          <p:nvPr/>
        </p:nvSpPr>
        <p:spPr>
          <a:xfrm>
            <a:off x="7524750" y="5857875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200" b="0" i="0">
                <a:solidFill>
                  <a:srgbClr val="5F6B7A"/>
                </a:solidFill>
              </a:defRPr>
            </a:pPr>
            <a:r>
              <a:rPr sz="1600" b="1" i="0" dirty="0">
                <a:solidFill>
                  <a:srgbClr val="5F6B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Jena, Germany  •  </a:t>
            </a:r>
            <a:r>
              <a:rPr lang="en-US" sz="1600" b="1" dirty="0">
                <a:solidFill>
                  <a:srgbClr val="5F6B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August</a:t>
            </a:r>
            <a:r>
              <a:rPr sz="1600" b="1" i="0" dirty="0">
                <a:solidFill>
                  <a:srgbClr val="5F6B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1719640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194E8-F373-4623-8A03-EEF145843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Outline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EADFDF3-2F9A-4D6B-9FD9-8DE1E94469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02919" y="1895602"/>
            <a:ext cx="10152436" cy="4438395"/>
          </a:xfrm>
          <a:prstGeom prst="rect">
            <a:avLst/>
          </a:prstGeom>
          <a:solidFill>
            <a:srgbClr val="EEF6FF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+mj-lt"/>
              </a:rPr>
              <a:t> Motivation of the Study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+mj-lt"/>
              </a:rPr>
              <a:t> Objectives of the Study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+mj-lt"/>
              </a:rPr>
              <a:t> Significance of the Study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+mj-lt"/>
              </a:rPr>
              <a:t>Theoretical Background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+mj-lt"/>
              </a:rPr>
              <a:t>Methodology and Error Model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+mj-lt"/>
              </a:rPr>
              <a:t>Results and Discussion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+mj-lt"/>
              </a:rPr>
              <a:t>Conclusion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+mj-lt"/>
              </a:rPr>
              <a:t>Questions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AED274-DCE8-4B87-81D6-1CFFCED5341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77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kicker">
            <a:extLst>
              <a:ext uri="{FF2B5EF4-FFF2-40B4-BE49-F238E27FC236}">
                <a16:creationId xmlns:a16="http://schemas.microsoft.com/office/drawing/2014/main" id="{616F56E5-FD91-478A-B677-3CB5E0CF8AAA}"/>
              </a:ext>
            </a:extLst>
          </p:cNvPr>
          <p:cNvSpPr>
            <a:spLocks noGrp="1"/>
          </p:cNvSpPr>
          <p:nvPr/>
        </p:nvSpPr>
        <p:spPr>
          <a:xfrm>
            <a:off x="609600" y="313497"/>
            <a:ext cx="5715000" cy="5909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 i="0">
                <a:solidFill>
                  <a:srgbClr val="3B82F6"/>
                </a:solidFill>
              </a:defRPr>
            </a:pPr>
            <a:r>
              <a:rPr lang="en-US" sz="4000" dirty="0">
                <a:solidFill>
                  <a:srgbClr val="111827"/>
                </a:solidFill>
              </a:rPr>
              <a:t>Motivation of the Study</a:t>
            </a:r>
            <a:endParaRPr lang="en-US" sz="4000" b="1" i="0" dirty="0">
              <a:solidFill>
                <a:srgbClr val="111827"/>
              </a:solidFill>
            </a:endParaRP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56EEFF45-1831-4FC7-BE16-31F4718D498B}"/>
              </a:ext>
            </a:extLst>
          </p:cNvPr>
          <p:cNvSpPr>
            <a:spLocks noGrp="1"/>
          </p:cNvSpPr>
          <p:nvPr/>
        </p:nvSpPr>
        <p:spPr>
          <a:xfrm>
            <a:off x="609600" y="809624"/>
            <a:ext cx="10953750" cy="7048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0" i="0">
                <a:solidFill>
                  <a:srgbClr val="111827"/>
                </a:solidFill>
              </a:defRPr>
            </a:pPr>
            <a:endParaRPr sz="2850" b="0" i="0" dirty="0">
              <a:solidFill>
                <a:srgbClr val="111827"/>
              </a:solidFill>
            </a:endParaRPr>
          </a:p>
        </p:txBody>
      </p:sp>
      <p:sp>
        <p:nvSpPr>
          <p:cNvPr id="3" name="shape">
            <a:extLst>
              <a:ext uri="{FF2B5EF4-FFF2-40B4-BE49-F238E27FC236}">
                <a16:creationId xmlns:a16="http://schemas.microsoft.com/office/drawing/2014/main" id="{4C3AC12E-9818-4898-9A43-0F8BF18CE8C7}"/>
              </a:ext>
            </a:extLst>
          </p:cNvPr>
          <p:cNvSpPr>
            <a:spLocks noGrp="1"/>
          </p:cNvSpPr>
          <p:nvPr/>
        </p:nvSpPr>
        <p:spPr>
          <a:xfrm>
            <a:off x="514350" y="1790700"/>
            <a:ext cx="10953750" cy="2600325"/>
          </a:xfrm>
          <a:prstGeom prst="roundRect">
            <a:avLst>
              <a:gd name="adj" fmla="val 1975"/>
            </a:avLst>
          </a:prstGeom>
          <a:solidFill>
            <a:srgbClr val="EEF6FF"/>
          </a:solidFill>
          <a:ln w="0"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7A23C364-ACD9-49E1-B5AB-6ACB29B19F9A}"/>
              </a:ext>
            </a:extLst>
          </p:cNvPr>
          <p:cNvSpPr>
            <a:spLocks noGrp="1"/>
          </p:cNvSpPr>
          <p:nvPr/>
        </p:nvSpPr>
        <p:spPr>
          <a:xfrm>
            <a:off x="838200" y="1762125"/>
            <a:ext cx="476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 i="0">
                <a:solidFill>
                  <a:srgbClr val="111827"/>
                </a:solidFill>
              </a:defRPr>
            </a:pPr>
            <a:endParaRPr sz="1800" b="1" i="0" dirty="0">
              <a:solidFill>
                <a:srgbClr val="111827"/>
              </a:solidFill>
            </a:endParaRP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D781F65D-7E9E-4F08-892E-EE1543B8BECE}"/>
              </a:ext>
            </a:extLst>
          </p:cNvPr>
          <p:cNvSpPr>
            <a:spLocks noGrp="1"/>
          </p:cNvSpPr>
          <p:nvPr/>
        </p:nvSpPr>
        <p:spPr>
          <a:xfrm>
            <a:off x="838200" y="2286000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 i="0">
                <a:solidFill>
                  <a:srgbClr val="3B82F6"/>
                </a:solidFill>
              </a:defRPr>
            </a:pPr>
            <a:r>
              <a:rPr sz="1500" b="1" i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43733148-9696-4656-90DB-FF9714BA67F4}"/>
              </a:ext>
            </a:extLst>
          </p:cNvPr>
          <p:cNvSpPr>
            <a:spLocks noGrp="1"/>
          </p:cNvSpPr>
          <p:nvPr/>
        </p:nvSpPr>
        <p:spPr>
          <a:xfrm>
            <a:off x="1104900" y="2286000"/>
            <a:ext cx="6819900" cy="5089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 i="0">
                <a:solidFill>
                  <a:srgbClr val="111827"/>
                </a:solidFill>
              </a:defRPr>
            </a:pPr>
            <a:endParaRPr lang="en-US" b="0" i="0" dirty="0">
              <a:solidFill>
                <a:srgbClr val="111827"/>
              </a:solidFill>
            </a:endParaRPr>
          </a:p>
          <a:p>
            <a:pPr algn="l">
              <a:defRPr sz="1500" b="0" i="0">
                <a:solidFill>
                  <a:srgbClr val="111827"/>
                </a:solidFill>
              </a:defRPr>
            </a:pPr>
            <a:endParaRPr lang="en-US" dirty="0">
              <a:solidFill>
                <a:srgbClr val="111827"/>
              </a:solidFill>
            </a:endParaRPr>
          </a:p>
          <a:p>
            <a:pPr algn="l">
              <a:defRPr sz="1500" b="0" i="0">
                <a:solidFill>
                  <a:srgbClr val="111827"/>
                </a:solidFill>
              </a:defRPr>
            </a:pPr>
            <a:r>
              <a:rPr lang="en-US" dirty="0"/>
              <a:t>To Understand how imperfect gate operations affect quantum-algorithm performance.</a:t>
            </a:r>
            <a:endParaRPr lang="en-US" b="0" i="0" dirty="0">
              <a:solidFill>
                <a:srgbClr val="111827"/>
              </a:solidFill>
            </a:endParaRPr>
          </a:p>
          <a:p>
            <a:pPr algn="l">
              <a:defRPr sz="1500" b="0" i="0">
                <a:solidFill>
                  <a:srgbClr val="111827"/>
                </a:solidFill>
              </a:defRPr>
            </a:pPr>
            <a:endParaRPr lang="en-US" b="0" i="0" dirty="0">
              <a:solidFill>
                <a:srgbClr val="111827"/>
              </a:solidFill>
            </a:endParaRPr>
          </a:p>
          <a:p>
            <a:pPr algn="l">
              <a:defRPr sz="1500" b="0" i="0">
                <a:solidFill>
                  <a:srgbClr val="111827"/>
                </a:solidFill>
              </a:defRPr>
            </a:pPr>
            <a:endParaRPr lang="en-US" b="0" i="0" dirty="0">
              <a:solidFill>
                <a:srgbClr val="111827"/>
              </a:solidFill>
            </a:endParaRPr>
          </a:p>
          <a:p>
            <a:pPr algn="l">
              <a:defRPr sz="1500" b="0" i="0">
                <a:solidFill>
                  <a:srgbClr val="111827"/>
                </a:solidFill>
              </a:defRPr>
            </a:pPr>
            <a:endParaRPr b="0" i="0" dirty="0">
              <a:solidFill>
                <a:srgbClr val="111827"/>
              </a:solidFill>
            </a:endParaRP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0FD17BC5-B1A4-4650-9E86-5FB71AF735C2}"/>
              </a:ext>
            </a:extLst>
          </p:cNvPr>
          <p:cNvSpPr>
            <a:spLocks noGrp="1"/>
          </p:cNvSpPr>
          <p:nvPr/>
        </p:nvSpPr>
        <p:spPr>
          <a:xfrm>
            <a:off x="838200" y="2876550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 i="0">
                <a:solidFill>
                  <a:srgbClr val="3B82F6"/>
                </a:solidFill>
              </a:defRPr>
            </a:pPr>
            <a:r>
              <a:rPr sz="1500" b="1" i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FDC3F6F1-3055-4113-9818-91C9F7774AA8}"/>
              </a:ext>
            </a:extLst>
          </p:cNvPr>
          <p:cNvSpPr>
            <a:spLocks noGrp="1"/>
          </p:cNvSpPr>
          <p:nvPr/>
        </p:nvSpPr>
        <p:spPr>
          <a:xfrm>
            <a:off x="1104899" y="2876550"/>
            <a:ext cx="64674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 i="0">
                <a:solidFill>
                  <a:srgbClr val="111827"/>
                </a:solidFill>
              </a:defRPr>
            </a:pPr>
            <a:r>
              <a:rPr lang="en-US" dirty="0"/>
              <a:t>Determine why the same error has different effects at different circuit locations.</a:t>
            </a:r>
            <a:endParaRPr sz="1500" b="0" i="0" dirty="0">
              <a:solidFill>
                <a:srgbClr val="111827"/>
              </a:solidFill>
            </a:endParaRP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C87F3D79-95ED-48E6-B922-75AA1FD303F7}"/>
              </a:ext>
            </a:extLst>
          </p:cNvPr>
          <p:cNvSpPr>
            <a:spLocks noGrp="1"/>
          </p:cNvSpPr>
          <p:nvPr/>
        </p:nvSpPr>
        <p:spPr>
          <a:xfrm>
            <a:off x="838199" y="3467100"/>
            <a:ext cx="266699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 i="0">
                <a:solidFill>
                  <a:srgbClr val="3B82F6"/>
                </a:solidFill>
              </a:defRPr>
            </a:pPr>
            <a:r>
              <a:rPr sz="1500" b="1" i="0" dirty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33BF06C8-1AAC-400D-A969-23D20C6A985B}"/>
              </a:ext>
            </a:extLst>
          </p:cNvPr>
          <p:cNvSpPr>
            <a:spLocks noGrp="1"/>
          </p:cNvSpPr>
          <p:nvPr/>
        </p:nvSpPr>
        <p:spPr>
          <a:xfrm>
            <a:off x="1104900" y="3390900"/>
            <a:ext cx="6286500" cy="7040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 i="0">
                <a:solidFill>
                  <a:srgbClr val="111827"/>
                </a:solidFill>
              </a:defRPr>
            </a:pPr>
            <a:endParaRPr lang="en-US" dirty="0"/>
          </a:p>
          <a:p>
            <a:pPr algn="l">
              <a:defRPr sz="1500" b="0" i="0">
                <a:solidFill>
                  <a:srgbClr val="111827"/>
                </a:solidFill>
              </a:defRPr>
            </a:pPr>
            <a:r>
              <a:rPr lang="en-US" dirty="0"/>
              <a:t>Connect quantum-computing theory with practical Python simulation.</a:t>
            </a:r>
          </a:p>
          <a:p>
            <a:pPr algn="l">
              <a:defRPr sz="1500" b="0" i="0">
                <a:solidFill>
                  <a:srgbClr val="111827"/>
                </a:solidFill>
              </a:defRPr>
            </a:pPr>
            <a:endParaRPr lang="en-US" sz="1500" b="0" i="0" dirty="0">
              <a:solidFill>
                <a:srgbClr val="111827"/>
              </a:solidFill>
            </a:endParaRPr>
          </a:p>
          <a:p>
            <a:pPr algn="l">
              <a:defRPr sz="1500" b="0" i="0">
                <a:solidFill>
                  <a:srgbClr val="111827"/>
                </a:solidFill>
              </a:defRPr>
            </a:pPr>
            <a:endParaRPr sz="1500" b="0" i="0" dirty="0">
              <a:solidFill>
                <a:srgbClr val="111827"/>
              </a:solidFill>
            </a:endParaRP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019BF718-0B4C-4D7E-8FA7-7FC175B627E0}"/>
              </a:ext>
            </a:extLst>
          </p:cNvPr>
          <p:cNvSpPr>
            <a:spLocks noGrp="1"/>
          </p:cNvSpPr>
          <p:nvPr/>
        </p:nvSpPr>
        <p:spPr>
          <a:xfrm>
            <a:off x="6572250" y="2876550"/>
            <a:ext cx="4686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 i="0">
                <a:solidFill>
                  <a:srgbClr val="111827"/>
                </a:solidFill>
              </a:defRPr>
            </a:pPr>
            <a:endParaRPr sz="1500" b="0" i="0" dirty="0">
              <a:solidFill>
                <a:srgbClr val="111827"/>
              </a:solidFill>
            </a:endParaRP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63CF35BA-81DC-4743-A38B-15E6EE57BBEC}"/>
              </a:ext>
            </a:extLst>
          </p:cNvPr>
          <p:cNvSpPr>
            <a:spLocks noGrp="1"/>
          </p:cNvSpPr>
          <p:nvPr/>
        </p:nvSpPr>
        <p:spPr>
          <a:xfrm>
            <a:off x="6572250" y="3467100"/>
            <a:ext cx="4686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 i="0">
                <a:solidFill>
                  <a:srgbClr val="111827"/>
                </a:solidFill>
              </a:defRPr>
            </a:pPr>
            <a:endParaRPr sz="1500" b="0" i="0" dirty="0">
              <a:solidFill>
                <a:srgbClr val="111827"/>
              </a:solidFill>
            </a:endParaRPr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E54CBADD-92C6-446A-AA3A-916931A80209}"/>
              </a:ext>
            </a:extLst>
          </p:cNvPr>
          <p:cNvSpPr>
            <a:spLocks noGrp="1"/>
          </p:cNvSpPr>
          <p:nvPr/>
        </p:nvSpPr>
        <p:spPr>
          <a:xfrm>
            <a:off x="2047875" y="5848350"/>
            <a:ext cx="9239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111827"/>
                </a:solidFill>
              </a:defRPr>
            </a:pPr>
            <a:endParaRPr sz="1350" b="0" i="0" dirty="0">
              <a:solidFill>
                <a:srgbClr val="111827"/>
              </a:solidFill>
            </a:endParaRPr>
          </a:p>
        </p:txBody>
      </p:sp>
      <p:sp>
        <p:nvSpPr>
          <p:cNvPr id="22" name="page-number">
            <a:extLst>
              <a:ext uri="{FF2B5EF4-FFF2-40B4-BE49-F238E27FC236}">
                <a16:creationId xmlns:a16="http://schemas.microsoft.com/office/drawing/2014/main" id="{41C7B57A-2D7E-4351-99C5-4341E35741B0}"/>
              </a:ext>
            </a:extLst>
          </p:cNvPr>
          <p:cNvSpPr>
            <a:spLocks noGrp="1"/>
          </p:cNvSpPr>
          <p:nvPr/>
        </p:nvSpPr>
        <p:spPr>
          <a:xfrm>
            <a:off x="11334750" y="64865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50" b="0" i="0">
                <a:solidFill>
                  <a:srgbClr val="5F6B7A"/>
                </a:solidFill>
              </a:defRPr>
            </a:pPr>
            <a:r>
              <a:rPr sz="750" b="0" i="0">
                <a:solidFill>
                  <a:srgbClr val="5F6B7A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0091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kicker">
            <a:extLst>
              <a:ext uri="{FF2B5EF4-FFF2-40B4-BE49-F238E27FC236}">
                <a16:creationId xmlns:a16="http://schemas.microsoft.com/office/drawing/2014/main" id="{19F2F928-5B2A-4E5A-8EC8-E603E747CA87}"/>
              </a:ext>
            </a:extLst>
          </p:cNvPr>
          <p:cNvSpPr>
            <a:spLocks noGrp="1"/>
          </p:cNvSpPr>
          <p:nvPr/>
        </p:nvSpPr>
        <p:spPr>
          <a:xfrm>
            <a:off x="609600" y="196170"/>
            <a:ext cx="5715000" cy="394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 i="0">
                <a:solidFill>
                  <a:srgbClr val="3B82F6"/>
                </a:solidFill>
              </a:defRPr>
            </a:pPr>
            <a:r>
              <a:rPr lang="en-US" sz="4000" b="1" i="0" dirty="0">
                <a:solidFill>
                  <a:srgbClr val="111827"/>
                </a:solidFill>
              </a:rPr>
              <a:t>Objectives </a:t>
            </a:r>
            <a:r>
              <a:rPr lang="en-US" sz="4000" dirty="0">
                <a:solidFill>
                  <a:srgbClr val="111827"/>
                </a:solidFill>
              </a:rPr>
              <a:t>of the Study</a:t>
            </a:r>
            <a:endParaRPr sz="4000" b="1" i="0" dirty="0">
              <a:solidFill>
                <a:srgbClr val="111827"/>
              </a:solidFill>
            </a:endParaRP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16C78B52-99C0-45FA-AD21-89C650FBC7CE}"/>
              </a:ext>
            </a:extLst>
          </p:cNvPr>
          <p:cNvSpPr>
            <a:spLocks noGrp="1"/>
          </p:cNvSpPr>
          <p:nvPr/>
        </p:nvSpPr>
        <p:spPr>
          <a:xfrm>
            <a:off x="609600" y="895349"/>
            <a:ext cx="1095375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0" i="0">
                <a:solidFill>
                  <a:srgbClr val="111827"/>
                </a:solidFill>
              </a:defRPr>
            </a:pPr>
            <a:r>
              <a:rPr sz="2850" b="0" i="0" dirty="0">
                <a:solidFill>
                  <a:srgbClr val="111827"/>
                </a:solidFill>
              </a:rPr>
              <a:t>The study separates axis, angle, and location</a:t>
            </a:r>
          </a:p>
        </p:txBody>
      </p:sp>
      <p:sp>
        <p:nvSpPr>
          <p:cNvPr id="3" name="shape">
            <a:extLst>
              <a:ext uri="{FF2B5EF4-FFF2-40B4-BE49-F238E27FC236}">
                <a16:creationId xmlns:a16="http://schemas.microsoft.com/office/drawing/2014/main" id="{89716DF7-B4D5-48EC-A7B4-5568EE01634B}"/>
              </a:ext>
            </a:extLst>
          </p:cNvPr>
          <p:cNvSpPr>
            <a:spLocks noGrp="1"/>
          </p:cNvSpPr>
          <p:nvPr/>
        </p:nvSpPr>
        <p:spPr>
          <a:xfrm>
            <a:off x="666750" y="1496253"/>
            <a:ext cx="10810875" cy="838200"/>
          </a:xfrm>
          <a:prstGeom prst="roundRect">
            <a:avLst>
              <a:gd name="adj" fmla="val 7955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451AE4C9-D3FE-4481-AEBD-C726C0DCA903}"/>
              </a:ext>
            </a:extLst>
          </p:cNvPr>
          <p:cNvSpPr>
            <a:spLocks noGrp="1"/>
          </p:cNvSpPr>
          <p:nvPr/>
        </p:nvSpPr>
        <p:spPr>
          <a:xfrm>
            <a:off x="857250" y="1638300"/>
            <a:ext cx="628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 i="0">
                <a:solidFill>
                  <a:srgbClr val="3B82F6"/>
                </a:solidFill>
              </a:defRPr>
            </a:pPr>
            <a:r>
              <a:rPr sz="1875" b="1" i="0" dirty="0">
                <a:solidFill>
                  <a:srgbClr val="3B82F6"/>
                </a:solidFill>
              </a:rPr>
              <a:t>1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2349F7B1-C4A0-4ADE-B227-799846CAA24F}"/>
              </a:ext>
            </a:extLst>
          </p:cNvPr>
          <p:cNvSpPr>
            <a:spLocks noGrp="1"/>
          </p:cNvSpPr>
          <p:nvPr/>
        </p:nvSpPr>
        <p:spPr>
          <a:xfrm>
            <a:off x="1619250" y="1619250"/>
            <a:ext cx="1571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 i="0">
                <a:solidFill>
                  <a:srgbClr val="111827"/>
                </a:solidFill>
              </a:defRPr>
            </a:pPr>
            <a:r>
              <a:rPr sz="1650" b="1" i="0">
                <a:solidFill>
                  <a:srgbClr val="111827"/>
                </a:solidFill>
              </a:rPr>
              <a:t>Model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B1CFA905-0115-4BE3-9E18-ED9D74A067A8}"/>
              </a:ext>
            </a:extLst>
          </p:cNvPr>
          <p:cNvSpPr>
            <a:spLocks noGrp="1"/>
          </p:cNvSpPr>
          <p:nvPr/>
        </p:nvSpPr>
        <p:spPr>
          <a:xfrm>
            <a:off x="3238500" y="1639129"/>
            <a:ext cx="7858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 i="0">
                <a:solidFill>
                  <a:srgbClr val="111827"/>
                </a:solidFill>
              </a:defRPr>
            </a:pPr>
            <a:r>
              <a:rPr sz="1500" b="0" i="0" dirty="0">
                <a:solidFill>
                  <a:srgbClr val="111827"/>
                </a:solidFill>
              </a:rPr>
              <a:t>Implement coherent single-qubit rotations </a:t>
            </a:r>
            <a:r>
              <a:rPr sz="1500" b="0" i="0" dirty="0">
                <a:solidFill>
                  <a:srgbClr val="11182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Rₓ(θ), Rᵧ(θ), and Rz(θ).</a:t>
            </a:r>
          </a:p>
        </p:txBody>
      </p:sp>
      <p:sp>
        <p:nvSpPr>
          <p:cNvPr id="7" name="shape">
            <a:extLst>
              <a:ext uri="{FF2B5EF4-FFF2-40B4-BE49-F238E27FC236}">
                <a16:creationId xmlns:a16="http://schemas.microsoft.com/office/drawing/2014/main" id="{6BD06C68-9827-473B-AF44-D37951870E71}"/>
              </a:ext>
            </a:extLst>
          </p:cNvPr>
          <p:cNvSpPr>
            <a:spLocks noGrp="1"/>
          </p:cNvSpPr>
          <p:nvPr/>
        </p:nvSpPr>
        <p:spPr>
          <a:xfrm>
            <a:off x="666750" y="2543175"/>
            <a:ext cx="10810875" cy="838200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9525">
            <a:solidFill>
              <a:srgbClr val="E9EEF4"/>
            </a:solidFill>
            <a:prstDash val="solid"/>
          </a:ln>
        </p:spPr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7AF58335-F64E-480C-9359-957C37B56166}"/>
              </a:ext>
            </a:extLst>
          </p:cNvPr>
          <p:cNvSpPr>
            <a:spLocks noGrp="1"/>
          </p:cNvSpPr>
          <p:nvPr/>
        </p:nvSpPr>
        <p:spPr>
          <a:xfrm>
            <a:off x="857250" y="2705100"/>
            <a:ext cx="628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 i="0">
                <a:solidFill>
                  <a:srgbClr val="3B82F6"/>
                </a:solidFill>
              </a:defRPr>
            </a:pPr>
            <a:r>
              <a:rPr sz="1875" b="1" i="0" dirty="0">
                <a:solidFill>
                  <a:srgbClr val="3B82F6"/>
                </a:solidFill>
              </a:rPr>
              <a:t>2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A28E0F10-27D5-40B2-8671-6B09C6B0E8D3}"/>
              </a:ext>
            </a:extLst>
          </p:cNvPr>
          <p:cNvSpPr>
            <a:spLocks noGrp="1"/>
          </p:cNvSpPr>
          <p:nvPr/>
        </p:nvSpPr>
        <p:spPr>
          <a:xfrm>
            <a:off x="1619250" y="2686050"/>
            <a:ext cx="1571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 i="0">
                <a:solidFill>
                  <a:srgbClr val="111827"/>
                </a:solidFill>
              </a:defRPr>
            </a:pPr>
            <a:r>
              <a:rPr sz="1650" b="1" i="0" dirty="0">
                <a:solidFill>
                  <a:srgbClr val="111827"/>
                </a:solidFill>
              </a:rPr>
              <a:t>Localize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0439C798-6DF6-463D-8A69-B3CFB5431E67}"/>
              </a:ext>
            </a:extLst>
          </p:cNvPr>
          <p:cNvSpPr>
            <a:spLocks noGrp="1"/>
          </p:cNvSpPr>
          <p:nvPr/>
        </p:nvSpPr>
        <p:spPr>
          <a:xfrm>
            <a:off x="3238500" y="2686050"/>
            <a:ext cx="7858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 i="0">
                <a:solidFill>
                  <a:srgbClr val="111827"/>
                </a:solidFill>
              </a:defRPr>
            </a:pPr>
            <a:r>
              <a:rPr sz="1500" b="0" i="0" dirty="0">
                <a:solidFill>
                  <a:srgbClr val="111827"/>
                </a:solidFill>
              </a:rPr>
              <a:t>Insert each error separately at </a:t>
            </a:r>
            <a:r>
              <a:rPr sz="1500" b="0" i="0" dirty="0">
                <a:solidFill>
                  <a:srgbClr val="11182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E₁, E₂, E₃, and E₄.</a:t>
            </a:r>
          </a:p>
        </p:txBody>
      </p:sp>
      <p:sp>
        <p:nvSpPr>
          <p:cNvPr id="11" name="shape">
            <a:extLst>
              <a:ext uri="{FF2B5EF4-FFF2-40B4-BE49-F238E27FC236}">
                <a16:creationId xmlns:a16="http://schemas.microsoft.com/office/drawing/2014/main" id="{7687A356-7636-4DE2-8BAF-94A84673714A}"/>
              </a:ext>
            </a:extLst>
          </p:cNvPr>
          <p:cNvSpPr>
            <a:spLocks noGrp="1"/>
          </p:cNvSpPr>
          <p:nvPr/>
        </p:nvSpPr>
        <p:spPr>
          <a:xfrm>
            <a:off x="666750" y="3609975"/>
            <a:ext cx="10810875" cy="838200"/>
          </a:xfrm>
          <a:prstGeom prst="roundRect">
            <a:avLst>
              <a:gd name="adj" fmla="val 7955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A3AAB62C-F318-4AE6-97D7-4CD988A6E866}"/>
              </a:ext>
            </a:extLst>
          </p:cNvPr>
          <p:cNvSpPr>
            <a:spLocks noGrp="1"/>
          </p:cNvSpPr>
          <p:nvPr/>
        </p:nvSpPr>
        <p:spPr>
          <a:xfrm>
            <a:off x="857250" y="3771900"/>
            <a:ext cx="628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 i="0">
                <a:solidFill>
                  <a:srgbClr val="3B82F6"/>
                </a:solidFill>
              </a:defRPr>
            </a:pPr>
            <a:r>
              <a:rPr sz="1875" b="1" i="0" dirty="0">
                <a:solidFill>
                  <a:srgbClr val="3B82F6"/>
                </a:solidFill>
              </a:rPr>
              <a:t>3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A7BDC8C9-AB62-4969-9AF4-B4CF720FF605}"/>
              </a:ext>
            </a:extLst>
          </p:cNvPr>
          <p:cNvSpPr>
            <a:spLocks noGrp="1"/>
          </p:cNvSpPr>
          <p:nvPr/>
        </p:nvSpPr>
        <p:spPr>
          <a:xfrm>
            <a:off x="1619250" y="3752850"/>
            <a:ext cx="1571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 i="0">
                <a:solidFill>
                  <a:srgbClr val="111827"/>
                </a:solidFill>
              </a:defRPr>
            </a:pPr>
            <a:r>
              <a:rPr sz="1650" b="1" i="0">
                <a:solidFill>
                  <a:srgbClr val="111827"/>
                </a:solidFill>
              </a:rPr>
              <a:t>Measure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EF67E69B-5BC4-477A-8DFC-774AB1693E46}"/>
              </a:ext>
            </a:extLst>
          </p:cNvPr>
          <p:cNvSpPr>
            <a:spLocks noGrp="1"/>
          </p:cNvSpPr>
          <p:nvPr/>
        </p:nvSpPr>
        <p:spPr>
          <a:xfrm>
            <a:off x="3238500" y="3752850"/>
            <a:ext cx="7858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 i="0">
                <a:solidFill>
                  <a:srgbClr val="111827"/>
                </a:solidFill>
              </a:defRPr>
            </a:pPr>
            <a:r>
              <a:rPr sz="1500" b="0" i="0" dirty="0">
                <a:solidFill>
                  <a:srgbClr val="111827"/>
                </a:solidFill>
              </a:rPr>
              <a:t>Sweep θ and evaluate the probability </a:t>
            </a:r>
            <a:r>
              <a:rPr sz="1500" b="0" i="0" dirty="0">
                <a:solidFill>
                  <a:srgbClr val="11182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P(0ⁿ).</a:t>
            </a:r>
          </a:p>
        </p:txBody>
      </p:sp>
      <p:sp>
        <p:nvSpPr>
          <p:cNvPr id="15" name="shape">
            <a:extLst>
              <a:ext uri="{FF2B5EF4-FFF2-40B4-BE49-F238E27FC236}">
                <a16:creationId xmlns:a16="http://schemas.microsoft.com/office/drawing/2014/main" id="{7ADA5B05-ED97-4442-8AAC-A644C1ABC754}"/>
              </a:ext>
            </a:extLst>
          </p:cNvPr>
          <p:cNvSpPr>
            <a:spLocks noGrp="1"/>
          </p:cNvSpPr>
          <p:nvPr/>
        </p:nvSpPr>
        <p:spPr>
          <a:xfrm>
            <a:off x="609600" y="4819649"/>
            <a:ext cx="10868025" cy="695325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9525">
            <a:solidFill>
              <a:srgbClr val="E9EEF4"/>
            </a:solidFill>
            <a:prstDash val="solid"/>
          </a:ln>
        </p:spPr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346CB424-560C-482A-9396-ED3D41FEC696}"/>
              </a:ext>
            </a:extLst>
          </p:cNvPr>
          <p:cNvSpPr>
            <a:spLocks noGrp="1"/>
          </p:cNvSpPr>
          <p:nvPr/>
        </p:nvSpPr>
        <p:spPr>
          <a:xfrm>
            <a:off x="857250" y="4838700"/>
            <a:ext cx="628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 i="0">
                <a:solidFill>
                  <a:srgbClr val="3B82F6"/>
                </a:solidFill>
              </a:defRPr>
            </a:pPr>
            <a:r>
              <a:rPr sz="1875" b="1" i="0" dirty="0">
                <a:solidFill>
                  <a:srgbClr val="3B82F6"/>
                </a:solidFill>
              </a:rPr>
              <a:t>4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A6E72515-53D4-43CF-A185-091112A7CC16}"/>
              </a:ext>
            </a:extLst>
          </p:cNvPr>
          <p:cNvSpPr>
            <a:spLocks noGrp="1"/>
          </p:cNvSpPr>
          <p:nvPr/>
        </p:nvSpPr>
        <p:spPr>
          <a:xfrm>
            <a:off x="1619250" y="4819650"/>
            <a:ext cx="1571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 i="0">
                <a:solidFill>
                  <a:srgbClr val="111827"/>
                </a:solidFill>
              </a:defRPr>
            </a:pPr>
            <a:r>
              <a:rPr sz="1650" b="1" i="0">
                <a:solidFill>
                  <a:srgbClr val="111827"/>
                </a:solidFill>
              </a:rPr>
              <a:t>Compare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719B68A9-582D-4ECF-8266-476F17C8FC2A}"/>
              </a:ext>
            </a:extLst>
          </p:cNvPr>
          <p:cNvSpPr>
            <a:spLocks noGrp="1"/>
          </p:cNvSpPr>
          <p:nvPr/>
        </p:nvSpPr>
        <p:spPr>
          <a:xfrm>
            <a:off x="3238500" y="4819650"/>
            <a:ext cx="7858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 i="0">
                <a:solidFill>
                  <a:srgbClr val="111827"/>
                </a:solidFill>
              </a:defRPr>
            </a:pPr>
            <a:r>
              <a:rPr sz="1500" b="0" i="0" dirty="0">
                <a:solidFill>
                  <a:srgbClr val="111827"/>
                </a:solidFill>
              </a:rPr>
              <a:t>Identify robust and vulnerable stages of the algorithm.</a:t>
            </a:r>
          </a:p>
        </p:txBody>
      </p:sp>
      <p:sp>
        <p:nvSpPr>
          <p:cNvPr id="19" name="page-number">
            <a:extLst>
              <a:ext uri="{FF2B5EF4-FFF2-40B4-BE49-F238E27FC236}">
                <a16:creationId xmlns:a16="http://schemas.microsoft.com/office/drawing/2014/main" id="{F07D3B89-DEF4-4CED-B201-D30FB0D1EC18}"/>
              </a:ext>
            </a:extLst>
          </p:cNvPr>
          <p:cNvSpPr>
            <a:spLocks noGrp="1"/>
          </p:cNvSpPr>
          <p:nvPr/>
        </p:nvSpPr>
        <p:spPr>
          <a:xfrm>
            <a:off x="11334750" y="64865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50" b="0" i="0">
                <a:solidFill>
                  <a:srgbClr val="5F6B7A"/>
                </a:solidFill>
              </a:defRPr>
            </a:pPr>
            <a:r>
              <a:rPr sz="750" b="0" i="0">
                <a:solidFill>
                  <a:srgbClr val="5F6B7A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009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9EE70-C788-479D-936B-05BF4D5CC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8" y="867747"/>
            <a:ext cx="9797873" cy="1194318"/>
          </a:xfrm>
        </p:spPr>
        <p:txBody>
          <a:bodyPr/>
          <a:lstStyle/>
          <a:p>
            <a:r>
              <a:rPr lang="en-US" sz="4000" i="0" cap="none" dirty="0">
                <a:solidFill>
                  <a:srgbClr val="111827"/>
                </a:solidFill>
              </a:rPr>
              <a:t>S</a:t>
            </a:r>
            <a:r>
              <a:rPr lang="en-US" cap="none" dirty="0">
                <a:solidFill>
                  <a:srgbClr val="111827"/>
                </a:solidFill>
              </a:rPr>
              <a:t>ignificance of the study</a:t>
            </a:r>
            <a:endParaRPr lang="en-US" dirty="0">
              <a:solidFill>
                <a:srgbClr val="111827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2529E7-B313-4D1E-9FB2-24F4089407B9}"/>
              </a:ext>
            </a:extLst>
          </p:cNvPr>
          <p:cNvSpPr txBox="1"/>
          <p:nvPr/>
        </p:nvSpPr>
        <p:spPr>
          <a:xfrm>
            <a:off x="821094" y="2527066"/>
            <a:ext cx="8350898" cy="923330"/>
          </a:xfrm>
          <a:prstGeom prst="rect">
            <a:avLst/>
          </a:prstGeom>
          <a:solidFill>
            <a:srgbClr val="EEF6FF"/>
          </a:solidFill>
        </p:spPr>
        <p:txBody>
          <a:bodyPr wrap="square" rtlCol="0">
            <a:spAutoFit/>
          </a:bodyPr>
          <a:lstStyle/>
          <a:p>
            <a:endParaRPr lang="en-US" b="1" dirty="0">
              <a:solidFill>
                <a:schemeClr val="bg2"/>
              </a:solidFill>
            </a:endParaRPr>
          </a:p>
          <a:p>
            <a:r>
              <a:rPr lang="en-US" b="1" dirty="0">
                <a:solidFill>
                  <a:schemeClr val="bg2"/>
                </a:solidFill>
              </a:rPr>
              <a:t>1</a:t>
            </a:r>
            <a:r>
              <a:rPr lang="en-US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>
                <a:solidFill>
                  <a:srgbClr val="111827"/>
                </a:solidFill>
              </a:rPr>
              <a:t>. </a:t>
            </a:r>
            <a:r>
              <a:rPr lang="en-US" dirty="0">
                <a:solidFill>
                  <a:srgbClr val="000000"/>
                </a:solidFill>
              </a:rPr>
              <a:t>Identifies the circuit locations most sensitive to coherent rotation errors</a:t>
            </a:r>
            <a:r>
              <a:rPr lang="en-US" dirty="0">
                <a:solidFill>
                  <a:srgbClr val="111827"/>
                </a:solidFill>
              </a:rPr>
              <a:t>.</a:t>
            </a:r>
          </a:p>
          <a:p>
            <a:endParaRPr lang="en-US" dirty="0">
              <a:solidFill>
                <a:srgbClr val="111827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338AB5-AEBB-4178-9E01-E6E954B40599}"/>
              </a:ext>
            </a:extLst>
          </p:cNvPr>
          <p:cNvSpPr txBox="1"/>
          <p:nvPr/>
        </p:nvSpPr>
        <p:spPr>
          <a:xfrm>
            <a:off x="746450" y="3725548"/>
            <a:ext cx="8425543" cy="923330"/>
          </a:xfrm>
          <a:prstGeom prst="rect">
            <a:avLst/>
          </a:prstGeom>
          <a:solidFill>
            <a:srgbClr val="EEF6FF"/>
          </a:solidFill>
        </p:spPr>
        <p:txBody>
          <a:bodyPr wrap="square" rtlCol="0">
            <a:spAutoFit/>
          </a:bodyPr>
          <a:lstStyle/>
          <a:p>
            <a:endParaRPr lang="en-US" b="1" dirty="0">
              <a:solidFill>
                <a:schemeClr val="bg2"/>
              </a:solidFill>
            </a:endParaRPr>
          </a:p>
          <a:p>
            <a:r>
              <a:rPr lang="en-US" b="1" dirty="0">
                <a:solidFill>
                  <a:schemeClr val="bg2"/>
                </a:solidFill>
              </a:rPr>
              <a:t>2.</a:t>
            </a:r>
            <a:r>
              <a:rPr lang="en-US" dirty="0">
                <a:solidFill>
                  <a:srgbClr val="111827"/>
                </a:solidFill>
              </a:rPr>
              <a:t> Provides insight into how localized gate imperfections affect algorithm performance.</a:t>
            </a:r>
          </a:p>
          <a:p>
            <a:endParaRPr lang="en-US" dirty="0">
              <a:solidFill>
                <a:srgbClr val="111827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63865E-AA08-4E8A-AA40-9A3FB1A6BE40}"/>
              </a:ext>
            </a:extLst>
          </p:cNvPr>
          <p:cNvSpPr txBox="1"/>
          <p:nvPr/>
        </p:nvSpPr>
        <p:spPr>
          <a:xfrm>
            <a:off x="643812" y="5113879"/>
            <a:ext cx="8668140" cy="923330"/>
          </a:xfrm>
          <a:prstGeom prst="rect">
            <a:avLst/>
          </a:prstGeom>
          <a:solidFill>
            <a:srgbClr val="EEF6FF"/>
          </a:solidFill>
        </p:spPr>
        <p:txBody>
          <a:bodyPr wrap="square" rtlCol="0">
            <a:spAutoFit/>
          </a:bodyPr>
          <a:lstStyle/>
          <a:p>
            <a:endParaRPr lang="en-US" b="1" dirty="0">
              <a:solidFill>
                <a:schemeClr val="bg2"/>
              </a:solidFill>
            </a:endParaRPr>
          </a:p>
          <a:p>
            <a:r>
              <a:rPr lang="en-US" b="1" dirty="0">
                <a:solidFill>
                  <a:schemeClr val="bg2"/>
                </a:solidFill>
              </a:rPr>
              <a:t>3.</a:t>
            </a:r>
            <a:r>
              <a:rPr lang="en-US" dirty="0">
                <a:solidFill>
                  <a:srgbClr val="111827"/>
                </a:solidFill>
              </a:rPr>
              <a:t> Shows that error effects depend on both the rotation axis and the position of the error</a:t>
            </a:r>
          </a:p>
          <a:p>
            <a:r>
              <a:rPr lang="en-US" dirty="0">
                <a:solidFill>
                  <a:srgbClr val="111827"/>
                </a:solidFill>
              </a:rPr>
              <a:t>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DCB80C-D023-4EE5-B1F0-AC6F7013C64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1680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">
            <a:extLst>
              <a:ext uri="{FF2B5EF4-FFF2-40B4-BE49-F238E27FC236}">
                <a16:creationId xmlns:a16="http://schemas.microsoft.com/office/drawing/2014/main" id="{CD351B40-B889-40E0-8941-DC12090156FF}"/>
              </a:ext>
            </a:extLst>
          </p:cNvPr>
          <p:cNvSpPr>
            <a:spLocks noGrp="1"/>
          </p:cNvSpPr>
          <p:nvPr/>
        </p:nvSpPr>
        <p:spPr>
          <a:xfrm>
            <a:off x="609600" y="1457325"/>
            <a:ext cx="4476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325" b="1" i="0">
                <a:solidFill>
                  <a:srgbClr val="1E55A0"/>
                </a:solidFill>
              </a:defRPr>
            </a:pPr>
            <a:r>
              <a:rPr sz="2325" b="1" i="0" dirty="0">
                <a:solidFill>
                  <a:srgbClr val="1E55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 : {0,1}ⁿ → {0,1}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2C79B792-5126-4124-8E4D-9BBA55906DFA}"/>
              </a:ext>
            </a:extLst>
          </p:cNvPr>
          <p:cNvSpPr>
            <a:spLocks noGrp="1"/>
          </p:cNvSpPr>
          <p:nvPr/>
        </p:nvSpPr>
        <p:spPr>
          <a:xfrm>
            <a:off x="609599" y="2305050"/>
            <a:ext cx="298836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 i="0">
                <a:solidFill>
                  <a:srgbClr val="5F6B7A"/>
                </a:solidFill>
              </a:defRPr>
            </a:pPr>
            <a:r>
              <a:rPr lang="en-US" sz="1600" dirty="0"/>
              <a:t>Boolean Function </a:t>
            </a:r>
            <a:endParaRPr sz="1500" b="1" i="0" dirty="0">
              <a:solidFill>
                <a:srgbClr val="5F6B7A"/>
              </a:solidFill>
            </a:endParaRPr>
          </a:p>
        </p:txBody>
      </p:sp>
      <p:sp>
        <p:nvSpPr>
          <p:cNvPr id="5" name="shape">
            <a:extLst>
              <a:ext uri="{FF2B5EF4-FFF2-40B4-BE49-F238E27FC236}">
                <a16:creationId xmlns:a16="http://schemas.microsoft.com/office/drawing/2014/main" id="{6E4D61D9-44BA-4B75-8098-3C3B36F2E65A}"/>
              </a:ext>
            </a:extLst>
          </p:cNvPr>
          <p:cNvSpPr>
            <a:spLocks noGrp="1"/>
          </p:cNvSpPr>
          <p:nvPr/>
        </p:nvSpPr>
        <p:spPr>
          <a:xfrm>
            <a:off x="895350" y="2752725"/>
            <a:ext cx="5191125" cy="2076450"/>
          </a:xfrm>
          <a:prstGeom prst="roundRect">
            <a:avLst>
              <a:gd name="adj" fmla="val 4587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6" name="shape">
            <a:extLst>
              <a:ext uri="{FF2B5EF4-FFF2-40B4-BE49-F238E27FC236}">
                <a16:creationId xmlns:a16="http://schemas.microsoft.com/office/drawing/2014/main" id="{0BBC2439-035A-45F5-9917-65A44FC0F201}"/>
              </a:ext>
            </a:extLst>
          </p:cNvPr>
          <p:cNvSpPr>
            <a:spLocks noGrp="1"/>
          </p:cNvSpPr>
          <p:nvPr/>
        </p:nvSpPr>
        <p:spPr>
          <a:xfrm>
            <a:off x="6048375" y="2743200"/>
            <a:ext cx="5534025" cy="2076450"/>
          </a:xfrm>
          <a:prstGeom prst="roundRect">
            <a:avLst>
              <a:gd name="adj" fmla="val 4587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8BD29C38-97AE-4937-8C9D-B8C603031879}"/>
              </a:ext>
            </a:extLst>
          </p:cNvPr>
          <p:cNvSpPr>
            <a:spLocks noGrp="1"/>
          </p:cNvSpPr>
          <p:nvPr/>
        </p:nvSpPr>
        <p:spPr>
          <a:xfrm>
            <a:off x="876300" y="29908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 i="0">
                <a:solidFill>
                  <a:srgbClr val="3B82F6"/>
                </a:solidFill>
              </a:defRPr>
            </a:pPr>
            <a:r>
              <a:rPr sz="1500" b="1" i="0" dirty="0">
                <a:solidFill>
                  <a:srgbClr val="3B82F6"/>
                </a:solidFill>
              </a:rPr>
              <a:t>C</a:t>
            </a:r>
            <a:r>
              <a:rPr lang="en-US" sz="1500" b="1" i="0" dirty="0">
                <a:solidFill>
                  <a:srgbClr val="3B82F6"/>
                </a:solidFill>
              </a:rPr>
              <a:t>onstant</a:t>
            </a:r>
            <a:endParaRPr sz="1500" b="1" i="0" dirty="0">
              <a:solidFill>
                <a:srgbClr val="3B82F6"/>
              </a:solidFill>
            </a:endParaRP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47066C7C-9CC0-4845-BED4-F357EE19982E}"/>
              </a:ext>
            </a:extLst>
          </p:cNvPr>
          <p:cNvSpPr>
            <a:spLocks noGrp="1"/>
          </p:cNvSpPr>
          <p:nvPr/>
        </p:nvSpPr>
        <p:spPr>
          <a:xfrm>
            <a:off x="876300" y="3390900"/>
            <a:ext cx="4286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0" i="0">
                <a:solidFill>
                  <a:srgbClr val="111827"/>
                </a:solidFill>
              </a:defRPr>
            </a:pPr>
            <a:r>
              <a:rPr sz="1875" b="0" i="0" dirty="0">
                <a:solidFill>
                  <a:srgbClr val="11182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f(x)</a:t>
            </a:r>
            <a:r>
              <a:rPr sz="1875" b="0" i="0" dirty="0">
                <a:solidFill>
                  <a:srgbClr val="111827"/>
                </a:solidFill>
              </a:rPr>
              <a:t> has the same value</a:t>
            </a:r>
          </a:p>
          <a:p>
            <a:pPr algn="l">
              <a:defRPr sz="1875" b="0" i="0">
                <a:solidFill>
                  <a:srgbClr val="111827"/>
                </a:solidFill>
              </a:defRPr>
            </a:pPr>
            <a:r>
              <a:rPr sz="1875" b="0" i="0" dirty="0">
                <a:solidFill>
                  <a:srgbClr val="111827"/>
                </a:solidFill>
              </a:rPr>
              <a:t>for every input x.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CB59EF56-4A89-4AF6-8755-6CDDD5F58D8E}"/>
              </a:ext>
            </a:extLst>
          </p:cNvPr>
          <p:cNvSpPr>
            <a:spLocks noGrp="1"/>
          </p:cNvSpPr>
          <p:nvPr/>
        </p:nvSpPr>
        <p:spPr>
          <a:xfrm>
            <a:off x="6315075" y="29908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 i="0">
                <a:solidFill>
                  <a:srgbClr val="2E9E69"/>
                </a:solidFill>
              </a:defRPr>
            </a:pPr>
            <a:r>
              <a:rPr sz="1500" b="1" i="0" dirty="0">
                <a:solidFill>
                  <a:srgbClr val="2E9E69"/>
                </a:solidFill>
              </a:rPr>
              <a:t>B</a:t>
            </a:r>
            <a:r>
              <a:rPr lang="en-US" sz="1500" b="1" i="0" dirty="0">
                <a:solidFill>
                  <a:srgbClr val="2E9E69"/>
                </a:solidFill>
              </a:rPr>
              <a:t>alanced</a:t>
            </a:r>
            <a:endParaRPr sz="1500" b="1" i="0" dirty="0">
              <a:solidFill>
                <a:srgbClr val="2E9E69"/>
              </a:solidFill>
            </a:endParaRP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B0C7E33C-7536-49D9-84A8-453B6D7EA1D7}"/>
              </a:ext>
            </a:extLst>
          </p:cNvPr>
          <p:cNvSpPr>
            <a:spLocks noGrp="1"/>
          </p:cNvSpPr>
          <p:nvPr/>
        </p:nvSpPr>
        <p:spPr>
          <a:xfrm>
            <a:off x="6315075" y="3390900"/>
            <a:ext cx="4762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0" i="0">
                <a:solidFill>
                  <a:srgbClr val="111827"/>
                </a:solidFill>
              </a:defRPr>
            </a:pPr>
            <a:r>
              <a:rPr sz="1875" b="0" i="0" dirty="0">
                <a:solidFill>
                  <a:srgbClr val="11182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f(x)</a:t>
            </a:r>
            <a:r>
              <a:rPr lang="en-US" sz="1875" b="0" i="0" dirty="0">
                <a:solidFill>
                  <a:srgbClr val="11182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sz="1875" b="0" i="0" dirty="0">
                <a:solidFill>
                  <a:srgbClr val="11182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sz="1875" b="0" i="0" dirty="0">
                <a:solidFill>
                  <a:srgbClr val="11182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sz="1875" b="0" i="0" dirty="0">
                <a:solidFill>
                  <a:srgbClr val="11182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0 </a:t>
            </a:r>
            <a:r>
              <a:rPr sz="1875" b="0" i="0" dirty="0">
                <a:solidFill>
                  <a:srgbClr val="111827"/>
                </a:solidFill>
              </a:rPr>
              <a:t>for half the inputs</a:t>
            </a:r>
          </a:p>
          <a:p>
            <a:pPr algn="l">
              <a:defRPr sz="1875" b="0" i="0">
                <a:solidFill>
                  <a:srgbClr val="111827"/>
                </a:solidFill>
              </a:defRPr>
            </a:pPr>
            <a:r>
              <a:rPr sz="1875" b="0" i="0" dirty="0">
                <a:solidFill>
                  <a:srgbClr val="111827"/>
                </a:solidFill>
              </a:rPr>
              <a:t>and </a:t>
            </a:r>
            <a:r>
              <a:rPr sz="1875" b="0" i="0" dirty="0">
                <a:solidFill>
                  <a:srgbClr val="11182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f(x)</a:t>
            </a:r>
            <a:r>
              <a:rPr lang="en-US" sz="1875" b="0" i="0" dirty="0">
                <a:solidFill>
                  <a:srgbClr val="11182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sz="1875" b="0" i="0" dirty="0">
                <a:solidFill>
                  <a:srgbClr val="11182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sz="1875" b="0" i="0" dirty="0">
                <a:solidFill>
                  <a:srgbClr val="11182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sz="1875" b="0" i="0" dirty="0">
                <a:solidFill>
                  <a:srgbClr val="11182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sz="1875" b="0" i="0" dirty="0">
                <a:solidFill>
                  <a:srgbClr val="111827"/>
                </a:solidFill>
              </a:rPr>
              <a:t> for the other half.</a:t>
            </a:r>
          </a:p>
        </p:txBody>
      </p:sp>
      <p:sp>
        <p:nvSpPr>
          <p:cNvPr id="11" name="key-finding">
            <a:extLst>
              <a:ext uri="{FF2B5EF4-FFF2-40B4-BE49-F238E27FC236}">
                <a16:creationId xmlns:a16="http://schemas.microsoft.com/office/drawing/2014/main" id="{0261A049-0835-4886-B16C-E1257E85AC6C}"/>
              </a:ext>
            </a:extLst>
          </p:cNvPr>
          <p:cNvSpPr>
            <a:spLocks noGrp="1"/>
          </p:cNvSpPr>
          <p:nvPr/>
        </p:nvSpPr>
        <p:spPr>
          <a:xfrm>
            <a:off x="609600" y="5219700"/>
            <a:ext cx="10972800" cy="514350"/>
          </a:xfrm>
          <a:prstGeom prst="roundRect">
            <a:avLst>
              <a:gd name="adj" fmla="val 7407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87CA9B00-950B-49E2-BD40-2E66D4E5F8FB}"/>
              </a:ext>
            </a:extLst>
          </p:cNvPr>
          <p:cNvSpPr>
            <a:spLocks noGrp="1"/>
          </p:cNvSpPr>
          <p:nvPr/>
        </p:nvSpPr>
        <p:spPr>
          <a:xfrm>
            <a:off x="781050" y="5295900"/>
            <a:ext cx="142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3B82F6"/>
                </a:solidFill>
              </a:defRPr>
            </a:pPr>
            <a:r>
              <a:rPr sz="1350" b="1" i="0">
                <a:solidFill>
                  <a:srgbClr val="3B82F6"/>
                </a:solidFill>
              </a:rPr>
              <a:t>Task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D3259968-478D-4884-85E7-2022BCBB0292}"/>
              </a:ext>
            </a:extLst>
          </p:cNvPr>
          <p:cNvSpPr>
            <a:spLocks noGrp="1"/>
          </p:cNvSpPr>
          <p:nvPr/>
        </p:nvSpPr>
        <p:spPr>
          <a:xfrm>
            <a:off x="2047875" y="5295900"/>
            <a:ext cx="9239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 dirty="0">
                <a:solidFill>
                  <a:srgbClr val="111827"/>
                </a:solidFill>
              </a:rPr>
              <a:t>Determine with certainty whether the  function is constant or balanced.</a:t>
            </a:r>
          </a:p>
        </p:txBody>
      </p:sp>
      <p:sp>
        <p:nvSpPr>
          <p:cNvPr id="14" name="page-number">
            <a:extLst>
              <a:ext uri="{FF2B5EF4-FFF2-40B4-BE49-F238E27FC236}">
                <a16:creationId xmlns:a16="http://schemas.microsoft.com/office/drawing/2014/main" id="{849339AE-7333-452E-B493-0ADE7234BEEE}"/>
              </a:ext>
            </a:extLst>
          </p:cNvPr>
          <p:cNvSpPr>
            <a:spLocks noGrp="1"/>
          </p:cNvSpPr>
          <p:nvPr/>
        </p:nvSpPr>
        <p:spPr>
          <a:xfrm>
            <a:off x="11334750" y="64865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50" b="0" i="0">
                <a:solidFill>
                  <a:srgbClr val="5F6B7A"/>
                </a:solidFill>
              </a:defRPr>
            </a:pPr>
            <a:r>
              <a:rPr sz="750" b="0" i="0">
                <a:solidFill>
                  <a:srgbClr val="5F6B7A"/>
                </a:solidFill>
              </a:rPr>
              <a:t>04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FAA13D-3850-4DD7-B36E-0B52C8CE0E92}"/>
              </a:ext>
            </a:extLst>
          </p:cNvPr>
          <p:cNvSpPr txBox="1"/>
          <p:nvPr/>
        </p:nvSpPr>
        <p:spPr>
          <a:xfrm>
            <a:off x="1302589" y="138022"/>
            <a:ext cx="8773064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0000"/>
                </a:solidFill>
              </a:rPr>
              <a:t>The Deutsch–</a:t>
            </a:r>
            <a:r>
              <a:rPr lang="en-US" sz="4000" b="1" dirty="0" err="1">
                <a:solidFill>
                  <a:srgbClr val="000000"/>
                </a:solidFill>
              </a:rPr>
              <a:t>Jozsa</a:t>
            </a:r>
            <a:r>
              <a:rPr lang="en-US" sz="4000" b="1" dirty="0">
                <a:solidFill>
                  <a:srgbClr val="000000"/>
                </a:solidFill>
              </a:rPr>
              <a:t> algorithm   </a:t>
            </a:r>
            <a:endParaRPr lang="en-US" sz="4000" b="1" i="0" dirty="0">
              <a:solidFill>
                <a:srgbClr val="0000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398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kicker">
            <a:extLst>
              <a:ext uri="{FF2B5EF4-FFF2-40B4-BE49-F238E27FC236}">
                <a16:creationId xmlns:a16="http://schemas.microsoft.com/office/drawing/2014/main" id="{145C4ADB-D104-4FF2-93C0-90351E7916DB}"/>
              </a:ext>
            </a:extLst>
          </p:cNvPr>
          <p:cNvSpPr>
            <a:spLocks noGrp="1"/>
          </p:cNvSpPr>
          <p:nvPr/>
        </p:nvSpPr>
        <p:spPr>
          <a:xfrm>
            <a:off x="609600" y="133350"/>
            <a:ext cx="5715000" cy="51269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 i="0">
                <a:solidFill>
                  <a:srgbClr val="3B82F6"/>
                </a:solidFill>
              </a:defRPr>
            </a:pPr>
            <a:r>
              <a:rPr lang="en-US" sz="4000" dirty="0">
                <a:solidFill>
                  <a:srgbClr val="111827"/>
                </a:solidFill>
              </a:rPr>
              <a:t>Continued…</a:t>
            </a:r>
            <a:endParaRPr sz="4000" b="1" i="0" dirty="0">
              <a:solidFill>
                <a:srgbClr val="111827"/>
              </a:solidFill>
            </a:endParaRP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03F25997-5154-40A2-86F6-643D62EC8859}"/>
              </a:ext>
            </a:extLst>
          </p:cNvPr>
          <p:cNvSpPr>
            <a:spLocks noGrp="1"/>
          </p:cNvSpPr>
          <p:nvPr/>
        </p:nvSpPr>
        <p:spPr>
          <a:xfrm>
            <a:off x="609600" y="646043"/>
            <a:ext cx="10953750" cy="8303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0" i="0">
                <a:solidFill>
                  <a:srgbClr val="111827"/>
                </a:solidFill>
              </a:defRPr>
            </a:pPr>
            <a:r>
              <a:rPr sz="2850" b="0" i="0" dirty="0">
                <a:solidFill>
                  <a:srgbClr val="111827"/>
                </a:solidFill>
              </a:rPr>
              <a:t>Quantum interference compresses many function values into one query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ACD6BB12-29BD-4B6B-8A9D-D3E797455387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5F6B7A"/>
                </a:solidFill>
              </a:defRPr>
            </a:pPr>
            <a:r>
              <a:rPr sz="1350" b="1" i="0">
                <a:solidFill>
                  <a:srgbClr val="5F6B7A"/>
                </a:solidFill>
              </a:rPr>
              <a:t>To decide with certainty</a:t>
            </a:r>
          </a:p>
        </p:txBody>
      </p:sp>
      <p:sp>
        <p:nvSpPr>
          <p:cNvPr id="4" name="shape">
            <a:extLst>
              <a:ext uri="{FF2B5EF4-FFF2-40B4-BE49-F238E27FC236}">
                <a16:creationId xmlns:a16="http://schemas.microsoft.com/office/drawing/2014/main" id="{7F64CB9D-94A7-46F1-A666-0817CFA5AEDF}"/>
              </a:ext>
            </a:extLst>
          </p:cNvPr>
          <p:cNvSpPr>
            <a:spLocks noGrp="1"/>
          </p:cNvSpPr>
          <p:nvPr/>
        </p:nvSpPr>
        <p:spPr>
          <a:xfrm>
            <a:off x="394666" y="1976437"/>
            <a:ext cx="5403988" cy="2905125"/>
          </a:xfrm>
          <a:prstGeom prst="roundRect">
            <a:avLst>
              <a:gd name="adj" fmla="val 3934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5" name="shape">
            <a:extLst>
              <a:ext uri="{FF2B5EF4-FFF2-40B4-BE49-F238E27FC236}">
                <a16:creationId xmlns:a16="http://schemas.microsoft.com/office/drawing/2014/main" id="{C6BA0B56-443E-42D3-96EA-AC310DE9AAAE}"/>
              </a:ext>
            </a:extLst>
          </p:cNvPr>
          <p:cNvSpPr>
            <a:spLocks noGrp="1"/>
          </p:cNvSpPr>
          <p:nvPr/>
        </p:nvSpPr>
        <p:spPr>
          <a:xfrm>
            <a:off x="6023113" y="1966912"/>
            <a:ext cx="5078896" cy="2905125"/>
          </a:xfrm>
          <a:prstGeom prst="roundRect">
            <a:avLst>
              <a:gd name="adj" fmla="val 3934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EFF11657-F7C2-4075-ABFC-F16429F597A7}"/>
              </a:ext>
            </a:extLst>
          </p:cNvPr>
          <p:cNvSpPr>
            <a:spLocks noGrp="1"/>
          </p:cNvSpPr>
          <p:nvPr/>
        </p:nvSpPr>
        <p:spPr>
          <a:xfrm>
            <a:off x="1000125" y="2286000"/>
            <a:ext cx="381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 i="0">
                <a:solidFill>
                  <a:srgbClr val="5F6B7A"/>
                </a:solidFill>
              </a:defRPr>
            </a:pPr>
            <a:r>
              <a:rPr lang="en-US" sz="140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Classical deterministic(worst case)</a:t>
            </a:r>
            <a:endParaRPr sz="1275" b="1" i="0" dirty="0">
              <a:solidFill>
                <a:srgbClr val="111827"/>
              </a:solidFill>
            </a:endParaRP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B1A21ABE-CA17-457E-9006-A4BB8EE2680E}"/>
              </a:ext>
            </a:extLst>
          </p:cNvPr>
          <p:cNvSpPr>
            <a:spLocks noGrp="1"/>
          </p:cNvSpPr>
          <p:nvPr/>
        </p:nvSpPr>
        <p:spPr>
          <a:xfrm>
            <a:off x="609599" y="2881313"/>
            <a:ext cx="1974575" cy="11639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3900" b="1" i="0">
                <a:solidFill>
                  <a:srgbClr val="1E55A0"/>
                </a:solidFill>
              </a:defRPr>
            </a:pPr>
            <a:endParaRPr lang="en-US" sz="3900" b="1" i="0" dirty="0">
              <a:solidFill>
                <a:srgbClr val="1E55A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>
              <a:defRPr sz="3900" b="1" i="0">
                <a:solidFill>
                  <a:srgbClr val="1E55A0"/>
                </a:solidFill>
              </a:defRPr>
            </a:pPr>
            <a:endParaRPr lang="en-US" sz="3900" b="1" dirty="0">
              <a:solidFill>
                <a:srgbClr val="1E55A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>
              <a:defRPr sz="3900" b="1" i="0">
                <a:solidFill>
                  <a:srgbClr val="1E55A0"/>
                </a:solidFill>
              </a:defRPr>
            </a:pPr>
            <a:r>
              <a:rPr sz="3900" b="1" i="0" dirty="0">
                <a:solidFill>
                  <a:srgbClr val="1E55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2ⁿ</a:t>
            </a:r>
            <a:r>
              <a:rPr lang="en-US" sz="3900" b="1" i="0" dirty="0">
                <a:solidFill>
                  <a:srgbClr val="1E55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⁻¹</a:t>
            </a:r>
            <a:r>
              <a:rPr sz="3900" b="1" i="0" dirty="0">
                <a:solidFill>
                  <a:srgbClr val="1E55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+ 1</a:t>
            </a:r>
            <a:endParaRPr lang="en-US" sz="4000" b="1" i="0" dirty="0">
              <a:solidFill>
                <a:srgbClr val="111827"/>
              </a:solidFill>
            </a:endParaRPr>
          </a:p>
          <a:p>
            <a:pPr>
              <a:defRPr sz="3900" b="1" i="0">
                <a:solidFill>
                  <a:srgbClr val="1E55A0"/>
                </a:solidFill>
              </a:defRPr>
            </a:pPr>
            <a:endParaRPr lang="en-US" sz="4000" b="0" i="0" dirty="0">
              <a:solidFill>
                <a:srgbClr val="111827"/>
              </a:solidFill>
            </a:endParaRPr>
          </a:p>
          <a:p>
            <a:pPr algn="l">
              <a:defRPr sz="3900" b="1" i="0">
                <a:solidFill>
                  <a:srgbClr val="1E55A0"/>
                </a:solidFill>
              </a:defRPr>
            </a:pPr>
            <a:endParaRPr sz="3900" b="1" i="0" dirty="0">
              <a:solidFill>
                <a:srgbClr val="1E55A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6339EBBD-2ABC-41AF-ACA5-9DD946F23B8D}"/>
              </a:ext>
            </a:extLst>
          </p:cNvPr>
          <p:cNvSpPr>
            <a:spLocks noGrp="1"/>
          </p:cNvSpPr>
          <p:nvPr/>
        </p:nvSpPr>
        <p:spPr>
          <a:xfrm>
            <a:off x="1000125" y="3714750"/>
            <a:ext cx="3714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 i="0">
                <a:solidFill>
                  <a:srgbClr val="111827"/>
                </a:solidFill>
              </a:defRPr>
            </a:pPr>
            <a:endParaRPr sz="1575" b="0" i="0" dirty="0">
              <a:solidFill>
                <a:srgbClr val="111827"/>
              </a:solidFill>
            </a:endParaRP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03349605-CAAF-4498-9BA7-680FEB3D5946}"/>
              </a:ext>
            </a:extLst>
          </p:cNvPr>
          <p:cNvSpPr>
            <a:spLocks noGrp="1"/>
          </p:cNvSpPr>
          <p:nvPr/>
        </p:nvSpPr>
        <p:spPr>
          <a:xfrm>
            <a:off x="6115050" y="2286000"/>
            <a:ext cx="381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 i="0">
                <a:solidFill>
                  <a:srgbClr val="5F6B7A"/>
                </a:solidFill>
              </a:defRPr>
            </a:pPr>
            <a:r>
              <a:rPr lang="en-US" sz="140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Deutsch–</a:t>
            </a:r>
            <a:r>
              <a:rPr lang="en-US" sz="1400" dirty="0" err="1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Jozsa</a:t>
            </a:r>
            <a:r>
              <a:rPr lang="en-US" sz="140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quantum algorithm</a:t>
            </a:r>
            <a:endParaRPr sz="1275" b="1" i="0" dirty="0">
              <a:solidFill>
                <a:srgbClr val="111827"/>
              </a:solidFill>
            </a:endParaRP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5B202E47-5BC2-4711-ACFF-98AE9D28D11D}"/>
              </a:ext>
            </a:extLst>
          </p:cNvPr>
          <p:cNvSpPr>
            <a:spLocks noGrp="1"/>
          </p:cNvSpPr>
          <p:nvPr/>
        </p:nvSpPr>
        <p:spPr>
          <a:xfrm>
            <a:off x="6115050" y="2762250"/>
            <a:ext cx="1619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4800" b="1" i="0">
                <a:solidFill>
                  <a:srgbClr val="EA7A14"/>
                </a:solidFill>
              </a:defRPr>
            </a:pPr>
            <a:r>
              <a:rPr sz="4800" b="1" i="0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568B17CD-690C-431E-A2BD-2E917108B5EB}"/>
              </a:ext>
            </a:extLst>
          </p:cNvPr>
          <p:cNvSpPr>
            <a:spLocks noGrp="1"/>
          </p:cNvSpPr>
          <p:nvPr/>
        </p:nvSpPr>
        <p:spPr>
          <a:xfrm>
            <a:off x="7000875" y="2990850"/>
            <a:ext cx="3143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 i="0">
                <a:solidFill>
                  <a:srgbClr val="111827"/>
                </a:solidFill>
              </a:defRPr>
            </a:pPr>
            <a:r>
              <a:rPr sz="2100" b="1" i="0" dirty="0">
                <a:solidFill>
                  <a:srgbClr val="111827"/>
                </a:solidFill>
              </a:rPr>
              <a:t>oracle query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29A29FE0-B726-4D42-8A69-CF04EEFC4CDB}"/>
              </a:ext>
            </a:extLst>
          </p:cNvPr>
          <p:cNvSpPr>
            <a:spLocks noGrp="1"/>
          </p:cNvSpPr>
          <p:nvPr/>
        </p:nvSpPr>
        <p:spPr>
          <a:xfrm>
            <a:off x="6115050" y="3714750"/>
            <a:ext cx="476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 i="0">
                <a:solidFill>
                  <a:srgbClr val="111827"/>
                </a:solidFill>
              </a:defRPr>
            </a:pPr>
            <a:r>
              <a:rPr sz="1425" b="0" i="0" dirty="0">
                <a:solidFill>
                  <a:srgbClr val="111827"/>
                </a:solidFill>
              </a:rPr>
              <a:t>The advantage comes from superposition and interference</a:t>
            </a:r>
            <a:r>
              <a:rPr lang="en-US" sz="1425" b="0" i="0" dirty="0">
                <a:solidFill>
                  <a:srgbClr val="111827"/>
                </a:solidFill>
              </a:rPr>
              <a:t> </a:t>
            </a:r>
            <a:r>
              <a:rPr sz="1425" b="0" i="0" dirty="0">
                <a:solidFill>
                  <a:srgbClr val="111827"/>
                </a:solidFill>
              </a:rPr>
              <a:t>not from reading every </a:t>
            </a:r>
            <a:r>
              <a:rPr sz="1425" b="0" i="0" dirty="0">
                <a:solidFill>
                  <a:srgbClr val="11182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f(x).</a:t>
            </a:r>
          </a:p>
        </p:txBody>
      </p:sp>
      <p:sp>
        <p:nvSpPr>
          <p:cNvPr id="13" name="page-number">
            <a:extLst>
              <a:ext uri="{FF2B5EF4-FFF2-40B4-BE49-F238E27FC236}">
                <a16:creationId xmlns:a16="http://schemas.microsoft.com/office/drawing/2014/main" id="{F11C56DD-85F5-42C1-A201-C89335AF97C9}"/>
              </a:ext>
            </a:extLst>
          </p:cNvPr>
          <p:cNvSpPr>
            <a:spLocks noGrp="1"/>
          </p:cNvSpPr>
          <p:nvPr/>
        </p:nvSpPr>
        <p:spPr>
          <a:xfrm>
            <a:off x="11334750" y="64865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50" b="0" i="0">
                <a:solidFill>
                  <a:srgbClr val="5F6B7A"/>
                </a:solidFill>
              </a:defRPr>
            </a:pPr>
            <a:r>
              <a:rPr sz="750" b="0" i="0">
                <a:solidFill>
                  <a:srgbClr val="5F6B7A"/>
                </a:solidFill>
              </a:rPr>
              <a:t>05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F1BE5F-77A6-4357-995D-8F3A01CAFCAC}"/>
              </a:ext>
            </a:extLst>
          </p:cNvPr>
          <p:cNvSpPr txBox="1"/>
          <p:nvPr/>
        </p:nvSpPr>
        <p:spPr>
          <a:xfrm>
            <a:off x="2808633" y="3205162"/>
            <a:ext cx="1998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i="0" dirty="0">
                <a:solidFill>
                  <a:srgbClr val="111827"/>
                </a:solidFill>
              </a:rPr>
              <a:t>   oracle queries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398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kicker">
            <a:extLst>
              <a:ext uri="{FF2B5EF4-FFF2-40B4-BE49-F238E27FC236}">
                <a16:creationId xmlns:a16="http://schemas.microsoft.com/office/drawing/2014/main" id="{30C120AB-8A04-4F2C-88DE-34EB694A002A}"/>
              </a:ext>
            </a:extLst>
          </p:cNvPr>
          <p:cNvSpPr>
            <a:spLocks noGrp="1"/>
          </p:cNvSpPr>
          <p:nvPr/>
        </p:nvSpPr>
        <p:spPr>
          <a:xfrm>
            <a:off x="609599" y="333374"/>
            <a:ext cx="8723243" cy="5714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 i="0">
                <a:solidFill>
                  <a:srgbClr val="3B82F6"/>
                </a:solidFill>
              </a:defRPr>
            </a:pPr>
            <a:r>
              <a:rPr lang="en-US" sz="4000" dirty="0">
                <a:solidFill>
                  <a:srgbClr val="111827"/>
                </a:solidFill>
              </a:rPr>
              <a:t>Oracle Representation</a:t>
            </a:r>
            <a:endParaRPr sz="4000" b="1" i="0" dirty="0">
              <a:solidFill>
                <a:srgbClr val="111827"/>
              </a:solidFill>
            </a:endParaRP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D0F620BB-9768-4C0F-9FAA-EFB61E53EE1A}"/>
              </a:ext>
            </a:extLst>
          </p:cNvPr>
          <p:cNvSpPr>
            <a:spLocks noGrp="1"/>
          </p:cNvSpPr>
          <p:nvPr/>
        </p:nvSpPr>
        <p:spPr>
          <a:xfrm>
            <a:off x="609599" y="940489"/>
            <a:ext cx="10953750" cy="8344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0" i="0">
                <a:solidFill>
                  <a:srgbClr val="111827"/>
                </a:solidFill>
              </a:defRPr>
            </a:pPr>
            <a:endParaRPr sz="2850" b="0" i="0" dirty="0">
              <a:solidFill>
                <a:srgbClr val="111827"/>
              </a:solidFill>
            </a:endParaRPr>
          </a:p>
        </p:txBody>
      </p:sp>
      <p:sp>
        <p:nvSpPr>
          <p:cNvPr id="5" name="shape">
            <a:extLst>
              <a:ext uri="{FF2B5EF4-FFF2-40B4-BE49-F238E27FC236}">
                <a16:creationId xmlns:a16="http://schemas.microsoft.com/office/drawing/2014/main" id="{9D48ABBD-A477-4E18-A506-32CCE971BA40}"/>
              </a:ext>
            </a:extLst>
          </p:cNvPr>
          <p:cNvSpPr>
            <a:spLocks noGrp="1"/>
          </p:cNvSpPr>
          <p:nvPr/>
        </p:nvSpPr>
        <p:spPr>
          <a:xfrm>
            <a:off x="1143000" y="5334000"/>
            <a:ext cx="9906000" cy="619125"/>
          </a:xfrm>
          <a:prstGeom prst="roundRect">
            <a:avLst>
              <a:gd name="adj" fmla="val 9231"/>
            </a:avLst>
          </a:prstGeom>
          <a:solidFill>
            <a:srgbClr val="EEF6FF"/>
          </a:solidFill>
          <a:ln w="0"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">
                <a:extLst>
                  <a:ext uri="{FF2B5EF4-FFF2-40B4-BE49-F238E27FC236}">
                    <a16:creationId xmlns:a16="http://schemas.microsoft.com/office/drawing/2014/main" id="{E16FD7C8-984E-4CA1-B3A0-EEEF0EE0F29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81125" y="5438775"/>
                <a:ext cx="7641577" cy="4191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anchor="ctr"/>
              <a:lstStyle/>
              <a:p>
                <a:pPr algn="ctr">
                  <a:defRPr sz="1425" b="0" i="0">
                    <a:solidFill>
                      <a:srgbClr val="111827"/>
                    </a:solidFill>
                  </a:defRPr>
                </a:pPr>
                <a:r>
                  <a:rPr lang="en-US" sz="1425" b="0" i="0" dirty="0">
                    <a:solidFill>
                      <a:srgbClr val="111827"/>
                    </a:solidFill>
                  </a:rPr>
                  <a:t>x is unchanged; the ancilla changes from y to </a:t>
                </a:r>
                <a:r>
                  <a:rPr lang="en-US" sz="1425" b="0" i="0" dirty="0">
                    <a:solidFill>
                      <a:srgbClr val="111827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y ⊕ f(x). </a:t>
                </a:r>
                <a:r>
                  <a:rPr lang="en-US" sz="1425" b="0" i="0" dirty="0">
                    <a:solidFill>
                      <a:srgbClr val="111827"/>
                    </a:solidFill>
                  </a:rPr>
                  <a:t>One passage through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425" b="0" i="1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25" b="0" i="1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1425" b="0" i="1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ar-AE" sz="1425" b="0" i="0" dirty="0">
                    <a:solidFill>
                      <a:srgbClr val="111827"/>
                    </a:solidFill>
                  </a:rPr>
                  <a:t> </a:t>
                </a:r>
                <a:r>
                  <a:rPr lang="en-US" sz="1425" b="0" i="0" dirty="0">
                    <a:solidFill>
                      <a:srgbClr val="111827"/>
                    </a:solidFill>
                  </a:rPr>
                  <a:t>is one oracle query.</a:t>
                </a:r>
                <a:endParaRPr sz="1425" b="0" i="0" dirty="0">
                  <a:solidFill>
                    <a:srgbClr val="111827"/>
                  </a:solidFill>
                </a:endParaRPr>
              </a:p>
            </p:txBody>
          </p:sp>
        </mc:Choice>
        <mc:Fallback xmlns="">
          <p:sp>
            <p:nvSpPr>
              <p:cNvPr id="6" name="text">
                <a:extLst>
                  <a:ext uri="{FF2B5EF4-FFF2-40B4-BE49-F238E27FC236}">
                    <a16:creationId xmlns:a16="http://schemas.microsoft.com/office/drawing/2014/main" id="{E16FD7C8-984E-4CA1-B3A0-EEEF0EE0F2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1125" y="5438775"/>
                <a:ext cx="7641577" cy="419100"/>
              </a:xfrm>
              <a:prstGeom prst="rect">
                <a:avLst/>
              </a:prstGeom>
              <a:blipFill>
                <a:blip r:embed="rId3"/>
                <a:stretch>
                  <a:fillRect l="-80" b="-2899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age-number">
            <a:extLst>
              <a:ext uri="{FF2B5EF4-FFF2-40B4-BE49-F238E27FC236}">
                <a16:creationId xmlns:a16="http://schemas.microsoft.com/office/drawing/2014/main" id="{16D52B44-944A-48F9-98DD-A6F3A9930C9A}"/>
              </a:ext>
            </a:extLst>
          </p:cNvPr>
          <p:cNvSpPr>
            <a:spLocks noGrp="1"/>
          </p:cNvSpPr>
          <p:nvPr/>
        </p:nvSpPr>
        <p:spPr>
          <a:xfrm>
            <a:off x="11334750" y="64865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50" b="0" i="0">
                <a:solidFill>
                  <a:srgbClr val="5F6B7A"/>
                </a:solidFill>
              </a:defRPr>
            </a:pPr>
            <a:r>
              <a:rPr sz="750" b="0" i="0">
                <a:solidFill>
                  <a:srgbClr val="5F6B7A"/>
                </a:solidFill>
              </a:rPr>
              <a:t>06</a:t>
            </a:r>
          </a:p>
        </p:txBody>
      </p:sp>
      <p:pic>
        <p:nvPicPr>
          <p:cNvPr id="9" name="Content Placeholder 4">
            <a:extLst>
              <a:ext uri="{FF2B5EF4-FFF2-40B4-BE49-F238E27FC236}">
                <a16:creationId xmlns:a16="http://schemas.microsoft.com/office/drawing/2014/main" id="{20C02610-BF40-44C9-852A-BFD71B0545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362" y="1810579"/>
            <a:ext cx="9320911" cy="3428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398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kicker">
            <a:extLst>
              <a:ext uri="{FF2B5EF4-FFF2-40B4-BE49-F238E27FC236}">
                <a16:creationId xmlns:a16="http://schemas.microsoft.com/office/drawing/2014/main" id="{EC1AFC2B-0DE6-47EF-9C9B-063B84547F53}"/>
              </a:ext>
            </a:extLst>
          </p:cNvPr>
          <p:cNvSpPr>
            <a:spLocks noGrp="1"/>
          </p:cNvSpPr>
          <p:nvPr/>
        </p:nvSpPr>
        <p:spPr>
          <a:xfrm>
            <a:off x="609600" y="313496"/>
            <a:ext cx="9200322" cy="6485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 i="0">
                <a:solidFill>
                  <a:srgbClr val="3B82F6"/>
                </a:solidFill>
              </a:defRPr>
            </a:pPr>
            <a:br>
              <a:rPr lang="en-US" sz="4000" b="1" dirty="0">
                <a:solidFill>
                  <a:srgbClr val="111111"/>
                </a:solidFill>
                <a:latin typeface="+mj-lt"/>
                <a:cs typeface="Times New Roman" panose="02020603050405020304" pitchFamily="18" charset="0"/>
              </a:rPr>
            </a:br>
            <a:r>
              <a:rPr lang="en-US" sz="4000" dirty="0">
                <a:solidFill>
                  <a:srgbClr val="111827"/>
                </a:solidFill>
                <a:latin typeface="+mj-lt"/>
                <a:cs typeface="Times New Roman" panose="02020603050405020304" pitchFamily="18" charset="0"/>
              </a:rPr>
              <a:t>Ideal Deutsch–</a:t>
            </a:r>
            <a:r>
              <a:rPr lang="en-US" sz="4000" dirty="0" err="1">
                <a:solidFill>
                  <a:srgbClr val="111827"/>
                </a:solidFill>
                <a:latin typeface="+mj-lt"/>
                <a:cs typeface="Times New Roman" panose="02020603050405020304" pitchFamily="18" charset="0"/>
              </a:rPr>
              <a:t>Jozsa</a:t>
            </a:r>
            <a:r>
              <a:rPr lang="en-US" sz="4000" dirty="0">
                <a:solidFill>
                  <a:srgbClr val="111827"/>
                </a:solidFill>
                <a:latin typeface="+mj-lt"/>
                <a:cs typeface="Times New Roman" panose="02020603050405020304" pitchFamily="18" charset="0"/>
              </a:rPr>
              <a:t> Circuit</a:t>
            </a:r>
            <a:br>
              <a:rPr lang="en-US" sz="4000" b="1" dirty="0">
                <a:solidFill>
                  <a:srgbClr val="3B82F6"/>
                </a:solidFill>
                <a:latin typeface="+mj-lt"/>
                <a:cs typeface="Times New Roman" panose="02020603050405020304" pitchFamily="18" charset="0"/>
              </a:rPr>
            </a:br>
            <a:endParaRPr sz="4000" b="1" i="0" dirty="0">
              <a:solidFill>
                <a:srgbClr val="3B82F6"/>
              </a:solidFill>
              <a:latin typeface="+mj-lt"/>
            </a:endParaRP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444D62BD-B1FF-4B91-B3F5-E4F282A88FB1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10953750" cy="8572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0" i="0">
                <a:solidFill>
                  <a:srgbClr val="111827"/>
                </a:solidFill>
              </a:defRPr>
            </a:pPr>
            <a:endParaRPr sz="2850" b="0" i="0" dirty="0">
              <a:solidFill>
                <a:srgbClr val="111827"/>
              </a:solidFill>
            </a:endParaRPr>
          </a:p>
        </p:txBody>
      </p:sp>
      <p:sp>
        <p:nvSpPr>
          <p:cNvPr id="4" name="shape">
            <a:extLst>
              <a:ext uri="{FF2B5EF4-FFF2-40B4-BE49-F238E27FC236}">
                <a16:creationId xmlns:a16="http://schemas.microsoft.com/office/drawing/2014/main" id="{A006DA23-74B8-4CB7-A74A-C512B9684FC7}"/>
              </a:ext>
            </a:extLst>
          </p:cNvPr>
          <p:cNvSpPr>
            <a:spLocks noGrp="1"/>
          </p:cNvSpPr>
          <p:nvPr/>
        </p:nvSpPr>
        <p:spPr>
          <a:xfrm>
            <a:off x="8667750" y="1857375"/>
            <a:ext cx="3190875" cy="3124199"/>
          </a:xfrm>
          <a:prstGeom prst="roundRect">
            <a:avLst>
              <a:gd name="adj" fmla="val 2985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EAC20F3A-11B0-4880-BF3C-41BB57EFB5E3}"/>
              </a:ext>
            </a:extLst>
          </p:cNvPr>
          <p:cNvSpPr>
            <a:spLocks noGrp="1"/>
          </p:cNvSpPr>
          <p:nvPr/>
        </p:nvSpPr>
        <p:spPr>
          <a:xfrm>
            <a:off x="8524875" y="1857375"/>
            <a:ext cx="2619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Decision rule</a:t>
            </a:r>
          </a:p>
        </p:txBody>
      </p:sp>
      <p:sp>
        <p:nvSpPr>
          <p:cNvPr id="6" name="pill">
            <a:extLst>
              <a:ext uri="{FF2B5EF4-FFF2-40B4-BE49-F238E27FC236}">
                <a16:creationId xmlns:a16="http://schemas.microsoft.com/office/drawing/2014/main" id="{B4407C00-45C1-47EB-B8A0-DA3185F7FC7F}"/>
              </a:ext>
            </a:extLst>
          </p:cNvPr>
          <p:cNvSpPr>
            <a:spLocks noGrp="1"/>
          </p:cNvSpPr>
          <p:nvPr/>
        </p:nvSpPr>
        <p:spPr>
          <a:xfrm>
            <a:off x="8763000" y="2571750"/>
            <a:ext cx="2095500" cy="323850"/>
          </a:xfrm>
          <a:prstGeom prst="roundRect">
            <a:avLst>
              <a:gd name="adj" fmla="val 47059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DD302E46-6863-4627-AA7D-A05924B402D0}"/>
              </a:ext>
            </a:extLst>
          </p:cNvPr>
          <p:cNvSpPr>
            <a:spLocks noGrp="1"/>
          </p:cNvSpPr>
          <p:nvPr/>
        </p:nvSpPr>
        <p:spPr>
          <a:xfrm>
            <a:off x="8763000" y="25717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 i="0">
                <a:solidFill>
                  <a:srgbClr val="3B82F6"/>
                </a:solidFill>
              </a:defRPr>
            </a:pPr>
            <a:r>
              <a:rPr sz="1125" b="1" i="0" dirty="0">
                <a:solidFill>
                  <a:srgbClr val="3B82F6"/>
                </a:solidFill>
              </a:rPr>
              <a:t>C</a:t>
            </a:r>
            <a:r>
              <a:rPr lang="en-US" sz="1125" b="1" i="0" dirty="0">
                <a:solidFill>
                  <a:srgbClr val="3B82F6"/>
                </a:solidFill>
              </a:rPr>
              <a:t>onstant</a:t>
            </a:r>
            <a:endParaRPr sz="1125" b="1" i="0" dirty="0">
              <a:solidFill>
                <a:srgbClr val="3B82F6"/>
              </a:solidFill>
            </a:endParaRP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FBE47B2B-BA9B-4F02-99BA-5422E1FA1341}"/>
              </a:ext>
            </a:extLst>
          </p:cNvPr>
          <p:cNvSpPr>
            <a:spLocks noGrp="1"/>
          </p:cNvSpPr>
          <p:nvPr/>
        </p:nvSpPr>
        <p:spPr>
          <a:xfrm>
            <a:off x="8667750" y="3000375"/>
            <a:ext cx="2286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 i="0">
                <a:solidFill>
                  <a:srgbClr val="111827"/>
                </a:solidFill>
              </a:defRPr>
            </a:pPr>
            <a:r>
              <a:rPr sz="2100" b="1" i="0" dirty="0">
                <a:solidFill>
                  <a:srgbClr val="11182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P(0ⁿ) = 1</a:t>
            </a:r>
          </a:p>
        </p:txBody>
      </p:sp>
      <p:sp>
        <p:nvSpPr>
          <p:cNvPr id="9" name="pill">
            <a:extLst>
              <a:ext uri="{FF2B5EF4-FFF2-40B4-BE49-F238E27FC236}">
                <a16:creationId xmlns:a16="http://schemas.microsoft.com/office/drawing/2014/main" id="{FA332F21-DC79-4F4F-8E7E-3A1C73CE4EB9}"/>
              </a:ext>
            </a:extLst>
          </p:cNvPr>
          <p:cNvSpPr>
            <a:spLocks noGrp="1"/>
          </p:cNvSpPr>
          <p:nvPr/>
        </p:nvSpPr>
        <p:spPr>
          <a:xfrm>
            <a:off x="8763000" y="3857625"/>
            <a:ext cx="2095500" cy="323850"/>
          </a:xfrm>
          <a:prstGeom prst="roundRect">
            <a:avLst>
              <a:gd name="adj" fmla="val 47059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4585B4DD-AA49-4F94-B211-7B3481886816}"/>
              </a:ext>
            </a:extLst>
          </p:cNvPr>
          <p:cNvSpPr>
            <a:spLocks noGrp="1"/>
          </p:cNvSpPr>
          <p:nvPr/>
        </p:nvSpPr>
        <p:spPr>
          <a:xfrm>
            <a:off x="8763000" y="3857625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 i="0">
                <a:solidFill>
                  <a:srgbClr val="2E9E69"/>
                </a:solidFill>
              </a:defRPr>
            </a:pPr>
            <a:r>
              <a:rPr sz="1125" b="1" i="0" dirty="0">
                <a:solidFill>
                  <a:srgbClr val="2E9E69"/>
                </a:solidFill>
              </a:rPr>
              <a:t>B</a:t>
            </a:r>
            <a:r>
              <a:rPr lang="en-US" sz="1125" b="1" i="0" dirty="0">
                <a:solidFill>
                  <a:srgbClr val="2E9E69"/>
                </a:solidFill>
              </a:rPr>
              <a:t>alanced</a:t>
            </a:r>
            <a:endParaRPr sz="1125" b="1" i="0" dirty="0">
              <a:solidFill>
                <a:srgbClr val="2E9E69"/>
              </a:solidFill>
            </a:endParaRP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11847EBA-8412-4D63-AB16-214C2039D35F}"/>
              </a:ext>
            </a:extLst>
          </p:cNvPr>
          <p:cNvSpPr>
            <a:spLocks noGrp="1"/>
          </p:cNvSpPr>
          <p:nvPr/>
        </p:nvSpPr>
        <p:spPr>
          <a:xfrm>
            <a:off x="8667750" y="4286250"/>
            <a:ext cx="2286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 i="0">
                <a:solidFill>
                  <a:srgbClr val="111827"/>
                </a:solidFill>
              </a:defRPr>
            </a:pPr>
            <a:r>
              <a:rPr sz="2100" b="1" i="0" dirty="0">
                <a:solidFill>
                  <a:srgbClr val="11182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P(0ⁿ) = 0</a:t>
            </a:r>
          </a:p>
        </p:txBody>
      </p:sp>
      <p:sp>
        <p:nvSpPr>
          <p:cNvPr id="12" name="key-finding">
            <a:extLst>
              <a:ext uri="{FF2B5EF4-FFF2-40B4-BE49-F238E27FC236}">
                <a16:creationId xmlns:a16="http://schemas.microsoft.com/office/drawing/2014/main" id="{52BBAE2C-1DC3-468B-AD13-0735ECE3B18F}"/>
              </a:ext>
            </a:extLst>
          </p:cNvPr>
          <p:cNvSpPr>
            <a:spLocks noGrp="1"/>
          </p:cNvSpPr>
          <p:nvPr/>
        </p:nvSpPr>
        <p:spPr>
          <a:xfrm>
            <a:off x="609600" y="5381625"/>
            <a:ext cx="10972800" cy="514350"/>
          </a:xfrm>
          <a:prstGeom prst="roundRect">
            <a:avLst>
              <a:gd name="adj" fmla="val 7407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F782A58C-52B4-408A-8BA6-02E9CE7B32EA}"/>
              </a:ext>
            </a:extLst>
          </p:cNvPr>
          <p:cNvSpPr>
            <a:spLocks noGrp="1"/>
          </p:cNvSpPr>
          <p:nvPr/>
        </p:nvSpPr>
        <p:spPr>
          <a:xfrm>
            <a:off x="781050" y="5457825"/>
            <a:ext cx="142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3B82F6"/>
                </a:solidFill>
              </a:defRPr>
            </a:pPr>
            <a:r>
              <a:rPr sz="1350" b="1" i="0">
                <a:solidFill>
                  <a:srgbClr val="3B82F6"/>
                </a:solidFill>
              </a:rPr>
              <a:t>Circuit logic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BA32566F-156A-43B5-8251-092C5C829E79}"/>
              </a:ext>
            </a:extLst>
          </p:cNvPr>
          <p:cNvSpPr>
            <a:spLocks noGrp="1"/>
          </p:cNvSpPr>
          <p:nvPr/>
        </p:nvSpPr>
        <p:spPr>
          <a:xfrm>
            <a:off x="2047875" y="5457825"/>
            <a:ext cx="9239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 dirty="0">
                <a:solidFill>
                  <a:srgbClr val="111827"/>
                </a:solidFill>
              </a:rPr>
              <a:t>Superposition → oracle → interference → measurement</a:t>
            </a:r>
          </a:p>
        </p:txBody>
      </p:sp>
      <p:sp>
        <p:nvSpPr>
          <p:cNvPr id="15" name="page-number">
            <a:extLst>
              <a:ext uri="{FF2B5EF4-FFF2-40B4-BE49-F238E27FC236}">
                <a16:creationId xmlns:a16="http://schemas.microsoft.com/office/drawing/2014/main" id="{7D389D46-7560-4C19-9E63-0A19DACACEB6}"/>
              </a:ext>
            </a:extLst>
          </p:cNvPr>
          <p:cNvSpPr>
            <a:spLocks noGrp="1"/>
          </p:cNvSpPr>
          <p:nvPr/>
        </p:nvSpPr>
        <p:spPr>
          <a:xfrm>
            <a:off x="11334750" y="64865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50" b="0" i="0">
                <a:solidFill>
                  <a:srgbClr val="5F6B7A"/>
                </a:solidFill>
              </a:defRPr>
            </a:pPr>
            <a:r>
              <a:rPr sz="750" b="0" i="0">
                <a:solidFill>
                  <a:srgbClr val="5F6B7A"/>
                </a:solidFill>
              </a:rPr>
              <a:t>07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79A85C-E89A-43EB-9208-CA708B8275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584" y="1857375"/>
            <a:ext cx="8052319" cy="3381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3982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kicker">
            <a:extLst>
              <a:ext uri="{FF2B5EF4-FFF2-40B4-BE49-F238E27FC236}">
                <a16:creationId xmlns:a16="http://schemas.microsoft.com/office/drawing/2014/main" id="{B8E97918-A39D-4D8C-AB38-1322DE129E03}"/>
              </a:ext>
            </a:extLst>
          </p:cNvPr>
          <p:cNvSpPr>
            <a:spLocks noGrp="1"/>
          </p:cNvSpPr>
          <p:nvPr/>
        </p:nvSpPr>
        <p:spPr>
          <a:xfrm>
            <a:off x="609600" y="313496"/>
            <a:ext cx="8126896" cy="5710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 i="0">
                <a:solidFill>
                  <a:srgbClr val="3B82F6"/>
                </a:solidFill>
              </a:defRPr>
            </a:pPr>
            <a:r>
              <a:rPr sz="4000" b="1" i="0" dirty="0">
                <a:solidFill>
                  <a:srgbClr val="111827"/>
                </a:solidFill>
              </a:rPr>
              <a:t>H</a:t>
            </a:r>
            <a:r>
              <a:rPr lang="en-US" sz="4000" b="1" i="0" dirty="0">
                <a:solidFill>
                  <a:srgbClr val="111827"/>
                </a:solidFill>
              </a:rPr>
              <a:t>ow</a:t>
            </a:r>
            <a:r>
              <a:rPr sz="4000" b="1" i="0" dirty="0">
                <a:solidFill>
                  <a:srgbClr val="111827"/>
                </a:solidFill>
              </a:rPr>
              <a:t> </a:t>
            </a:r>
            <a:r>
              <a:rPr lang="en-US" sz="4000" b="1" dirty="0">
                <a:solidFill>
                  <a:srgbClr val="111827"/>
                </a:solidFill>
              </a:rPr>
              <a:t>One</a:t>
            </a:r>
            <a:r>
              <a:rPr sz="4000" b="1" i="0" dirty="0">
                <a:solidFill>
                  <a:srgbClr val="111827"/>
                </a:solidFill>
              </a:rPr>
              <a:t> Q</a:t>
            </a:r>
            <a:r>
              <a:rPr lang="en-US" sz="4000" b="1" i="0" dirty="0">
                <a:solidFill>
                  <a:srgbClr val="111827"/>
                </a:solidFill>
              </a:rPr>
              <a:t>uery</a:t>
            </a:r>
            <a:r>
              <a:rPr sz="4000" b="1" i="0" dirty="0">
                <a:solidFill>
                  <a:srgbClr val="111827"/>
                </a:solidFill>
              </a:rPr>
              <a:t> </a:t>
            </a:r>
            <a:r>
              <a:rPr lang="en-US" sz="4000" b="1" i="0" dirty="0">
                <a:solidFill>
                  <a:srgbClr val="111827"/>
                </a:solidFill>
              </a:rPr>
              <a:t>is</a:t>
            </a:r>
            <a:r>
              <a:rPr sz="4000" b="1" i="0" dirty="0">
                <a:solidFill>
                  <a:srgbClr val="111827"/>
                </a:solidFill>
              </a:rPr>
              <a:t> D</a:t>
            </a:r>
            <a:r>
              <a:rPr lang="en-US" sz="4000" b="1" i="0" dirty="0">
                <a:solidFill>
                  <a:srgbClr val="111827"/>
                </a:solidFill>
              </a:rPr>
              <a:t>ecoded</a:t>
            </a:r>
            <a:endParaRPr sz="4000" b="1" i="0" dirty="0">
              <a:solidFill>
                <a:srgbClr val="111827"/>
              </a:solidFill>
            </a:endParaRPr>
          </a:p>
        </p:txBody>
      </p:sp>
      <p:sp>
        <p:nvSpPr>
          <p:cNvPr id="3" name="shape">
            <a:extLst>
              <a:ext uri="{FF2B5EF4-FFF2-40B4-BE49-F238E27FC236}">
                <a16:creationId xmlns:a16="http://schemas.microsoft.com/office/drawing/2014/main" id="{AFF65106-A3C3-4C58-BD35-D82694248259}"/>
              </a:ext>
            </a:extLst>
          </p:cNvPr>
          <p:cNvSpPr>
            <a:spLocks noGrp="1"/>
          </p:cNvSpPr>
          <p:nvPr/>
        </p:nvSpPr>
        <p:spPr>
          <a:xfrm>
            <a:off x="619125" y="1762125"/>
            <a:ext cx="2074379" cy="2381250"/>
          </a:xfrm>
          <a:prstGeom prst="roundRect">
            <a:avLst>
              <a:gd name="adj" fmla="val 4800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4" name="shape">
            <a:extLst>
              <a:ext uri="{FF2B5EF4-FFF2-40B4-BE49-F238E27FC236}">
                <a16:creationId xmlns:a16="http://schemas.microsoft.com/office/drawing/2014/main" id="{DC5B67EB-F1FD-471C-807D-64E3B6FB5C4A}"/>
              </a:ext>
            </a:extLst>
          </p:cNvPr>
          <p:cNvSpPr>
            <a:spLocks noGrp="1"/>
          </p:cNvSpPr>
          <p:nvPr/>
        </p:nvSpPr>
        <p:spPr>
          <a:xfrm>
            <a:off x="809625" y="195262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6CF8DEED-6E9E-4A85-B4A5-E3175B931E8F}"/>
              </a:ext>
            </a:extLst>
          </p:cNvPr>
          <p:cNvSpPr>
            <a:spLocks noGrp="1"/>
          </p:cNvSpPr>
          <p:nvPr/>
        </p:nvSpPr>
        <p:spPr>
          <a:xfrm>
            <a:off x="809625" y="1952625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2073AC47-72F5-4DD3-99D7-D6595FD2C8F7}"/>
              </a:ext>
            </a:extLst>
          </p:cNvPr>
          <p:cNvSpPr>
            <a:spLocks noGrp="1"/>
          </p:cNvSpPr>
          <p:nvPr/>
        </p:nvSpPr>
        <p:spPr>
          <a:xfrm>
            <a:off x="809625" y="257175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 i="0">
                <a:solidFill>
                  <a:srgbClr val="111827"/>
                </a:solidFill>
              </a:defRPr>
            </a:pPr>
            <a:r>
              <a:rPr sz="1650" b="1" i="0">
                <a:solidFill>
                  <a:srgbClr val="111827"/>
                </a:solidFill>
              </a:rPr>
              <a:t>Prepare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">
                <a:extLst>
                  <a:ext uri="{FF2B5EF4-FFF2-40B4-BE49-F238E27FC236}">
                    <a16:creationId xmlns:a16="http://schemas.microsoft.com/office/drawing/2014/main" id="{6D10BB3F-7349-402E-9A06-296A8A1060A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09625" y="3000375"/>
                <a:ext cx="2000250" cy="6858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anchor="ctr"/>
              <a:lstStyle/>
              <a:p>
                <a:pPr>
                  <a:defRPr sz="1350" b="0" i="0">
                    <a:solidFill>
                      <a:srgbClr val="5F6B7A"/>
                    </a:solidFill>
                  </a:defRPr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350" b="0" i="1" smtClean="0">
                            <a:solidFill>
                              <a:srgbClr val="5F6B7A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350" dirty="0">
                            <a:solidFill>
                              <a:srgbClr val="5F6B7A"/>
                            </a:solidFill>
                          </a:rPr>
                          <m:t>|</m:t>
                        </m:r>
                        <m:r>
                          <m:rPr>
                            <m:nor/>
                          </m:rPr>
                          <a:rPr lang="en-US" sz="1350" dirty="0">
                            <a:solidFill>
                              <a:srgbClr val="5F6B7A"/>
                            </a:solidFill>
                          </a:rPr>
                          <m:t>0</m:t>
                        </m:r>
                        <m:r>
                          <m:rPr>
                            <m:nor/>
                          </m:rPr>
                          <a:rPr lang="en-US" sz="1350" dirty="0">
                            <a:solidFill>
                              <a:srgbClr val="5F6B7A"/>
                            </a:solidFill>
                          </a:rPr>
                          <m:t>⟩</m:t>
                        </m:r>
                      </m:e>
                      <m:sup>
                        <m:r>
                          <m:rPr>
                            <m:nor/>
                          </m:rPr>
                          <a:rPr lang="en-US" dirty="0"/>
                          <m:t>⊗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1350" b="0" i="0" dirty="0">
                    <a:solidFill>
                      <a:srgbClr val="5F6B7A"/>
                    </a:solidFill>
                  </a:rPr>
                  <a:t>|1⟩</a:t>
                </a:r>
                <a:endParaRPr sz="1350" b="0" i="0" dirty="0">
                  <a:solidFill>
                    <a:srgbClr val="5F6B7A"/>
                  </a:solidFill>
                </a:endParaRPr>
              </a:p>
            </p:txBody>
          </p:sp>
        </mc:Choice>
        <mc:Fallback xmlns="">
          <p:sp>
            <p:nvSpPr>
              <p:cNvPr id="7" name="text">
                <a:extLst>
                  <a:ext uri="{FF2B5EF4-FFF2-40B4-BE49-F238E27FC236}">
                    <a16:creationId xmlns:a16="http://schemas.microsoft.com/office/drawing/2014/main" id="{6D10BB3F-7349-402E-9A06-296A8A1060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625" y="3000375"/>
                <a:ext cx="2000250" cy="6858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hape">
            <a:extLst>
              <a:ext uri="{FF2B5EF4-FFF2-40B4-BE49-F238E27FC236}">
                <a16:creationId xmlns:a16="http://schemas.microsoft.com/office/drawing/2014/main" id="{DBDB02CA-73DA-4851-88D4-4791C6CF2A5C}"/>
              </a:ext>
            </a:extLst>
          </p:cNvPr>
          <p:cNvSpPr>
            <a:spLocks noGrp="1"/>
          </p:cNvSpPr>
          <p:nvPr/>
        </p:nvSpPr>
        <p:spPr>
          <a:xfrm>
            <a:off x="3095626" y="1762125"/>
            <a:ext cx="2857500" cy="238125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E9EEF4"/>
            </a:solidFill>
            <a:prstDash val="solid"/>
          </a:ln>
        </p:spPr>
      </p:sp>
      <p:sp>
        <p:nvSpPr>
          <p:cNvPr id="9" name="shape">
            <a:extLst>
              <a:ext uri="{FF2B5EF4-FFF2-40B4-BE49-F238E27FC236}">
                <a16:creationId xmlns:a16="http://schemas.microsoft.com/office/drawing/2014/main" id="{5FAD2B3E-A956-424E-98A0-9B4BA4A1C5E6}"/>
              </a:ext>
            </a:extLst>
          </p:cNvPr>
          <p:cNvSpPr>
            <a:spLocks noGrp="1"/>
          </p:cNvSpPr>
          <p:nvPr/>
        </p:nvSpPr>
        <p:spPr>
          <a:xfrm>
            <a:off x="3619500" y="195262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0">
            <a:noFill/>
            <a:prstDash val="solid"/>
          </a:ln>
        </p:spPr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1E11C504-3FF3-420E-9CEC-12B3612A551E}"/>
              </a:ext>
            </a:extLst>
          </p:cNvPr>
          <p:cNvSpPr>
            <a:spLocks noGrp="1"/>
          </p:cNvSpPr>
          <p:nvPr/>
        </p:nvSpPr>
        <p:spPr>
          <a:xfrm>
            <a:off x="3619500" y="1952625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6DB38E59-A7A6-47B2-AED2-972800C34EF9}"/>
              </a:ext>
            </a:extLst>
          </p:cNvPr>
          <p:cNvSpPr>
            <a:spLocks noGrp="1"/>
          </p:cNvSpPr>
          <p:nvPr/>
        </p:nvSpPr>
        <p:spPr>
          <a:xfrm>
            <a:off x="3619500" y="257175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 i="0">
                <a:solidFill>
                  <a:srgbClr val="111827"/>
                </a:solidFill>
              </a:defRPr>
            </a:pPr>
            <a:r>
              <a:rPr sz="1650" b="1" i="0">
                <a:solidFill>
                  <a:srgbClr val="111827"/>
                </a:solidFill>
              </a:rPr>
              <a:t>Superpose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">
                <a:extLst>
                  <a:ext uri="{FF2B5EF4-FFF2-40B4-BE49-F238E27FC236}">
                    <a16:creationId xmlns:a16="http://schemas.microsoft.com/office/drawing/2014/main" id="{B25728E4-B67C-4512-9CEE-D09A879965F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238498" y="3095625"/>
                <a:ext cx="2381252" cy="866776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anchor="ctr"/>
              <a:lstStyle/>
              <a:p>
                <a:pPr>
                  <a:defRPr sz="1350" b="0" i="0">
                    <a:solidFill>
                      <a:srgbClr val="5F6B7A"/>
                    </a:solidFill>
                  </a:defRPr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m:rPr>
                            <m:nor/>
                          </m:rPr>
                          <a:rPr lang="en-US" dirty="0"/>
                          <m:t>⊗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creates a superposition of all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inputs.</a:t>
                </a:r>
                <a:endParaRPr sz="1350" b="0" i="0" dirty="0">
                  <a:solidFill>
                    <a:srgbClr val="5F6B7A"/>
                  </a:solidFill>
                </a:endParaRPr>
              </a:p>
            </p:txBody>
          </p:sp>
        </mc:Choice>
        <mc:Fallback xmlns="">
          <p:sp>
            <p:nvSpPr>
              <p:cNvPr id="12" name="text">
                <a:extLst>
                  <a:ext uri="{FF2B5EF4-FFF2-40B4-BE49-F238E27FC236}">
                    <a16:creationId xmlns:a16="http://schemas.microsoft.com/office/drawing/2014/main" id="{B25728E4-B67C-4512-9CEE-D09A879965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8498" y="3095625"/>
                <a:ext cx="2381252" cy="866776"/>
              </a:xfrm>
              <a:prstGeom prst="rect">
                <a:avLst/>
              </a:prstGeom>
              <a:blipFill>
                <a:blip r:embed="rId4"/>
                <a:stretch>
                  <a:fillRect l="-512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hape">
            <a:extLst>
              <a:ext uri="{FF2B5EF4-FFF2-40B4-BE49-F238E27FC236}">
                <a16:creationId xmlns:a16="http://schemas.microsoft.com/office/drawing/2014/main" id="{5B656931-2118-4E14-81D0-D6AA4B6FA241}"/>
              </a:ext>
            </a:extLst>
          </p:cNvPr>
          <p:cNvSpPr>
            <a:spLocks noGrp="1"/>
          </p:cNvSpPr>
          <p:nvPr/>
        </p:nvSpPr>
        <p:spPr>
          <a:xfrm>
            <a:off x="6381749" y="1782003"/>
            <a:ext cx="2381250" cy="2381250"/>
          </a:xfrm>
          <a:prstGeom prst="roundRect">
            <a:avLst>
              <a:gd name="adj" fmla="val 4800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14" name="shape">
            <a:extLst>
              <a:ext uri="{FF2B5EF4-FFF2-40B4-BE49-F238E27FC236}">
                <a16:creationId xmlns:a16="http://schemas.microsoft.com/office/drawing/2014/main" id="{86A2E866-E79E-42C5-9B78-58EFBC313857}"/>
              </a:ext>
            </a:extLst>
          </p:cNvPr>
          <p:cNvSpPr>
            <a:spLocks noGrp="1"/>
          </p:cNvSpPr>
          <p:nvPr/>
        </p:nvSpPr>
        <p:spPr>
          <a:xfrm>
            <a:off x="6429375" y="195262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0">
            <a:noFill/>
            <a:prstDash val="solid"/>
          </a:ln>
        </p:spPr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99FD6C14-D0DE-4BD0-B701-B0ACED15746B}"/>
              </a:ext>
            </a:extLst>
          </p:cNvPr>
          <p:cNvSpPr>
            <a:spLocks noGrp="1"/>
          </p:cNvSpPr>
          <p:nvPr/>
        </p:nvSpPr>
        <p:spPr>
          <a:xfrm>
            <a:off x="6429375" y="1952625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50FF9D15-8C37-4C28-BD58-C2D5FA4F6D7A}"/>
              </a:ext>
            </a:extLst>
          </p:cNvPr>
          <p:cNvSpPr>
            <a:spLocks noGrp="1"/>
          </p:cNvSpPr>
          <p:nvPr/>
        </p:nvSpPr>
        <p:spPr>
          <a:xfrm>
            <a:off x="6429375" y="257175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 i="0">
                <a:solidFill>
                  <a:srgbClr val="111827"/>
                </a:solidFill>
              </a:defRPr>
            </a:pPr>
            <a:r>
              <a:rPr sz="1650" b="1" i="0">
                <a:solidFill>
                  <a:srgbClr val="111827"/>
                </a:solidFill>
              </a:rPr>
              <a:t>Encode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5A9CB2F4-AEC8-4F99-A9A2-0ABAC8D1F8CC}"/>
              </a:ext>
            </a:extLst>
          </p:cNvPr>
          <p:cNvSpPr>
            <a:spLocks noGrp="1"/>
          </p:cNvSpPr>
          <p:nvPr/>
        </p:nvSpPr>
        <p:spPr>
          <a:xfrm>
            <a:off x="6429375" y="3095625"/>
            <a:ext cx="2000250" cy="71106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5F6B7A"/>
                </a:solidFill>
              </a:defRPr>
            </a:pPr>
            <a:r>
              <a:rPr sz="1350" b="0" i="0" dirty="0">
                <a:solidFill>
                  <a:srgbClr val="5F6B7A"/>
                </a:solidFill>
              </a:rPr>
              <a:t>oracle adds phases (−1)ᶠ⁽ˣ⁾</a:t>
            </a:r>
          </a:p>
        </p:txBody>
      </p:sp>
      <p:sp>
        <p:nvSpPr>
          <p:cNvPr id="18" name="shape">
            <a:extLst>
              <a:ext uri="{FF2B5EF4-FFF2-40B4-BE49-F238E27FC236}">
                <a16:creationId xmlns:a16="http://schemas.microsoft.com/office/drawing/2014/main" id="{9791D1B6-2DDF-4E9B-831E-7BE96213B49A}"/>
              </a:ext>
            </a:extLst>
          </p:cNvPr>
          <p:cNvSpPr>
            <a:spLocks noGrp="1"/>
          </p:cNvSpPr>
          <p:nvPr/>
        </p:nvSpPr>
        <p:spPr>
          <a:xfrm>
            <a:off x="9048750" y="1762125"/>
            <a:ext cx="2381250" cy="238125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E9EEF4"/>
            </a:solidFill>
            <a:prstDash val="solid"/>
          </a:ln>
        </p:spPr>
      </p:sp>
      <p:sp>
        <p:nvSpPr>
          <p:cNvPr id="19" name="shape">
            <a:extLst>
              <a:ext uri="{FF2B5EF4-FFF2-40B4-BE49-F238E27FC236}">
                <a16:creationId xmlns:a16="http://schemas.microsoft.com/office/drawing/2014/main" id="{82B4E9AC-68BD-4AEE-9FF0-3047392F716C}"/>
              </a:ext>
            </a:extLst>
          </p:cNvPr>
          <p:cNvSpPr>
            <a:spLocks noGrp="1"/>
          </p:cNvSpPr>
          <p:nvPr/>
        </p:nvSpPr>
        <p:spPr>
          <a:xfrm>
            <a:off x="9239250" y="195262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0">
            <a:noFill/>
            <a:prstDash val="solid"/>
          </a:ln>
        </p:spPr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2DBDEE99-140A-4DAB-BF58-4AA5A6DCB0BD}"/>
              </a:ext>
            </a:extLst>
          </p:cNvPr>
          <p:cNvSpPr>
            <a:spLocks noGrp="1"/>
          </p:cNvSpPr>
          <p:nvPr/>
        </p:nvSpPr>
        <p:spPr>
          <a:xfrm>
            <a:off x="9239250" y="1952625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35F88B1F-1ED9-40C8-92BD-2D91CE2D349F}"/>
              </a:ext>
            </a:extLst>
          </p:cNvPr>
          <p:cNvSpPr>
            <a:spLocks noGrp="1"/>
          </p:cNvSpPr>
          <p:nvPr/>
        </p:nvSpPr>
        <p:spPr>
          <a:xfrm>
            <a:off x="9239250" y="257175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 i="0">
                <a:solidFill>
                  <a:srgbClr val="111827"/>
                </a:solidFill>
              </a:defRPr>
            </a:pPr>
            <a:r>
              <a:rPr sz="1650" b="1" i="0" dirty="0">
                <a:solidFill>
                  <a:srgbClr val="111827"/>
                </a:solidFill>
              </a:rPr>
              <a:t>Interfere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">
                <a:extLst>
                  <a:ext uri="{FF2B5EF4-FFF2-40B4-BE49-F238E27FC236}">
                    <a16:creationId xmlns:a16="http://schemas.microsoft.com/office/drawing/2014/main" id="{27669316-30DC-4034-A327-FDF699FC829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239250" y="3095625"/>
                <a:ext cx="2000250" cy="5905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anchor="ctr"/>
              <a:lstStyle/>
              <a:p>
                <a:pPr algn="l">
                  <a:defRPr sz="1350" b="0" i="0">
                    <a:solidFill>
                      <a:srgbClr val="5F6B7A"/>
                    </a:solidFill>
                  </a:defRPr>
                </a:pPr>
                <a:r>
                  <a:rPr lang="en-US" dirty="0"/>
                  <a:t>The final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m:rPr>
                            <m:nor/>
                          </m:rPr>
                          <a:rPr lang="en-US" dirty="0"/>
                          <m:t>⊗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combines the amplitudes.</a:t>
                </a:r>
                <a:endParaRPr sz="1350" b="0" i="0" dirty="0">
                  <a:solidFill>
                    <a:srgbClr val="5F6B7A"/>
                  </a:solidFill>
                </a:endParaRPr>
              </a:p>
            </p:txBody>
          </p:sp>
        </mc:Choice>
        <mc:Fallback xmlns="">
          <p:sp>
            <p:nvSpPr>
              <p:cNvPr id="22" name="text">
                <a:extLst>
                  <a:ext uri="{FF2B5EF4-FFF2-40B4-BE49-F238E27FC236}">
                    <a16:creationId xmlns:a16="http://schemas.microsoft.com/office/drawing/2014/main" id="{27669316-30DC-4034-A327-FDF699FC82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9250" y="3095625"/>
                <a:ext cx="2000250" cy="590550"/>
              </a:xfrm>
              <a:prstGeom prst="rect">
                <a:avLst/>
              </a:prstGeom>
              <a:blipFill>
                <a:blip r:embed="rId5"/>
                <a:stretch>
                  <a:fillRect l="-915" r="-305" b="-7216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">
            <a:extLst>
              <a:ext uri="{FF2B5EF4-FFF2-40B4-BE49-F238E27FC236}">
                <a16:creationId xmlns:a16="http://schemas.microsoft.com/office/drawing/2014/main" id="{B7950DCD-4387-4E08-BF78-D02FC167EBAF}"/>
              </a:ext>
            </a:extLst>
          </p:cNvPr>
          <p:cNvSpPr>
            <a:spLocks noGrp="1"/>
          </p:cNvSpPr>
          <p:nvPr/>
        </p:nvSpPr>
        <p:spPr>
          <a:xfrm>
            <a:off x="781050" y="4838700"/>
            <a:ext cx="142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3B82F6"/>
                </a:solidFill>
              </a:defRPr>
            </a:pPr>
            <a:endParaRPr sz="1350" b="1" i="0" dirty="0">
              <a:solidFill>
                <a:srgbClr val="3B82F6"/>
              </a:solidFill>
            </a:endParaRPr>
          </a:p>
        </p:txBody>
      </p:sp>
      <p:sp>
        <p:nvSpPr>
          <p:cNvPr id="26" name="page-number">
            <a:extLst>
              <a:ext uri="{FF2B5EF4-FFF2-40B4-BE49-F238E27FC236}">
                <a16:creationId xmlns:a16="http://schemas.microsoft.com/office/drawing/2014/main" id="{42A2D970-0594-4788-82BE-31DB0733B29C}"/>
              </a:ext>
            </a:extLst>
          </p:cNvPr>
          <p:cNvSpPr>
            <a:spLocks noGrp="1"/>
          </p:cNvSpPr>
          <p:nvPr/>
        </p:nvSpPr>
        <p:spPr>
          <a:xfrm>
            <a:off x="11334750" y="64865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50" b="0" i="0">
                <a:solidFill>
                  <a:srgbClr val="5F6B7A"/>
                </a:solidFill>
              </a:defRPr>
            </a:pPr>
            <a:r>
              <a:rPr sz="750" b="0" i="0">
                <a:solidFill>
                  <a:srgbClr val="5F6B7A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073982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title">
            <a:extLst>
              <a:ext uri="{FF2B5EF4-FFF2-40B4-BE49-F238E27FC236}">
                <a16:creationId xmlns:a16="http://schemas.microsoft.com/office/drawing/2014/main" id="{9A82B57F-77B8-4148-AE7B-39897B452CFE}"/>
              </a:ext>
            </a:extLst>
          </p:cNvPr>
          <p:cNvSpPr>
            <a:spLocks noGrp="1"/>
          </p:cNvSpPr>
          <p:nvPr/>
        </p:nvSpPr>
        <p:spPr>
          <a:xfrm>
            <a:off x="741872" y="129396"/>
            <a:ext cx="10015268" cy="11523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0" i="0">
                <a:solidFill>
                  <a:srgbClr val="111827"/>
                </a:solidFill>
              </a:defRPr>
            </a:pPr>
            <a:r>
              <a:rPr lang="en-US" sz="4000" b="0" i="0" dirty="0">
                <a:solidFill>
                  <a:srgbClr val="111827"/>
                </a:solidFill>
              </a:rPr>
              <a:t>Three coherent </a:t>
            </a:r>
            <a:r>
              <a:rPr lang="en-US" sz="4000" dirty="0"/>
              <a:t>single-qubit rotation operator </a:t>
            </a:r>
            <a:endParaRPr lang="en-US" sz="4000" b="0" i="0" dirty="0">
              <a:solidFill>
                <a:srgbClr val="111827"/>
              </a:solidFill>
            </a:endParaRP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75FA65A1-6D54-4142-8AAD-C49CFE599422}"/>
              </a:ext>
            </a:extLst>
          </p:cNvPr>
          <p:cNvSpPr>
            <a:spLocks noGrp="1"/>
          </p:cNvSpPr>
          <p:nvPr/>
        </p:nvSpPr>
        <p:spPr>
          <a:xfrm flipV="1">
            <a:off x="847725" y="3209924"/>
            <a:ext cx="2857500" cy="7429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75" b="0" i="0">
                <a:solidFill>
                  <a:srgbClr val="111827"/>
                </a:solidFill>
              </a:defRPr>
            </a:pPr>
            <a:endParaRPr lang="en-US" sz="1875" b="0" i="0" dirty="0">
              <a:solidFill>
                <a:srgbClr val="111827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algn="ctr">
              <a:defRPr sz="1875" b="0" i="0">
                <a:solidFill>
                  <a:srgbClr val="111827"/>
                </a:solidFill>
              </a:defRPr>
            </a:pPr>
            <a:endParaRPr lang="en-US" sz="1875" dirty="0">
              <a:solidFill>
                <a:srgbClr val="111827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algn="ctr">
              <a:defRPr sz="1875" b="0" i="0">
                <a:solidFill>
                  <a:srgbClr val="111827"/>
                </a:solidFill>
              </a:defRPr>
            </a:pPr>
            <a:endParaRPr lang="en-US" sz="1875" b="0" i="0" dirty="0">
              <a:solidFill>
                <a:srgbClr val="111827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algn="ctr">
              <a:defRPr sz="1875" b="0" i="0">
                <a:solidFill>
                  <a:srgbClr val="111827"/>
                </a:solidFill>
              </a:defRPr>
            </a:pPr>
            <a:endParaRPr lang="en-US" sz="1875" dirty="0">
              <a:solidFill>
                <a:srgbClr val="111827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algn="ctr">
              <a:defRPr sz="1875" b="0" i="0">
                <a:solidFill>
                  <a:srgbClr val="111827"/>
                </a:solidFill>
              </a:defRPr>
            </a:pPr>
            <a:endParaRPr lang="en-US" sz="1875" b="0" i="0" dirty="0">
              <a:solidFill>
                <a:srgbClr val="111827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algn="ctr">
              <a:defRPr sz="1875" b="0" i="0">
                <a:solidFill>
                  <a:srgbClr val="111827"/>
                </a:solidFill>
              </a:defRPr>
            </a:pPr>
            <a:endParaRPr lang="en-US" sz="1875" dirty="0">
              <a:solidFill>
                <a:srgbClr val="111827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algn="ctr">
              <a:defRPr sz="1875" b="0" i="0">
                <a:solidFill>
                  <a:srgbClr val="111827"/>
                </a:solidFill>
              </a:defRPr>
            </a:pPr>
            <a:endParaRPr lang="en-US" sz="1875" b="0" i="0" dirty="0">
              <a:solidFill>
                <a:srgbClr val="111827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D87EB729-018E-42D6-B468-EC8B869C30E5}"/>
              </a:ext>
            </a:extLst>
          </p:cNvPr>
          <p:cNvSpPr>
            <a:spLocks noGrp="1"/>
          </p:cNvSpPr>
          <p:nvPr/>
        </p:nvSpPr>
        <p:spPr>
          <a:xfrm>
            <a:off x="4524375" y="6381750"/>
            <a:ext cx="2857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 i="0">
                <a:solidFill>
                  <a:srgbClr val="5F6B7A"/>
                </a:solidFill>
              </a:defRPr>
            </a:pPr>
            <a:endParaRPr sz="1425" b="1" i="0" dirty="0">
              <a:solidFill>
                <a:srgbClr val="5F6B7A"/>
              </a:solidFill>
            </a:endParaRP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969078DC-85D3-4EFD-BABC-EE6D198FDECB}"/>
              </a:ext>
            </a:extLst>
          </p:cNvPr>
          <p:cNvSpPr>
            <a:spLocks noGrp="1"/>
          </p:cNvSpPr>
          <p:nvPr/>
        </p:nvSpPr>
        <p:spPr>
          <a:xfrm flipV="1">
            <a:off x="8201025" y="3952874"/>
            <a:ext cx="2857500" cy="15615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 i="0">
                <a:solidFill>
                  <a:srgbClr val="5F6B7A"/>
                </a:solidFill>
              </a:defRPr>
            </a:pPr>
            <a:endParaRPr sz="1425" b="1" i="0" dirty="0">
              <a:solidFill>
                <a:srgbClr val="5F6B7A"/>
              </a:solidFill>
            </a:endParaRPr>
          </a:p>
        </p:txBody>
      </p:sp>
      <p:sp>
        <p:nvSpPr>
          <p:cNvPr id="15" name="key-finding">
            <a:extLst>
              <a:ext uri="{FF2B5EF4-FFF2-40B4-BE49-F238E27FC236}">
                <a16:creationId xmlns:a16="http://schemas.microsoft.com/office/drawing/2014/main" id="{95DA092B-2467-475E-AD7B-3F61A75B3747}"/>
              </a:ext>
            </a:extLst>
          </p:cNvPr>
          <p:cNvSpPr>
            <a:spLocks noGrp="1"/>
          </p:cNvSpPr>
          <p:nvPr/>
        </p:nvSpPr>
        <p:spPr>
          <a:xfrm>
            <a:off x="466725" y="5857047"/>
            <a:ext cx="10972800" cy="514350"/>
          </a:xfrm>
          <a:prstGeom prst="roundRect">
            <a:avLst>
              <a:gd name="adj" fmla="val 7407"/>
            </a:avLst>
          </a:prstGeom>
          <a:solidFill>
            <a:srgbClr val="EEF6FF"/>
          </a:solidFill>
          <a:ln w="0"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CBE67489-4DA7-4CC6-BD97-D45EA5DB8D5C}"/>
              </a:ext>
            </a:extLst>
          </p:cNvPr>
          <p:cNvSpPr>
            <a:spLocks noGrp="1"/>
          </p:cNvSpPr>
          <p:nvPr/>
        </p:nvSpPr>
        <p:spPr>
          <a:xfrm>
            <a:off x="528929" y="5933247"/>
            <a:ext cx="1290346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3B82F6"/>
                </a:solidFill>
              </a:defRPr>
            </a:pPr>
            <a:r>
              <a:rPr lang="en-US" sz="1350" b="1" i="0" dirty="0">
                <a:solidFill>
                  <a:srgbClr val="3B82F6"/>
                </a:solidFill>
              </a:rPr>
              <a:t>Coherent error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82C40666-3391-4BE6-9262-D35168541D78}"/>
              </a:ext>
            </a:extLst>
          </p:cNvPr>
          <p:cNvSpPr>
            <a:spLocks noGrp="1"/>
          </p:cNvSpPr>
          <p:nvPr/>
        </p:nvSpPr>
        <p:spPr>
          <a:xfrm>
            <a:off x="1819275" y="5933247"/>
            <a:ext cx="9239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111827"/>
                </a:solidFill>
              </a:defRPr>
            </a:pPr>
            <a:r>
              <a:rPr lang="en-US" sz="1350" b="0" i="0" dirty="0">
                <a:solidFill>
                  <a:srgbClr val="111827"/>
                </a:solidFill>
              </a:rPr>
              <a:t>θ controls the error magnitude, while a ∈ {x, y, z} specifies the rotation axis.</a:t>
            </a:r>
            <a:endParaRPr sz="1350" b="0" i="0" dirty="0">
              <a:solidFill>
                <a:srgbClr val="111827"/>
              </a:solidFill>
            </a:endParaRPr>
          </a:p>
        </p:txBody>
      </p:sp>
      <p:sp>
        <p:nvSpPr>
          <p:cNvPr id="18" name="page-number">
            <a:extLst>
              <a:ext uri="{FF2B5EF4-FFF2-40B4-BE49-F238E27FC236}">
                <a16:creationId xmlns:a16="http://schemas.microsoft.com/office/drawing/2014/main" id="{BEFD53C0-10F5-427B-BD80-49D767F96395}"/>
              </a:ext>
            </a:extLst>
          </p:cNvPr>
          <p:cNvSpPr>
            <a:spLocks noGrp="1"/>
          </p:cNvSpPr>
          <p:nvPr/>
        </p:nvSpPr>
        <p:spPr>
          <a:xfrm>
            <a:off x="11334750" y="64865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50" b="0" i="0">
                <a:solidFill>
                  <a:srgbClr val="5F6B7A"/>
                </a:solidFill>
              </a:defRPr>
            </a:pPr>
            <a:r>
              <a:rPr sz="750" b="0" i="0">
                <a:solidFill>
                  <a:srgbClr val="5F6B7A"/>
                </a:solidFill>
              </a:rPr>
              <a:t>09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1BF5F79-D9E7-487D-94A0-A4A1B5F206FD}"/>
                  </a:ext>
                </a:extLst>
              </p:cNvPr>
              <p:cNvSpPr txBox="1"/>
              <p:nvPr/>
            </p:nvSpPr>
            <p:spPr>
              <a:xfrm>
                <a:off x="936171" y="2172901"/>
                <a:ext cx="9262188" cy="714683"/>
              </a:xfrm>
              <a:prstGeom prst="rect">
                <a:avLst/>
              </a:prstGeom>
              <a:solidFill>
                <a:srgbClr val="EEF6FF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 smtClean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pt-BR" i="1" smtClean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d>
                            <m:dPr>
                              <m:ctrlPr>
                                <a:rPr lang="pt-BR" i="1" smtClean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 smtClean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sub>
                      </m:sSub>
                      <m:r>
                        <a:rPr lang="pt-BR" i="1" smtClean="0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i="1" smtClean="0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</a:rPr>
                        <m:t>𝑐𝑜𝑠</m:t>
                      </m:r>
                      <m:d>
                        <m:dPr>
                          <m:ctrlPr>
                            <a:rPr lang="pt-BR" i="1" smtClean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i="1" smtClean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i="1" smtClean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num>
                            <m:den>
                              <m:r>
                                <a:rPr lang="pt-BR" i="1" smtClean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t-BR" i="1" smtClean="0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i="1" smtClean="0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i="1" smtClean="0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</a:rPr>
                        <m:t>𝑖𝑠𝑖𝑛</m:t>
                      </m:r>
                      <m:d>
                        <m:dPr>
                          <m:ctrlPr>
                            <a:rPr lang="pt-BR" i="1" smtClean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i="1" smtClean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i="1" smtClean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num>
                            <m:den>
                              <m:r>
                                <a:rPr lang="pt-BR" i="1" smtClean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t-BR" i="1" smtClean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 smtClean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pt-BR" i="1" smtClean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pt-BR" i="1" smtClean="0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</a:rPr>
                        <m:t>,    </m:t>
                      </m:r>
                      <m:r>
                        <a:rPr lang="pt-BR" i="1" smtClean="0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i="1" smtClean="0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pt-BR" i="1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i="1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i="1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pt-BR" i="1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i="1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l-GR" i="1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l-GR" i="1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l-GR" i="1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i="1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l-GR" i="1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</a:rPr>
                        <m:t>,    </m:t>
                      </m:r>
                      <m:r>
                        <a:rPr lang="el-GR" i="1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l-GR" i="1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l-GR" i="1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i="1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l-GR" i="1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</a:rPr>
                        <m:t>,    </m:t>
                      </m:r>
                      <m:r>
                        <a:rPr lang="el-GR" i="1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l-GR" i="1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l-GR" i="1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i="1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en-US" dirty="0">
                  <a:solidFill>
                    <a:srgbClr val="111827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1BF5F79-D9E7-487D-94A0-A4A1B5F206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171" y="2172901"/>
                <a:ext cx="9262188" cy="7146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E7C90C0-C7E1-47AD-9A8A-09E3847B3798}"/>
                  </a:ext>
                </a:extLst>
              </p:cNvPr>
              <p:cNvSpPr txBox="1"/>
              <p:nvPr/>
            </p:nvSpPr>
            <p:spPr>
              <a:xfrm>
                <a:off x="178253" y="3476625"/>
                <a:ext cx="3657600" cy="2099677"/>
              </a:xfrm>
              <a:prstGeom prst="rect">
                <a:avLst/>
              </a:prstGeom>
              <a:solidFill>
                <a:srgbClr val="EEF6FF"/>
              </a:solidFill>
            </p:spPr>
            <p:txBody>
              <a:bodyPr wrap="square" rtlCol="0">
                <a:spAutoFit/>
              </a:bodyPr>
              <a:lstStyle/>
              <a:p>
                <a:endParaRPr lang="en-US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l-GR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sub>
                      </m:sSub>
                      <m:r>
                        <a:rPr lang="el-GR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l-GR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l-GR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num>
                                <m:den>
                                  <m:r>
                                    <a:rPr lang="el-GR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 dirty="0" err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func>
                        <m:funcPr>
                          <m:ctrlPr>
                            <a:rPr lang="en-US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l-GR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l-GR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num>
                                <m:den>
                                  <m:r>
                                    <a:rPr lang="el-GR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i="1" dirty="0">
                  <a:solidFill>
                    <a:srgbClr val="000000"/>
                  </a:solidFill>
                </a:endParaRPr>
              </a:p>
              <a:p>
                <a:endParaRPr lang="en-US" i="1" dirty="0">
                  <a:solidFill>
                    <a:srgbClr val="000000"/>
                  </a:solidFill>
                </a:endParaRPr>
              </a:p>
              <a:p>
                <a:endParaRPr lang="en-US" dirty="0">
                  <a:solidFill>
                    <a:srgbClr val="000000"/>
                  </a:solidFill>
                </a:endParaRPr>
              </a:p>
              <a:p>
                <a:r>
                  <a:rPr lang="en-US" dirty="0">
                    <a:solidFill>
                      <a:srgbClr val="000000"/>
                    </a:solidFill>
                  </a:rPr>
                  <a:t>X-axis rotation</a:t>
                </a:r>
              </a:p>
              <a:p>
                <a:endParaRPr lang="en-US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E7C90C0-C7E1-47AD-9A8A-09E3847B37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253" y="3476625"/>
                <a:ext cx="3657600" cy="2099677"/>
              </a:xfrm>
              <a:prstGeom prst="rect">
                <a:avLst/>
              </a:prstGeom>
              <a:blipFill>
                <a:blip r:embed="rId4"/>
                <a:stretch>
                  <a:fillRect l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AA36A86-8780-43D0-9664-A9492A9BBE0F}"/>
                  </a:ext>
                </a:extLst>
              </p:cNvPr>
              <p:cNvSpPr txBox="1"/>
              <p:nvPr/>
            </p:nvSpPr>
            <p:spPr>
              <a:xfrm>
                <a:off x="4208106" y="3476624"/>
                <a:ext cx="3657600" cy="2099677"/>
              </a:xfrm>
              <a:prstGeom prst="rect">
                <a:avLst/>
              </a:prstGeom>
              <a:solidFill>
                <a:srgbClr val="EEF6FF"/>
              </a:solidFill>
            </p:spPr>
            <p:txBody>
              <a:bodyPr wrap="square" rtlCol="0">
                <a:spAutoFit/>
              </a:bodyPr>
              <a:lstStyle/>
              <a:p>
                <a:endParaRPr lang="es-ES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s-ES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es-ES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sub>
                      </m:sSub>
                      <m:r>
                        <a:rPr lang="es-ES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s-ES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ES" i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s-ES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ES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ES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num>
                                <m:den>
                                  <m:r>
                                    <a:rPr lang="es-ES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s-ES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s-ES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func>
                        <m:funcPr>
                          <m:ctrlPr>
                            <a:rPr lang="es-ES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ES" i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s-ES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ES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ES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num>
                                <m:den>
                                  <m:r>
                                    <a:rPr lang="es-ES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s-ES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dirty="0">
                  <a:solidFill>
                    <a:srgbClr val="000000"/>
                  </a:solidFill>
                </a:endParaRPr>
              </a:p>
              <a:p>
                <a:endParaRPr lang="en-US" dirty="0">
                  <a:solidFill>
                    <a:srgbClr val="000000"/>
                  </a:solidFill>
                </a:endParaRPr>
              </a:p>
              <a:p>
                <a:endParaRPr lang="en-US" dirty="0">
                  <a:solidFill>
                    <a:srgbClr val="000000"/>
                  </a:solidFill>
                </a:endParaRPr>
              </a:p>
              <a:p>
                <a:r>
                  <a:rPr lang="en-US" dirty="0">
                    <a:solidFill>
                      <a:srgbClr val="000000"/>
                    </a:solidFill>
                  </a:rPr>
                  <a:t>Y-axis rotation</a:t>
                </a:r>
              </a:p>
              <a:p>
                <a:endParaRPr lang="en-US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AA36A86-8780-43D0-9664-A9492A9BB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8106" y="3476624"/>
                <a:ext cx="3657600" cy="2099677"/>
              </a:xfrm>
              <a:prstGeom prst="rect">
                <a:avLst/>
              </a:prstGeom>
              <a:blipFill>
                <a:blip r:embed="rId5"/>
                <a:stretch>
                  <a:fillRect l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BDC4AB7-0159-4593-9A3A-CD895E01195A}"/>
                  </a:ext>
                </a:extLst>
              </p:cNvPr>
              <p:cNvSpPr txBox="1"/>
              <p:nvPr/>
            </p:nvSpPr>
            <p:spPr>
              <a:xfrm>
                <a:off x="8356147" y="3411271"/>
                <a:ext cx="3657600" cy="2099677"/>
              </a:xfrm>
              <a:prstGeom prst="rect">
                <a:avLst/>
              </a:prstGeom>
              <a:solidFill>
                <a:srgbClr val="EEF6FF"/>
              </a:solidFill>
            </p:spPr>
            <p:txBody>
              <a:bodyPr wrap="square" rtlCol="0">
                <a:spAutoFit/>
              </a:bodyPr>
              <a:lstStyle/>
              <a:p>
                <a:endParaRPr lang="en-US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pl-PL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d>
                            <m:dPr>
                              <m:ctrlPr>
                                <a:rPr lang="pl-PL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l-PL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sub>
                      </m:sSub>
                      <m:r>
                        <a:rPr lang="pl-PL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pl-PL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l-PL" i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pl-PL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pl-PL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num>
                                <m:den>
                                  <m:r>
                                    <a:rPr lang="pl-PL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pl-PL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pl-PL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l-PL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func>
                        <m:funcPr>
                          <m:ctrlPr>
                            <a:rPr lang="pl-PL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l-PL" i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pl-PL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pl-PL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num>
                                <m:den>
                                  <m:r>
                                    <a:rPr lang="pl-PL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pl-PL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en-US" dirty="0">
                  <a:solidFill>
                    <a:srgbClr val="000000"/>
                  </a:solidFill>
                </a:endParaRPr>
              </a:p>
              <a:p>
                <a:endParaRPr lang="en-US" dirty="0">
                  <a:solidFill>
                    <a:srgbClr val="000000"/>
                  </a:solidFill>
                </a:endParaRPr>
              </a:p>
              <a:p>
                <a:endParaRPr lang="en-US" dirty="0">
                  <a:solidFill>
                    <a:srgbClr val="000000"/>
                  </a:solidFill>
                </a:endParaRPr>
              </a:p>
              <a:p>
                <a:r>
                  <a:rPr lang="en-US" dirty="0">
                    <a:solidFill>
                      <a:srgbClr val="000000"/>
                    </a:solidFill>
                  </a:rPr>
                  <a:t>Z-axis rotation</a:t>
                </a:r>
              </a:p>
              <a:p>
                <a:endParaRPr lang="en-US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BDC4AB7-0159-4593-9A3A-CD895E0119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6147" y="3411271"/>
                <a:ext cx="3657600" cy="2099677"/>
              </a:xfrm>
              <a:prstGeom prst="rect">
                <a:avLst/>
              </a:prstGeom>
              <a:blipFill>
                <a:blip r:embed="rId6"/>
                <a:stretch>
                  <a:fillRect l="-1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4141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kicker">
            <a:extLst>
              <a:ext uri="{FF2B5EF4-FFF2-40B4-BE49-F238E27FC236}">
                <a16:creationId xmlns:a16="http://schemas.microsoft.com/office/drawing/2014/main" id="{8F0D5B02-D902-4974-AD77-7699C9992E1E}"/>
              </a:ext>
            </a:extLst>
          </p:cNvPr>
          <p:cNvSpPr>
            <a:spLocks noGrp="1"/>
          </p:cNvSpPr>
          <p:nvPr/>
        </p:nvSpPr>
        <p:spPr>
          <a:xfrm>
            <a:off x="609600" y="387625"/>
            <a:ext cx="5715000" cy="6062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 i="0">
                <a:solidFill>
                  <a:srgbClr val="3B82F6"/>
                </a:solidFill>
              </a:defRPr>
            </a:pPr>
            <a:r>
              <a:rPr lang="en-US" sz="4000" b="1" i="0" dirty="0">
                <a:solidFill>
                  <a:srgbClr val="111827"/>
                </a:solidFill>
              </a:rPr>
              <a:t>Error Modal</a:t>
            </a:r>
            <a:endParaRPr sz="4000" b="1" i="0" dirty="0">
              <a:solidFill>
                <a:srgbClr val="111827"/>
              </a:solidFill>
            </a:endParaRP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25E55FB3-B33E-4C37-BE20-544B73DF27ED}"/>
              </a:ext>
            </a:extLst>
          </p:cNvPr>
          <p:cNvSpPr>
            <a:spLocks noGrp="1"/>
          </p:cNvSpPr>
          <p:nvPr/>
        </p:nvSpPr>
        <p:spPr>
          <a:xfrm>
            <a:off x="1333500" y="5514975"/>
            <a:ext cx="1714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 i="0">
                <a:solidFill>
                  <a:srgbClr val="111827"/>
                </a:solidFill>
              </a:defRPr>
            </a:pPr>
            <a:endParaRPr sz="1275" b="1" i="0" dirty="0">
              <a:solidFill>
                <a:srgbClr val="111827"/>
              </a:solidFill>
            </a:endParaRP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535A4A97-5098-4935-89FF-CBBF0DE8CC56}"/>
              </a:ext>
            </a:extLst>
          </p:cNvPr>
          <p:cNvSpPr>
            <a:spLocks noGrp="1"/>
          </p:cNvSpPr>
          <p:nvPr/>
        </p:nvSpPr>
        <p:spPr>
          <a:xfrm>
            <a:off x="3609975" y="5514975"/>
            <a:ext cx="5238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 i="0">
                <a:solidFill>
                  <a:srgbClr val="3B82F6"/>
                </a:solidFill>
              </a:defRPr>
            </a:pPr>
            <a:endParaRPr sz="1500" b="1" i="0" dirty="0">
              <a:solidFill>
                <a:srgbClr val="3B82F6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8CF82C51-4ED4-4F73-83C0-C834DEAD6175}"/>
              </a:ext>
            </a:extLst>
          </p:cNvPr>
          <p:cNvSpPr>
            <a:spLocks noGrp="1"/>
          </p:cNvSpPr>
          <p:nvPr/>
        </p:nvSpPr>
        <p:spPr>
          <a:xfrm>
            <a:off x="4152900" y="5514975"/>
            <a:ext cx="1714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 i="0">
                <a:solidFill>
                  <a:srgbClr val="111827"/>
                </a:solidFill>
              </a:defRPr>
            </a:pPr>
            <a:endParaRPr sz="1275" b="1" i="0" dirty="0">
              <a:solidFill>
                <a:srgbClr val="111827"/>
              </a:solidFill>
            </a:endParaRP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B1386F11-5D53-4419-A211-E4D1EF3C6808}"/>
              </a:ext>
            </a:extLst>
          </p:cNvPr>
          <p:cNvSpPr>
            <a:spLocks noGrp="1"/>
          </p:cNvSpPr>
          <p:nvPr/>
        </p:nvSpPr>
        <p:spPr>
          <a:xfrm>
            <a:off x="6410325" y="5514975"/>
            <a:ext cx="5238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 i="0">
                <a:solidFill>
                  <a:srgbClr val="3B82F6"/>
                </a:solidFill>
              </a:defRPr>
            </a:pPr>
            <a:endParaRPr sz="1500" b="1" i="0" dirty="0">
              <a:solidFill>
                <a:srgbClr val="3B82F6"/>
              </a:solidFill>
            </a:endParaRP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476E608C-F623-4B1F-83CA-00F43B802C66}"/>
              </a:ext>
            </a:extLst>
          </p:cNvPr>
          <p:cNvSpPr>
            <a:spLocks noGrp="1"/>
          </p:cNvSpPr>
          <p:nvPr/>
        </p:nvSpPr>
        <p:spPr>
          <a:xfrm>
            <a:off x="6953250" y="5514975"/>
            <a:ext cx="1714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 i="0">
                <a:solidFill>
                  <a:srgbClr val="111827"/>
                </a:solidFill>
              </a:defRPr>
            </a:pPr>
            <a:endParaRPr sz="1275" b="1" i="0" dirty="0">
              <a:solidFill>
                <a:srgbClr val="111827"/>
              </a:solidFill>
            </a:endParaRP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F421F02E-DC5B-4D25-8E4D-63B09E29034D}"/>
              </a:ext>
            </a:extLst>
          </p:cNvPr>
          <p:cNvSpPr>
            <a:spLocks noGrp="1"/>
          </p:cNvSpPr>
          <p:nvPr/>
        </p:nvSpPr>
        <p:spPr>
          <a:xfrm>
            <a:off x="9210675" y="5514975"/>
            <a:ext cx="5238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 i="0">
                <a:solidFill>
                  <a:srgbClr val="3B82F6"/>
                </a:solidFill>
              </a:defRPr>
            </a:pPr>
            <a:endParaRPr sz="1500" b="1" i="0" dirty="0">
              <a:solidFill>
                <a:srgbClr val="3B82F6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6" name="page-number">
            <a:extLst>
              <a:ext uri="{FF2B5EF4-FFF2-40B4-BE49-F238E27FC236}">
                <a16:creationId xmlns:a16="http://schemas.microsoft.com/office/drawing/2014/main" id="{981D165F-57EE-451A-B416-9AED9150D5A1}"/>
              </a:ext>
            </a:extLst>
          </p:cNvPr>
          <p:cNvSpPr>
            <a:spLocks noGrp="1"/>
          </p:cNvSpPr>
          <p:nvPr/>
        </p:nvSpPr>
        <p:spPr>
          <a:xfrm>
            <a:off x="11334750" y="64865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50" b="0" i="0">
                <a:solidFill>
                  <a:srgbClr val="5F6B7A"/>
                </a:solidFill>
              </a:defRPr>
            </a:pPr>
            <a:r>
              <a:rPr sz="750" b="0" i="0">
                <a:solidFill>
                  <a:srgbClr val="5F6B7A"/>
                </a:solidFill>
              </a:rPr>
              <a:t>10</a:t>
            </a:r>
          </a:p>
        </p:txBody>
      </p:sp>
      <p:pic>
        <p:nvPicPr>
          <p:cNvPr id="18" name="Content Placeholder 8">
            <a:extLst>
              <a:ext uri="{FF2B5EF4-FFF2-40B4-BE49-F238E27FC236}">
                <a16:creationId xmlns:a16="http://schemas.microsoft.com/office/drawing/2014/main" id="{954CA735-DFF0-4477-91FE-89623C8950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879" y="1390262"/>
            <a:ext cx="10425268" cy="419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3251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kicker">
            <a:extLst>
              <a:ext uri="{FF2B5EF4-FFF2-40B4-BE49-F238E27FC236}">
                <a16:creationId xmlns:a16="http://schemas.microsoft.com/office/drawing/2014/main" id="{1F000F21-E27C-4F80-8B7F-5A2A3D40BE65}"/>
              </a:ext>
            </a:extLst>
          </p:cNvPr>
          <p:cNvSpPr>
            <a:spLocks noGrp="1"/>
          </p:cNvSpPr>
          <p:nvPr/>
        </p:nvSpPr>
        <p:spPr>
          <a:xfrm>
            <a:off x="609600" y="333374"/>
            <a:ext cx="5715000" cy="4952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 i="0">
                <a:solidFill>
                  <a:srgbClr val="3B82F6"/>
                </a:solidFill>
              </a:defRPr>
            </a:pPr>
            <a:r>
              <a:rPr lang="en-US" sz="4000" dirty="0">
                <a:solidFill>
                  <a:srgbClr val="111827"/>
                </a:solidFill>
              </a:rPr>
              <a:t>Simulation Methodology</a:t>
            </a:r>
            <a:endParaRPr sz="4000" b="1" i="0" dirty="0">
              <a:solidFill>
                <a:srgbClr val="111827"/>
              </a:solidFill>
            </a:endParaRP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6417B6BB-5992-401E-91AC-FB6A954EE3C6}"/>
              </a:ext>
            </a:extLst>
          </p:cNvPr>
          <p:cNvSpPr>
            <a:spLocks noGrp="1"/>
          </p:cNvSpPr>
          <p:nvPr/>
        </p:nvSpPr>
        <p:spPr>
          <a:xfrm>
            <a:off x="609600" y="4371976"/>
            <a:ext cx="10953749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0" i="0">
                <a:solidFill>
                  <a:srgbClr val="111827"/>
                </a:solidFill>
              </a:defRPr>
            </a:pPr>
            <a:endParaRPr lang="en-US" sz="2850" b="0" i="0" dirty="0">
              <a:solidFill>
                <a:srgbClr val="111827"/>
              </a:solidFill>
            </a:endParaRPr>
          </a:p>
        </p:txBody>
      </p:sp>
      <p:sp>
        <p:nvSpPr>
          <p:cNvPr id="3" name="shape">
            <a:extLst>
              <a:ext uri="{FF2B5EF4-FFF2-40B4-BE49-F238E27FC236}">
                <a16:creationId xmlns:a16="http://schemas.microsoft.com/office/drawing/2014/main" id="{DADAA71B-D0D5-4363-A274-522768B9B4E1}"/>
              </a:ext>
            </a:extLst>
          </p:cNvPr>
          <p:cNvSpPr>
            <a:spLocks noGrp="1"/>
          </p:cNvSpPr>
          <p:nvPr/>
        </p:nvSpPr>
        <p:spPr>
          <a:xfrm>
            <a:off x="609600" y="1762126"/>
            <a:ext cx="5238750" cy="2266948"/>
          </a:xfrm>
          <a:prstGeom prst="roundRect">
            <a:avLst>
              <a:gd name="adj" fmla="val 1975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4" name="shape">
            <a:extLst>
              <a:ext uri="{FF2B5EF4-FFF2-40B4-BE49-F238E27FC236}">
                <a16:creationId xmlns:a16="http://schemas.microsoft.com/office/drawing/2014/main" id="{9B8EBA63-BB41-42F6-B6D3-BE1D87D9A0A6}"/>
              </a:ext>
            </a:extLst>
          </p:cNvPr>
          <p:cNvSpPr>
            <a:spLocks noGrp="1"/>
          </p:cNvSpPr>
          <p:nvPr/>
        </p:nvSpPr>
        <p:spPr>
          <a:xfrm>
            <a:off x="6076950" y="1790700"/>
            <a:ext cx="5505450" cy="2238374"/>
          </a:xfrm>
          <a:prstGeom prst="roundRect">
            <a:avLst>
              <a:gd name="adj" fmla="val 1975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C79C920F-7A75-4BCE-B7D7-166AD4290D73}"/>
              </a:ext>
            </a:extLst>
          </p:cNvPr>
          <p:cNvSpPr>
            <a:spLocks noGrp="1"/>
          </p:cNvSpPr>
          <p:nvPr/>
        </p:nvSpPr>
        <p:spPr>
          <a:xfrm>
            <a:off x="838200" y="1762125"/>
            <a:ext cx="476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Error implementation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09DF05F4-0D5B-4668-AB61-5D8AE7FB4525}"/>
              </a:ext>
            </a:extLst>
          </p:cNvPr>
          <p:cNvSpPr>
            <a:spLocks noGrp="1"/>
          </p:cNvSpPr>
          <p:nvPr/>
        </p:nvSpPr>
        <p:spPr>
          <a:xfrm>
            <a:off x="838200" y="2286000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 i="0">
                <a:solidFill>
                  <a:srgbClr val="3B82F6"/>
                </a:solidFill>
              </a:defRPr>
            </a:pPr>
            <a:r>
              <a:rPr sz="1500" b="1" i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8A7F7571-2753-401F-84D5-0A8EA10DE3D1}"/>
              </a:ext>
            </a:extLst>
          </p:cNvPr>
          <p:cNvSpPr>
            <a:spLocks noGrp="1"/>
          </p:cNvSpPr>
          <p:nvPr/>
        </p:nvSpPr>
        <p:spPr>
          <a:xfrm>
            <a:off x="1104900" y="2286000"/>
            <a:ext cx="4495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 i="0">
                <a:solidFill>
                  <a:srgbClr val="111827"/>
                </a:solidFill>
              </a:defRPr>
            </a:pPr>
            <a:r>
              <a:rPr sz="1500" b="0" i="0" dirty="0">
                <a:solidFill>
                  <a:srgbClr val="111827"/>
                </a:solidFill>
              </a:rPr>
              <a:t>Apply one localized rotation to one selected data qubit.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F134BB09-4DAB-4A3B-8785-181B982A1507}"/>
              </a:ext>
            </a:extLst>
          </p:cNvPr>
          <p:cNvSpPr>
            <a:spLocks noGrp="1"/>
          </p:cNvSpPr>
          <p:nvPr/>
        </p:nvSpPr>
        <p:spPr>
          <a:xfrm>
            <a:off x="838200" y="2876550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 i="0">
                <a:solidFill>
                  <a:srgbClr val="3B82F6"/>
                </a:solidFill>
              </a:defRPr>
            </a:pPr>
            <a:r>
              <a:rPr sz="1500" b="1" i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24A3109C-2918-4B1A-A482-BF8B95A65FC2}"/>
              </a:ext>
            </a:extLst>
          </p:cNvPr>
          <p:cNvSpPr>
            <a:spLocks noGrp="1"/>
          </p:cNvSpPr>
          <p:nvPr/>
        </p:nvSpPr>
        <p:spPr>
          <a:xfrm>
            <a:off x="1104900" y="2876550"/>
            <a:ext cx="4495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 i="0">
                <a:solidFill>
                  <a:srgbClr val="111827"/>
                </a:solidFill>
              </a:defRPr>
            </a:pPr>
            <a:r>
              <a:rPr sz="1500" b="0" i="0" dirty="0">
                <a:solidFill>
                  <a:srgbClr val="111827"/>
                </a:solidFill>
              </a:rPr>
              <a:t>Test </a:t>
            </a:r>
            <a:r>
              <a:rPr sz="1500" b="0" i="0" dirty="0">
                <a:solidFill>
                  <a:srgbClr val="11182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Rₓ(θ), Rᵧ(θ), and Rz(θ</a:t>
            </a:r>
            <a:r>
              <a:rPr sz="1500" b="0" i="0" dirty="0">
                <a:solidFill>
                  <a:srgbClr val="111827"/>
                </a:solidFill>
              </a:rPr>
              <a:t>) separately.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A97C2411-0E6B-41D5-A120-36F3C4ED1994}"/>
              </a:ext>
            </a:extLst>
          </p:cNvPr>
          <p:cNvSpPr>
            <a:spLocks noGrp="1"/>
          </p:cNvSpPr>
          <p:nvPr/>
        </p:nvSpPr>
        <p:spPr>
          <a:xfrm>
            <a:off x="838200" y="3467100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 i="0">
                <a:solidFill>
                  <a:srgbClr val="3B82F6"/>
                </a:solidFill>
              </a:defRPr>
            </a:pPr>
            <a:r>
              <a:rPr sz="1500" b="1" i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074F3B1A-29D4-4339-B84E-0B9D5EA5A12A}"/>
              </a:ext>
            </a:extLst>
          </p:cNvPr>
          <p:cNvSpPr>
            <a:spLocks noGrp="1"/>
          </p:cNvSpPr>
          <p:nvPr/>
        </p:nvSpPr>
        <p:spPr>
          <a:xfrm>
            <a:off x="1104900" y="3467100"/>
            <a:ext cx="4495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 i="0">
                <a:solidFill>
                  <a:srgbClr val="111827"/>
                </a:solidFill>
              </a:defRPr>
            </a:pPr>
            <a:r>
              <a:rPr sz="1500" b="0" i="0" dirty="0">
                <a:solidFill>
                  <a:srgbClr val="111827"/>
                </a:solidFill>
              </a:rPr>
              <a:t>Repeat independently at </a:t>
            </a:r>
            <a:r>
              <a:rPr sz="1500" b="0" i="0" dirty="0">
                <a:solidFill>
                  <a:srgbClr val="11182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E₁, E₂, E₃, and E₄.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AA578119-632F-4F3F-8B00-6D5FF23B93AE}"/>
              </a:ext>
            </a:extLst>
          </p:cNvPr>
          <p:cNvSpPr>
            <a:spLocks noGrp="1"/>
          </p:cNvSpPr>
          <p:nvPr/>
        </p:nvSpPr>
        <p:spPr>
          <a:xfrm>
            <a:off x="6305550" y="1762125"/>
            <a:ext cx="495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Simulation parameters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64A797CB-2C29-4D45-BAA6-323EAD76160F}"/>
              </a:ext>
            </a:extLst>
          </p:cNvPr>
          <p:cNvSpPr>
            <a:spLocks noGrp="1"/>
          </p:cNvSpPr>
          <p:nvPr/>
        </p:nvSpPr>
        <p:spPr>
          <a:xfrm>
            <a:off x="6305550" y="2286000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 i="0">
                <a:solidFill>
                  <a:srgbClr val="3B82F6"/>
                </a:solidFill>
              </a:defRPr>
            </a:pPr>
            <a:r>
              <a:rPr sz="1500" b="1" i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DAC5E96B-EE36-493F-87F1-FB66A39652F5}"/>
              </a:ext>
            </a:extLst>
          </p:cNvPr>
          <p:cNvSpPr>
            <a:spLocks noGrp="1"/>
          </p:cNvSpPr>
          <p:nvPr/>
        </p:nvSpPr>
        <p:spPr>
          <a:xfrm>
            <a:off x="6572250" y="2286000"/>
            <a:ext cx="4686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 i="0">
                <a:solidFill>
                  <a:srgbClr val="111827"/>
                </a:solidFill>
              </a:defRPr>
            </a:pPr>
            <a:r>
              <a:rPr sz="1500" b="0" i="0" dirty="0">
                <a:solidFill>
                  <a:srgbClr val="111827"/>
                </a:solidFill>
              </a:rPr>
              <a:t>Input qubits: </a:t>
            </a:r>
            <a:r>
              <a:rPr sz="1500" b="0" i="0" dirty="0">
                <a:solidFill>
                  <a:srgbClr val="11182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 </a:t>
            </a:r>
            <a:r>
              <a:rPr lang="en-US" sz="1500" dirty="0">
                <a:solidFill>
                  <a:srgbClr val="11182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sz="1500" b="0" i="0" dirty="0">
                <a:solidFill>
                  <a:srgbClr val="11182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9; target q=</a:t>
            </a:r>
            <a:r>
              <a:rPr lang="en-US" sz="1500" dirty="0">
                <a:solidFill>
                  <a:srgbClr val="11182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4</a:t>
            </a:r>
            <a:r>
              <a:rPr sz="1500" b="0" i="0" dirty="0">
                <a:solidFill>
                  <a:srgbClr val="11182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10C6318E-E4A2-441D-9621-9F028E0F3D3F}"/>
              </a:ext>
            </a:extLst>
          </p:cNvPr>
          <p:cNvSpPr>
            <a:spLocks noGrp="1"/>
          </p:cNvSpPr>
          <p:nvPr/>
        </p:nvSpPr>
        <p:spPr>
          <a:xfrm>
            <a:off x="6305550" y="2876550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 i="0">
                <a:solidFill>
                  <a:srgbClr val="3B82F6"/>
                </a:solidFill>
              </a:defRPr>
            </a:pPr>
            <a:r>
              <a:rPr sz="1500" b="1" i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3F71FD36-F28E-4B15-8F78-FBFCBAFAE4D8}"/>
              </a:ext>
            </a:extLst>
          </p:cNvPr>
          <p:cNvSpPr>
            <a:spLocks noGrp="1"/>
          </p:cNvSpPr>
          <p:nvPr/>
        </p:nvSpPr>
        <p:spPr>
          <a:xfrm>
            <a:off x="6572250" y="2876550"/>
            <a:ext cx="4686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 i="0">
                <a:solidFill>
                  <a:srgbClr val="111827"/>
                </a:solidFill>
              </a:defRPr>
            </a:pPr>
            <a:r>
              <a:rPr sz="1500" b="0" i="0" dirty="0">
                <a:solidFill>
                  <a:srgbClr val="111827"/>
                </a:solidFill>
              </a:rPr>
              <a:t>Angle: </a:t>
            </a:r>
            <a:r>
              <a:rPr sz="1500" b="0" i="0" dirty="0">
                <a:solidFill>
                  <a:srgbClr val="11182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0°–180° in </a:t>
            </a:r>
            <a:r>
              <a:rPr lang="en-US" sz="1500" dirty="0">
                <a:solidFill>
                  <a:srgbClr val="11182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20</a:t>
            </a:r>
            <a:r>
              <a:rPr sz="1500" b="0" i="0" dirty="0">
                <a:solidFill>
                  <a:srgbClr val="11182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° </a:t>
            </a:r>
            <a:r>
              <a:rPr sz="1500" b="0" i="0" dirty="0">
                <a:solidFill>
                  <a:srgbClr val="111827"/>
                </a:solidFill>
              </a:rPr>
              <a:t>increments.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5E963547-3E6A-41D1-94F7-33D8310B77A7}"/>
              </a:ext>
            </a:extLst>
          </p:cNvPr>
          <p:cNvSpPr>
            <a:spLocks noGrp="1"/>
          </p:cNvSpPr>
          <p:nvPr/>
        </p:nvSpPr>
        <p:spPr>
          <a:xfrm>
            <a:off x="6305550" y="3467100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 i="0">
                <a:solidFill>
                  <a:srgbClr val="3B82F6"/>
                </a:solidFill>
              </a:defRPr>
            </a:pPr>
            <a:r>
              <a:rPr sz="1500" b="1" i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FE075A90-13EE-450E-A787-376A241CB2DD}"/>
              </a:ext>
            </a:extLst>
          </p:cNvPr>
          <p:cNvSpPr>
            <a:spLocks noGrp="1"/>
          </p:cNvSpPr>
          <p:nvPr/>
        </p:nvSpPr>
        <p:spPr>
          <a:xfrm>
            <a:off x="6572250" y="3467100"/>
            <a:ext cx="4686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 i="0">
                <a:solidFill>
                  <a:srgbClr val="111827"/>
                </a:solidFill>
              </a:defRPr>
            </a:pPr>
            <a:r>
              <a:rPr sz="1500" b="0" i="0" dirty="0">
                <a:solidFill>
                  <a:srgbClr val="11182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1024</a:t>
            </a:r>
            <a:r>
              <a:rPr sz="1500" b="0" i="0" dirty="0">
                <a:solidFill>
                  <a:srgbClr val="111827"/>
                </a:solidFill>
              </a:rPr>
              <a:t> measurement shots per circuit execution.</a:t>
            </a:r>
          </a:p>
        </p:txBody>
      </p:sp>
      <p:sp>
        <p:nvSpPr>
          <p:cNvPr id="19" name="key-finding">
            <a:extLst>
              <a:ext uri="{FF2B5EF4-FFF2-40B4-BE49-F238E27FC236}">
                <a16:creationId xmlns:a16="http://schemas.microsoft.com/office/drawing/2014/main" id="{D48C31F1-246D-430D-9EED-9FE95B1C00B8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972800" cy="514350"/>
          </a:xfrm>
          <a:prstGeom prst="roundRect">
            <a:avLst>
              <a:gd name="adj" fmla="val 7407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558E6C75-8E9C-4C3F-BC48-507F5CFD46FA}"/>
              </a:ext>
            </a:extLst>
          </p:cNvPr>
          <p:cNvSpPr>
            <a:spLocks noGrp="1"/>
          </p:cNvSpPr>
          <p:nvPr/>
        </p:nvSpPr>
        <p:spPr>
          <a:xfrm>
            <a:off x="781050" y="5848350"/>
            <a:ext cx="142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3B82F6"/>
                </a:solidFill>
              </a:defRPr>
            </a:pPr>
            <a:r>
              <a:rPr sz="1350" b="1" i="0">
                <a:solidFill>
                  <a:srgbClr val="3B82F6"/>
                </a:solidFill>
              </a:rPr>
              <a:t>Environment</a:t>
            </a:r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BE6DA33A-FA24-4BA6-BD50-7E15A4EE4114}"/>
              </a:ext>
            </a:extLst>
          </p:cNvPr>
          <p:cNvSpPr>
            <a:spLocks noGrp="1"/>
          </p:cNvSpPr>
          <p:nvPr/>
        </p:nvSpPr>
        <p:spPr>
          <a:xfrm>
            <a:off x="2047875" y="5848350"/>
            <a:ext cx="9239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>
                <a:solidFill>
                  <a:srgbClr val="111827"/>
                </a:solidFill>
              </a:rPr>
              <a:t>Python • NumPy • SciPy • Matplotlib • JupyterLab • Git</a:t>
            </a:r>
          </a:p>
        </p:txBody>
      </p:sp>
      <p:sp>
        <p:nvSpPr>
          <p:cNvPr id="22" name="page-number">
            <a:extLst>
              <a:ext uri="{FF2B5EF4-FFF2-40B4-BE49-F238E27FC236}">
                <a16:creationId xmlns:a16="http://schemas.microsoft.com/office/drawing/2014/main" id="{2A809E55-616F-4544-8026-3B27DA682960}"/>
              </a:ext>
            </a:extLst>
          </p:cNvPr>
          <p:cNvSpPr>
            <a:spLocks noGrp="1"/>
          </p:cNvSpPr>
          <p:nvPr/>
        </p:nvSpPr>
        <p:spPr>
          <a:xfrm>
            <a:off x="11334750" y="64865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50" b="0" i="0">
                <a:solidFill>
                  <a:srgbClr val="5F6B7A"/>
                </a:solidFill>
              </a:defRPr>
            </a:pPr>
            <a:r>
              <a:rPr sz="750" b="0" i="0">
                <a:solidFill>
                  <a:srgbClr val="5F6B7A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454141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">
            <a:extLst>
              <a:ext uri="{FF2B5EF4-FFF2-40B4-BE49-F238E27FC236}">
                <a16:creationId xmlns:a16="http://schemas.microsoft.com/office/drawing/2014/main" id="{C8750C3D-E0BB-448D-92B8-BFC13AF567C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6FF"/>
          </a:solidFill>
          <a:ln w="0"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61CD38B7-0AA2-4E7D-921E-50308D3CCEDB}"/>
              </a:ext>
            </a:extLst>
          </p:cNvPr>
          <p:cNvSpPr>
            <a:spLocks noGrp="1"/>
          </p:cNvSpPr>
          <p:nvPr/>
        </p:nvSpPr>
        <p:spPr>
          <a:xfrm>
            <a:off x="685800" y="904874"/>
            <a:ext cx="7086600" cy="89410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 i="0">
                <a:solidFill>
                  <a:srgbClr val="3B82F6"/>
                </a:solidFill>
              </a:defRPr>
            </a:pPr>
            <a:r>
              <a:rPr lang="en-US" sz="4000" dirty="0">
                <a:solidFill>
                  <a:srgbClr val="111827"/>
                </a:solidFill>
              </a:rPr>
              <a:t>Results and Discussion</a:t>
            </a:r>
            <a:endParaRPr lang="en-US" sz="4000" b="1" i="0" dirty="0">
              <a:solidFill>
                <a:srgbClr val="111827"/>
              </a:solidFill>
            </a:endParaRP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9019FE0D-FF92-4ABE-A5B4-C0237AE0549D}"/>
              </a:ext>
            </a:extLst>
          </p:cNvPr>
          <p:cNvSpPr>
            <a:spLocks noGrp="1"/>
          </p:cNvSpPr>
          <p:nvPr/>
        </p:nvSpPr>
        <p:spPr>
          <a:xfrm>
            <a:off x="685800" y="2907964"/>
            <a:ext cx="9250052" cy="10108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750" b="1" i="0">
                <a:solidFill>
                  <a:srgbClr val="111827"/>
                </a:solidFill>
              </a:defRPr>
            </a:pPr>
            <a:r>
              <a:rPr lang="en-US" sz="2800" dirty="0"/>
              <a:t>Rotation-error sensitivity depends on the axis and circuit location</a:t>
            </a:r>
            <a:endParaRPr lang="en-US" sz="2800" i="0" dirty="0">
              <a:solidFill>
                <a:srgbClr val="111827"/>
              </a:solidFill>
            </a:endParaRP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608290FA-DE3D-4B7F-A9CB-F36922F6B847}"/>
              </a:ext>
            </a:extLst>
          </p:cNvPr>
          <p:cNvSpPr>
            <a:spLocks noGrp="1"/>
          </p:cNvSpPr>
          <p:nvPr/>
        </p:nvSpPr>
        <p:spPr>
          <a:xfrm>
            <a:off x="723900" y="4102283"/>
            <a:ext cx="8111987" cy="10108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 i="0">
                <a:solidFill>
                  <a:srgbClr val="5F6B7A"/>
                </a:solidFill>
              </a:defRPr>
            </a:pPr>
            <a:r>
              <a:rPr lang="en-US" dirty="0"/>
              <a:t>Nine plots compare P(0…0) for two constant functions and one balanced function under Rx​(θ), Ry​(θ), and Rz​(θ) errors.</a:t>
            </a:r>
            <a:endParaRPr sz="1650" b="0" i="0" dirty="0">
              <a:solidFill>
                <a:srgbClr val="5F6B7A"/>
              </a:solidFill>
            </a:endParaRP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8A1C5BCC-BCA1-497A-8508-08BAFC521CFD}"/>
              </a:ext>
            </a:extLst>
          </p:cNvPr>
          <p:cNvSpPr>
            <a:spLocks noGrp="1"/>
          </p:cNvSpPr>
          <p:nvPr/>
        </p:nvSpPr>
        <p:spPr>
          <a:xfrm>
            <a:off x="914400" y="4905375"/>
            <a:ext cx="5905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150" b="1" i="0">
                <a:solidFill>
                  <a:srgbClr val="3B82F6"/>
                </a:solidFill>
              </a:defRPr>
            </a:pPr>
            <a:r>
              <a:rPr lang="en-US" sz="3150" b="1" i="0" dirty="0">
                <a:solidFill>
                  <a:srgbClr val="3B82F6"/>
                </a:solidFill>
              </a:rPr>
              <a:t> </a:t>
            </a:r>
            <a:endParaRPr sz="3150" b="1" i="0" dirty="0">
              <a:solidFill>
                <a:srgbClr val="3B82F6"/>
              </a:solidFill>
            </a:endParaRP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B636EDF1-C413-4947-A729-2A8D390A643E}"/>
              </a:ext>
            </a:extLst>
          </p:cNvPr>
          <p:cNvSpPr>
            <a:spLocks noGrp="1"/>
          </p:cNvSpPr>
          <p:nvPr/>
        </p:nvSpPr>
        <p:spPr>
          <a:xfrm>
            <a:off x="1581150" y="5000625"/>
            <a:ext cx="19526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 i="0">
                <a:solidFill>
                  <a:srgbClr val="111827"/>
                </a:solidFill>
              </a:defRPr>
            </a:pPr>
            <a:endParaRPr sz="1500" b="1" i="0" dirty="0">
              <a:solidFill>
                <a:srgbClr val="111827"/>
              </a:solidFill>
            </a:endParaRP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81F9DC46-7339-4EDF-86F1-28EB89DFA5DA}"/>
              </a:ext>
            </a:extLst>
          </p:cNvPr>
          <p:cNvSpPr>
            <a:spLocks noGrp="1"/>
          </p:cNvSpPr>
          <p:nvPr/>
        </p:nvSpPr>
        <p:spPr>
          <a:xfrm>
            <a:off x="4343400" y="4905375"/>
            <a:ext cx="5905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150" b="1" i="0">
                <a:solidFill>
                  <a:srgbClr val="EA7A14"/>
                </a:solidFill>
              </a:defRPr>
            </a:pPr>
            <a:endParaRPr sz="3150" b="1" i="0" dirty="0">
              <a:solidFill>
                <a:srgbClr val="EA7A14"/>
              </a:solidFill>
            </a:endParaRP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4C6D5ECE-6137-4E1A-BB15-1AD57E18AFA5}"/>
              </a:ext>
            </a:extLst>
          </p:cNvPr>
          <p:cNvSpPr>
            <a:spLocks noGrp="1"/>
          </p:cNvSpPr>
          <p:nvPr/>
        </p:nvSpPr>
        <p:spPr>
          <a:xfrm>
            <a:off x="5010150" y="5000625"/>
            <a:ext cx="19526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 i="0">
                <a:solidFill>
                  <a:srgbClr val="111827"/>
                </a:solidFill>
              </a:defRPr>
            </a:pPr>
            <a:endParaRPr sz="1500" b="1" i="0" dirty="0">
              <a:solidFill>
                <a:srgbClr val="111827"/>
              </a:solidFill>
            </a:endParaRP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6F21BD14-0492-4158-82AC-C8916C441B85}"/>
              </a:ext>
            </a:extLst>
          </p:cNvPr>
          <p:cNvSpPr>
            <a:spLocks noGrp="1"/>
          </p:cNvSpPr>
          <p:nvPr/>
        </p:nvSpPr>
        <p:spPr>
          <a:xfrm>
            <a:off x="7772400" y="4905375"/>
            <a:ext cx="5905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150" b="1" i="0">
                <a:solidFill>
                  <a:srgbClr val="2E9E69"/>
                </a:solidFill>
              </a:defRPr>
            </a:pPr>
            <a:endParaRPr sz="3150" b="1" i="0" dirty="0">
              <a:solidFill>
                <a:srgbClr val="2E9E69"/>
              </a:solidFill>
            </a:endParaRP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F2AE5D6A-3177-43F5-A5AA-3996FB3BE013}"/>
              </a:ext>
            </a:extLst>
          </p:cNvPr>
          <p:cNvSpPr>
            <a:spLocks noGrp="1"/>
          </p:cNvSpPr>
          <p:nvPr/>
        </p:nvSpPr>
        <p:spPr>
          <a:xfrm>
            <a:off x="8439150" y="5000625"/>
            <a:ext cx="19526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 i="0">
                <a:solidFill>
                  <a:srgbClr val="111827"/>
                </a:solidFill>
              </a:defRPr>
            </a:pPr>
            <a:endParaRPr sz="1500" b="1" i="0" dirty="0">
              <a:solidFill>
                <a:srgbClr val="111827"/>
              </a:solidFill>
            </a:endParaRPr>
          </a:p>
        </p:txBody>
      </p:sp>
      <p:sp>
        <p:nvSpPr>
          <p:cNvPr id="14" name="page-number">
            <a:extLst>
              <a:ext uri="{FF2B5EF4-FFF2-40B4-BE49-F238E27FC236}">
                <a16:creationId xmlns:a16="http://schemas.microsoft.com/office/drawing/2014/main" id="{39D0C072-1311-46F8-953E-66B5CB9A9F85}"/>
              </a:ext>
            </a:extLst>
          </p:cNvPr>
          <p:cNvSpPr>
            <a:spLocks noGrp="1"/>
          </p:cNvSpPr>
          <p:nvPr/>
        </p:nvSpPr>
        <p:spPr>
          <a:xfrm>
            <a:off x="11334750" y="64865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50" b="0" i="0">
                <a:solidFill>
                  <a:srgbClr val="5F6B7A"/>
                </a:solidFill>
              </a:defRPr>
            </a:pPr>
            <a:r>
              <a:rPr sz="750" b="0" i="0">
                <a:solidFill>
                  <a:srgbClr val="5F6B7A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7196403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kicker">
            <a:extLst>
              <a:ext uri="{FF2B5EF4-FFF2-40B4-BE49-F238E27FC236}">
                <a16:creationId xmlns:a16="http://schemas.microsoft.com/office/drawing/2014/main" id="{2BA106D5-CCE2-42F7-82B6-B189394696AE}"/>
              </a:ext>
            </a:extLst>
          </p:cNvPr>
          <p:cNvSpPr>
            <a:spLocks noGrp="1"/>
          </p:cNvSpPr>
          <p:nvPr/>
        </p:nvSpPr>
        <p:spPr>
          <a:xfrm>
            <a:off x="609600" y="308113"/>
            <a:ext cx="5715000" cy="7454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 i="0">
                <a:solidFill>
                  <a:srgbClr val="3B82F6"/>
                </a:solidFill>
              </a:defRPr>
            </a:pPr>
            <a:endParaRPr lang="en-US" sz="4000" dirty="0">
              <a:solidFill>
                <a:srgbClr val="111827"/>
              </a:solidFill>
            </a:endParaRPr>
          </a:p>
          <a:p>
            <a:pPr>
              <a:defRPr sz="900" b="1" i="0">
                <a:solidFill>
                  <a:srgbClr val="3B82F6"/>
                </a:solidFill>
              </a:defRPr>
            </a:pPr>
            <a:r>
              <a:rPr lang="en-US" sz="4000" dirty="0">
                <a:solidFill>
                  <a:srgbClr val="111827"/>
                </a:solidFill>
              </a:rPr>
              <a:t>Continued…</a:t>
            </a:r>
            <a:endParaRPr lang="en-US" sz="4000" b="1" i="0" dirty="0">
              <a:solidFill>
                <a:srgbClr val="111827"/>
              </a:solidFill>
            </a:endParaRPr>
          </a:p>
          <a:p>
            <a:pPr algn="l">
              <a:defRPr sz="900" b="1" i="0">
                <a:solidFill>
                  <a:srgbClr val="3B82F6"/>
                </a:solidFill>
              </a:defRPr>
            </a:pPr>
            <a:endParaRPr sz="4000" b="1" i="0" dirty="0">
              <a:solidFill>
                <a:srgbClr val="111827"/>
              </a:solidFill>
            </a:endParaRP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C4FF5253-4FA5-477B-9B6A-ED97C25A3864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5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0" i="0">
                <a:solidFill>
                  <a:srgbClr val="111827"/>
                </a:solidFill>
              </a:defRPr>
            </a:pPr>
            <a:endParaRPr sz="2850" b="0" i="0" dirty="0">
              <a:solidFill>
                <a:srgbClr val="111827"/>
              </a:solidFill>
            </a:endParaRPr>
          </a:p>
        </p:txBody>
      </p:sp>
      <p:sp>
        <p:nvSpPr>
          <p:cNvPr id="4" name="shape">
            <a:extLst>
              <a:ext uri="{FF2B5EF4-FFF2-40B4-BE49-F238E27FC236}">
                <a16:creationId xmlns:a16="http://schemas.microsoft.com/office/drawing/2014/main" id="{898F973A-9B5E-49CC-A02A-A99078B2E229}"/>
              </a:ext>
            </a:extLst>
          </p:cNvPr>
          <p:cNvSpPr>
            <a:spLocks noGrp="1"/>
          </p:cNvSpPr>
          <p:nvPr/>
        </p:nvSpPr>
        <p:spPr>
          <a:xfrm>
            <a:off x="8020050" y="1638300"/>
            <a:ext cx="3562350" cy="4234840"/>
          </a:xfrm>
          <a:prstGeom prst="roundRect">
            <a:avLst>
              <a:gd name="adj" fmla="val 2674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13E8B273-42F9-484E-9A45-381A789EEC3F}"/>
              </a:ext>
            </a:extLst>
          </p:cNvPr>
          <p:cNvSpPr>
            <a:spLocks noGrp="1"/>
          </p:cNvSpPr>
          <p:nvPr/>
        </p:nvSpPr>
        <p:spPr>
          <a:xfrm>
            <a:off x="8248650" y="1638300"/>
            <a:ext cx="3095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 i="0">
                <a:solidFill>
                  <a:srgbClr val="111827"/>
                </a:solidFill>
              </a:defRPr>
            </a:pPr>
            <a:r>
              <a:rPr sz="1650" b="1" i="0">
                <a:solidFill>
                  <a:srgbClr val="111827"/>
                </a:solidFill>
              </a:rPr>
              <a:t>X-axis rotation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7D9A1633-D7D1-4B46-AC10-A834C0BFD476}"/>
              </a:ext>
            </a:extLst>
          </p:cNvPr>
          <p:cNvSpPr>
            <a:spLocks noGrp="1"/>
          </p:cNvSpPr>
          <p:nvPr/>
        </p:nvSpPr>
        <p:spPr>
          <a:xfrm>
            <a:off x="8248650" y="233362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3B82F6"/>
                </a:solidFill>
              </a:defRPr>
            </a:pPr>
            <a:r>
              <a:rPr sz="1350" b="1" i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700D3B76-631E-431B-9C86-368C3218442A}"/>
              </a:ext>
            </a:extLst>
          </p:cNvPr>
          <p:cNvSpPr>
            <a:spLocks noGrp="1"/>
          </p:cNvSpPr>
          <p:nvPr/>
        </p:nvSpPr>
        <p:spPr>
          <a:xfrm>
            <a:off x="8515350" y="2333625"/>
            <a:ext cx="28289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 dirty="0">
                <a:solidFill>
                  <a:srgbClr val="111827"/>
                </a:solidFill>
              </a:rPr>
              <a:t>E₁ and E₄ degrade together from P(0ⁿ)≈1 toward 0.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F330A994-2D27-4590-BB39-AE5620A14696}"/>
              </a:ext>
            </a:extLst>
          </p:cNvPr>
          <p:cNvSpPr>
            <a:spLocks noGrp="1"/>
          </p:cNvSpPr>
          <p:nvPr/>
        </p:nvSpPr>
        <p:spPr>
          <a:xfrm>
            <a:off x="8248650" y="300037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3B82F6"/>
                </a:solidFill>
              </a:defRPr>
            </a:pPr>
            <a:r>
              <a:rPr sz="1350" b="1" i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9023154D-2672-4DA2-809F-D9E7D369BD0A}"/>
              </a:ext>
            </a:extLst>
          </p:cNvPr>
          <p:cNvSpPr>
            <a:spLocks noGrp="1"/>
          </p:cNvSpPr>
          <p:nvPr/>
        </p:nvSpPr>
        <p:spPr>
          <a:xfrm>
            <a:off x="8515350" y="3000375"/>
            <a:ext cx="28289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>
                <a:solidFill>
                  <a:srgbClr val="111827"/>
                </a:solidFill>
              </a:rPr>
              <a:t>E₂ and E₃ remain close to the ideal curve.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0EDD7AEF-A1BF-4768-9950-FF72ED9A679F}"/>
              </a:ext>
            </a:extLst>
          </p:cNvPr>
          <p:cNvSpPr>
            <a:spLocks noGrp="1"/>
          </p:cNvSpPr>
          <p:nvPr/>
        </p:nvSpPr>
        <p:spPr>
          <a:xfrm>
            <a:off x="8248650" y="366712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3B82F6"/>
                </a:solidFill>
              </a:defRPr>
            </a:pPr>
            <a:r>
              <a:rPr sz="1350" b="1" i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735F15AF-1E8C-449B-A7E1-CE0091A879A2}"/>
              </a:ext>
            </a:extLst>
          </p:cNvPr>
          <p:cNvSpPr>
            <a:spLocks noGrp="1"/>
          </p:cNvSpPr>
          <p:nvPr/>
        </p:nvSpPr>
        <p:spPr>
          <a:xfrm>
            <a:off x="8515350" y="3667125"/>
            <a:ext cx="28289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111827"/>
                </a:solidFill>
              </a:defRPr>
            </a:pPr>
            <a:endParaRPr lang="en-US" sz="1350" b="0" i="0" dirty="0">
              <a:solidFill>
                <a:srgbClr val="111827"/>
              </a:solidFill>
            </a:endParaRPr>
          </a:p>
          <a:p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 dirty="0">
                <a:solidFill>
                  <a:srgbClr val="111827"/>
                </a:solidFill>
              </a:rPr>
              <a:t>At intermediate stages, X-basis eigenstates turn the rotation mainly into phase.</a:t>
            </a:r>
          </a:p>
        </p:txBody>
      </p:sp>
      <p:sp>
        <p:nvSpPr>
          <p:cNvPr id="12" name="shape">
            <a:extLst>
              <a:ext uri="{FF2B5EF4-FFF2-40B4-BE49-F238E27FC236}">
                <a16:creationId xmlns:a16="http://schemas.microsoft.com/office/drawing/2014/main" id="{9B0832CB-76A8-4427-9D7D-236CEB819C0C}"/>
              </a:ext>
            </a:extLst>
          </p:cNvPr>
          <p:cNvSpPr>
            <a:spLocks noGrp="1"/>
          </p:cNvSpPr>
          <p:nvPr/>
        </p:nvSpPr>
        <p:spPr>
          <a:xfrm>
            <a:off x="8515350" y="4559971"/>
            <a:ext cx="2828925" cy="86928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275" b="1" i="0">
                <a:solidFill>
                  <a:srgbClr val="3B82F6"/>
                </a:solidFill>
              </a:defRPr>
            </a:pPr>
            <a:r>
              <a:rPr lang="en-US" sz="1400" dirty="0"/>
              <a:t>Most sensitive: state preparation and pre-measurement</a:t>
            </a:r>
            <a:endParaRPr lang="en-US" sz="1400" b="1" i="0" dirty="0">
              <a:solidFill>
                <a:srgbClr val="3B82F6"/>
              </a:solidFill>
            </a:endParaRP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5F135F74-CB22-4DB8-9B27-4F9F917DADCB}"/>
              </a:ext>
            </a:extLst>
          </p:cNvPr>
          <p:cNvSpPr>
            <a:spLocks noGrp="1"/>
          </p:cNvSpPr>
          <p:nvPr/>
        </p:nvSpPr>
        <p:spPr>
          <a:xfrm>
            <a:off x="8401050" y="4467225"/>
            <a:ext cx="2800350" cy="752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 i="0">
                <a:solidFill>
                  <a:srgbClr val="D94B4B"/>
                </a:solidFill>
              </a:defRPr>
            </a:pPr>
            <a:endParaRPr sz="1275" b="1" i="0" dirty="0">
              <a:solidFill>
                <a:srgbClr val="D94B4B"/>
              </a:solidFill>
            </a:endParaRP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7CF0AEDE-2378-4F7A-9F51-1D93755899D7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 i="0">
                <a:solidFill>
                  <a:srgbClr val="5F6B7A"/>
                </a:solidFill>
              </a:defRPr>
            </a:pPr>
            <a:r>
              <a:rPr sz="975" b="0" i="0" dirty="0">
                <a:solidFill>
                  <a:srgbClr val="5F6B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plotted rotation uses the angle sweep θ = 0°…180°</a:t>
            </a:r>
          </a:p>
        </p:txBody>
      </p:sp>
      <p:sp>
        <p:nvSpPr>
          <p:cNvPr id="15" name="page-number">
            <a:extLst>
              <a:ext uri="{FF2B5EF4-FFF2-40B4-BE49-F238E27FC236}">
                <a16:creationId xmlns:a16="http://schemas.microsoft.com/office/drawing/2014/main" id="{670064C6-D2E1-4876-BFCF-EA73617D18F9}"/>
              </a:ext>
            </a:extLst>
          </p:cNvPr>
          <p:cNvSpPr>
            <a:spLocks noGrp="1"/>
          </p:cNvSpPr>
          <p:nvPr/>
        </p:nvSpPr>
        <p:spPr>
          <a:xfrm>
            <a:off x="11334750" y="64865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50" b="0" i="0">
                <a:solidFill>
                  <a:srgbClr val="5F6B7A"/>
                </a:solidFill>
              </a:defRPr>
            </a:pPr>
            <a:r>
              <a:rPr sz="750" b="0" i="0">
                <a:solidFill>
                  <a:srgbClr val="5F6B7A"/>
                </a:solidFill>
              </a:rPr>
              <a:t>14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A50B463-986F-4529-A65C-B006E9A40E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612" y="1297886"/>
            <a:ext cx="7071438" cy="4131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6979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kicker">
            <a:extLst>
              <a:ext uri="{FF2B5EF4-FFF2-40B4-BE49-F238E27FC236}">
                <a16:creationId xmlns:a16="http://schemas.microsoft.com/office/drawing/2014/main" id="{06680F6A-12C1-46BF-8F2F-0BD0473B14F5}"/>
              </a:ext>
            </a:extLst>
          </p:cNvPr>
          <p:cNvSpPr>
            <a:spLocks noGrp="1"/>
          </p:cNvSpPr>
          <p:nvPr/>
        </p:nvSpPr>
        <p:spPr>
          <a:xfrm>
            <a:off x="609600" y="109330"/>
            <a:ext cx="5715000" cy="102939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 i="0">
                <a:solidFill>
                  <a:srgbClr val="3B82F6"/>
                </a:solidFill>
              </a:defRPr>
            </a:pPr>
            <a:endParaRPr lang="en-US" sz="4000" dirty="0">
              <a:solidFill>
                <a:srgbClr val="111827"/>
              </a:solidFill>
            </a:endParaRPr>
          </a:p>
          <a:p>
            <a:pPr>
              <a:defRPr sz="900" b="1" i="0">
                <a:solidFill>
                  <a:srgbClr val="3B82F6"/>
                </a:solidFill>
              </a:defRPr>
            </a:pPr>
            <a:endParaRPr lang="en-US" sz="4000" dirty="0">
              <a:solidFill>
                <a:srgbClr val="111827"/>
              </a:solidFill>
            </a:endParaRPr>
          </a:p>
          <a:p>
            <a:pPr>
              <a:defRPr sz="900" b="1" i="0">
                <a:solidFill>
                  <a:srgbClr val="3B82F6"/>
                </a:solidFill>
              </a:defRPr>
            </a:pPr>
            <a:r>
              <a:rPr lang="en-US" sz="4000" dirty="0">
                <a:solidFill>
                  <a:srgbClr val="111827"/>
                </a:solidFill>
              </a:rPr>
              <a:t>Continued…</a:t>
            </a:r>
            <a:endParaRPr lang="en-US" sz="4000" b="1" i="0" dirty="0">
              <a:solidFill>
                <a:srgbClr val="111827"/>
              </a:solidFill>
            </a:endParaRPr>
          </a:p>
          <a:p>
            <a:pPr algn="l">
              <a:defRPr sz="900" b="1" i="0">
                <a:solidFill>
                  <a:srgbClr val="3B82F6"/>
                </a:solidFill>
              </a:defRPr>
            </a:pPr>
            <a:endParaRPr lang="en-US" sz="4000" b="1" i="0" dirty="0">
              <a:solidFill>
                <a:srgbClr val="111827"/>
              </a:solidFill>
            </a:endParaRPr>
          </a:p>
          <a:p>
            <a:pPr algn="l">
              <a:defRPr sz="900" b="1" i="0">
                <a:solidFill>
                  <a:srgbClr val="3B82F6"/>
                </a:solidFill>
              </a:defRPr>
            </a:pPr>
            <a:endParaRPr sz="4000" b="1" i="0" dirty="0">
              <a:solidFill>
                <a:srgbClr val="3B82F6"/>
              </a:solidFill>
            </a:endParaRP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57EB940B-30D7-46BB-95FE-352F0BE49355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5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0" i="0">
                <a:solidFill>
                  <a:srgbClr val="111827"/>
                </a:solidFill>
              </a:defRPr>
            </a:pPr>
            <a:endParaRPr lang="en-US" sz="2850" b="0" i="0" dirty="0">
              <a:solidFill>
                <a:srgbClr val="111827"/>
              </a:solidFill>
            </a:endParaRPr>
          </a:p>
        </p:txBody>
      </p:sp>
      <p:sp>
        <p:nvSpPr>
          <p:cNvPr id="4" name="shape">
            <a:extLst>
              <a:ext uri="{FF2B5EF4-FFF2-40B4-BE49-F238E27FC236}">
                <a16:creationId xmlns:a16="http://schemas.microsoft.com/office/drawing/2014/main" id="{9D9A72F9-6424-4DC5-8940-8D79C032E179}"/>
              </a:ext>
            </a:extLst>
          </p:cNvPr>
          <p:cNvSpPr>
            <a:spLocks noGrp="1"/>
          </p:cNvSpPr>
          <p:nvPr/>
        </p:nvSpPr>
        <p:spPr>
          <a:xfrm>
            <a:off x="8001000" y="1428750"/>
            <a:ext cx="3562350" cy="4000500"/>
          </a:xfrm>
          <a:prstGeom prst="roundRect">
            <a:avLst>
              <a:gd name="adj" fmla="val 2674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F3B58DAA-5BEF-4B6C-81F8-476AE4249A50}"/>
              </a:ext>
            </a:extLst>
          </p:cNvPr>
          <p:cNvSpPr>
            <a:spLocks noGrp="1"/>
          </p:cNvSpPr>
          <p:nvPr/>
        </p:nvSpPr>
        <p:spPr>
          <a:xfrm>
            <a:off x="8248650" y="1638300"/>
            <a:ext cx="3095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 i="0">
                <a:solidFill>
                  <a:srgbClr val="111827"/>
                </a:solidFill>
              </a:defRPr>
            </a:pPr>
            <a:r>
              <a:rPr sz="1650" b="1" i="0" dirty="0">
                <a:solidFill>
                  <a:srgbClr val="111827"/>
                </a:solidFill>
              </a:rPr>
              <a:t>Y-axis rotation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8681550F-0574-4500-A7FE-B14BD2C26B91}"/>
              </a:ext>
            </a:extLst>
          </p:cNvPr>
          <p:cNvSpPr>
            <a:spLocks noGrp="1"/>
          </p:cNvSpPr>
          <p:nvPr/>
        </p:nvSpPr>
        <p:spPr>
          <a:xfrm>
            <a:off x="8248650" y="233362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3B82F6"/>
                </a:solidFill>
              </a:defRPr>
            </a:pPr>
            <a:r>
              <a:rPr sz="1350" b="1" i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3E2DEC8B-29DC-4517-BBC6-2907CE7F345B}"/>
              </a:ext>
            </a:extLst>
          </p:cNvPr>
          <p:cNvSpPr>
            <a:spLocks noGrp="1"/>
          </p:cNvSpPr>
          <p:nvPr/>
        </p:nvSpPr>
        <p:spPr>
          <a:xfrm>
            <a:off x="8515350" y="2333625"/>
            <a:ext cx="28289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111827"/>
                </a:solidFill>
              </a:defRPr>
            </a:pPr>
            <a:r>
              <a:rPr lang="en-US" sz="1350" b="0" i="0" dirty="0">
                <a:solidFill>
                  <a:srgbClr val="111827"/>
                </a:solidFill>
              </a:rPr>
              <a:t>All four error-location curves nearly overlap.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CA0EB29A-D586-4E85-B2CC-76BCFE4E7A91}"/>
              </a:ext>
            </a:extLst>
          </p:cNvPr>
          <p:cNvSpPr>
            <a:spLocks noGrp="1"/>
          </p:cNvSpPr>
          <p:nvPr/>
        </p:nvSpPr>
        <p:spPr>
          <a:xfrm>
            <a:off x="8248650" y="300037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3B82F6"/>
                </a:solidFill>
              </a:defRPr>
            </a:pPr>
            <a:r>
              <a:rPr sz="1350" b="1" i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18563748-E273-4751-AF7E-C0E0D5FD8493}"/>
              </a:ext>
            </a:extLst>
          </p:cNvPr>
          <p:cNvSpPr>
            <a:spLocks noGrp="1"/>
          </p:cNvSpPr>
          <p:nvPr/>
        </p:nvSpPr>
        <p:spPr>
          <a:xfrm>
            <a:off x="8515350" y="3000375"/>
            <a:ext cx="28289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 dirty="0">
                <a:solidFill>
                  <a:srgbClr val="111827"/>
                </a:solidFill>
              </a:rPr>
              <a:t>P(0ⁿ) decreases steadily as θ approaches 180°.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1C22B141-B065-44FC-8246-4BC933FF5041}"/>
              </a:ext>
            </a:extLst>
          </p:cNvPr>
          <p:cNvSpPr>
            <a:spLocks noGrp="1"/>
          </p:cNvSpPr>
          <p:nvPr/>
        </p:nvSpPr>
        <p:spPr>
          <a:xfrm>
            <a:off x="8248650" y="366712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3B82F6"/>
                </a:solidFill>
              </a:defRPr>
            </a:pPr>
            <a:r>
              <a:rPr sz="1350" b="1" i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327449B9-324D-44E5-9EEB-C84905EE7832}"/>
              </a:ext>
            </a:extLst>
          </p:cNvPr>
          <p:cNvSpPr>
            <a:spLocks noGrp="1"/>
          </p:cNvSpPr>
          <p:nvPr/>
        </p:nvSpPr>
        <p:spPr>
          <a:xfrm>
            <a:off x="8515350" y="3667125"/>
            <a:ext cx="28289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 dirty="0">
                <a:solidFill>
                  <a:srgbClr val="111827"/>
                </a:solidFill>
              </a:rPr>
              <a:t>Rotation angle dominates; no location is substantially protected.</a:t>
            </a:r>
          </a:p>
        </p:txBody>
      </p:sp>
      <p:sp>
        <p:nvSpPr>
          <p:cNvPr id="12" name="shape">
            <a:extLst>
              <a:ext uri="{FF2B5EF4-FFF2-40B4-BE49-F238E27FC236}">
                <a16:creationId xmlns:a16="http://schemas.microsoft.com/office/drawing/2014/main" id="{DD609BA3-0FA6-4813-92D6-A4F3D8158F21}"/>
              </a:ext>
            </a:extLst>
          </p:cNvPr>
          <p:cNvSpPr>
            <a:spLocks noGrp="1"/>
          </p:cNvSpPr>
          <p:nvPr/>
        </p:nvSpPr>
        <p:spPr>
          <a:xfrm>
            <a:off x="8248650" y="4714875"/>
            <a:ext cx="3095625" cy="6286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7B6242FE-899A-4298-93ED-628A71990421}"/>
              </a:ext>
            </a:extLst>
          </p:cNvPr>
          <p:cNvSpPr>
            <a:spLocks noGrp="1"/>
          </p:cNvSpPr>
          <p:nvPr/>
        </p:nvSpPr>
        <p:spPr>
          <a:xfrm>
            <a:off x="8401050" y="4676775"/>
            <a:ext cx="2800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 i="0">
                <a:solidFill>
                  <a:srgbClr val="EA7A14"/>
                </a:solidFill>
              </a:defRPr>
            </a:pPr>
            <a:r>
              <a:rPr lang="en-US" dirty="0"/>
              <a:t>Uniform location sensitivity</a:t>
            </a:r>
            <a:endParaRPr sz="1275" b="1" i="0" dirty="0">
              <a:solidFill>
                <a:srgbClr val="EA7A14"/>
              </a:solidFill>
            </a:endParaRP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4DF759E6-355D-4AA2-868B-4C56413B66C1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 i="0">
                <a:solidFill>
                  <a:srgbClr val="5F6B7A"/>
                </a:solidFill>
              </a:defRPr>
            </a:pPr>
            <a:r>
              <a:rPr sz="975" b="0" i="0">
                <a:solidFill>
                  <a:srgbClr val="5F6B7A"/>
                </a:solidFill>
              </a:rPr>
              <a:t>Each plotted rotation uses the angle sweep θ = 0°…180°</a:t>
            </a:r>
          </a:p>
        </p:txBody>
      </p:sp>
      <p:sp>
        <p:nvSpPr>
          <p:cNvPr id="15" name="page-number">
            <a:extLst>
              <a:ext uri="{FF2B5EF4-FFF2-40B4-BE49-F238E27FC236}">
                <a16:creationId xmlns:a16="http://schemas.microsoft.com/office/drawing/2014/main" id="{9EE608FE-A04F-4F8E-9477-6427B4C1BC43}"/>
              </a:ext>
            </a:extLst>
          </p:cNvPr>
          <p:cNvSpPr>
            <a:spLocks noGrp="1"/>
          </p:cNvSpPr>
          <p:nvPr/>
        </p:nvSpPr>
        <p:spPr>
          <a:xfrm>
            <a:off x="11334750" y="64865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50" b="0" i="0">
                <a:solidFill>
                  <a:srgbClr val="5F6B7A"/>
                </a:solidFill>
              </a:defRPr>
            </a:pPr>
            <a:r>
              <a:rPr sz="750" b="0" i="0">
                <a:solidFill>
                  <a:srgbClr val="5F6B7A"/>
                </a:solidFill>
              </a:rPr>
              <a:t>15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842B6E9-3CB8-431A-A827-B0805A3784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612" y="1428750"/>
            <a:ext cx="6822233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9010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kicker">
            <a:extLst>
              <a:ext uri="{FF2B5EF4-FFF2-40B4-BE49-F238E27FC236}">
                <a16:creationId xmlns:a16="http://schemas.microsoft.com/office/drawing/2014/main" id="{178DA994-6378-4D85-A653-26ADA64EB096}"/>
              </a:ext>
            </a:extLst>
          </p:cNvPr>
          <p:cNvSpPr>
            <a:spLocks noGrp="1"/>
          </p:cNvSpPr>
          <p:nvPr/>
        </p:nvSpPr>
        <p:spPr>
          <a:xfrm>
            <a:off x="609600" y="313497"/>
            <a:ext cx="5715000" cy="9365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 i="0">
                <a:solidFill>
                  <a:srgbClr val="3B82F6"/>
                </a:solidFill>
              </a:defRPr>
            </a:pPr>
            <a:endParaRPr lang="en-US" sz="4000" dirty="0">
              <a:solidFill>
                <a:srgbClr val="111827"/>
              </a:solidFill>
            </a:endParaRPr>
          </a:p>
          <a:p>
            <a:pPr>
              <a:defRPr sz="900" b="1" i="0">
                <a:solidFill>
                  <a:srgbClr val="3B82F6"/>
                </a:solidFill>
              </a:defRPr>
            </a:pPr>
            <a:endParaRPr lang="en-US" sz="4000" dirty="0">
              <a:solidFill>
                <a:srgbClr val="111827"/>
              </a:solidFill>
            </a:endParaRPr>
          </a:p>
          <a:p>
            <a:pPr>
              <a:defRPr sz="900" b="1" i="0">
                <a:solidFill>
                  <a:srgbClr val="3B82F6"/>
                </a:solidFill>
              </a:defRPr>
            </a:pPr>
            <a:endParaRPr lang="en-US" sz="4000" dirty="0">
              <a:solidFill>
                <a:srgbClr val="111827"/>
              </a:solidFill>
            </a:endParaRPr>
          </a:p>
          <a:p>
            <a:pPr>
              <a:defRPr sz="900" b="1" i="0">
                <a:solidFill>
                  <a:srgbClr val="3B82F6"/>
                </a:solidFill>
              </a:defRPr>
            </a:pPr>
            <a:r>
              <a:rPr lang="en-US" sz="4000" dirty="0">
                <a:solidFill>
                  <a:srgbClr val="111827"/>
                </a:solidFill>
              </a:rPr>
              <a:t>Continued…</a:t>
            </a:r>
            <a:endParaRPr lang="en-US" sz="4000" b="1" i="0" dirty="0">
              <a:solidFill>
                <a:srgbClr val="111827"/>
              </a:solidFill>
            </a:endParaRPr>
          </a:p>
          <a:p>
            <a:pPr algn="l">
              <a:defRPr sz="900" b="1" i="0">
                <a:solidFill>
                  <a:srgbClr val="3B82F6"/>
                </a:solidFill>
              </a:defRPr>
            </a:pPr>
            <a:endParaRPr lang="en-US" sz="4000" b="1" i="0" dirty="0">
              <a:solidFill>
                <a:srgbClr val="111827"/>
              </a:solidFill>
            </a:endParaRPr>
          </a:p>
          <a:p>
            <a:pPr algn="l">
              <a:defRPr sz="900" b="1" i="0">
                <a:solidFill>
                  <a:srgbClr val="3B82F6"/>
                </a:solidFill>
              </a:defRPr>
            </a:pPr>
            <a:endParaRPr lang="en-US" sz="4000" b="1" i="0" dirty="0">
              <a:solidFill>
                <a:srgbClr val="3B82F6"/>
              </a:solidFill>
            </a:endParaRPr>
          </a:p>
          <a:p>
            <a:pPr algn="l">
              <a:defRPr sz="900" b="1" i="0">
                <a:solidFill>
                  <a:srgbClr val="3B82F6"/>
                </a:solidFill>
              </a:defRPr>
            </a:pPr>
            <a:endParaRPr sz="4000" b="1" i="0" dirty="0">
              <a:solidFill>
                <a:srgbClr val="3B82F6"/>
              </a:solidFill>
            </a:endParaRPr>
          </a:p>
        </p:txBody>
      </p:sp>
      <p:sp>
        <p:nvSpPr>
          <p:cNvPr id="4" name="shape">
            <a:extLst>
              <a:ext uri="{FF2B5EF4-FFF2-40B4-BE49-F238E27FC236}">
                <a16:creationId xmlns:a16="http://schemas.microsoft.com/office/drawing/2014/main" id="{E53E417C-143C-450A-B06D-2C2ACA149963}"/>
              </a:ext>
            </a:extLst>
          </p:cNvPr>
          <p:cNvSpPr>
            <a:spLocks noGrp="1"/>
          </p:cNvSpPr>
          <p:nvPr/>
        </p:nvSpPr>
        <p:spPr>
          <a:xfrm>
            <a:off x="8004313" y="1428750"/>
            <a:ext cx="3562350" cy="4000500"/>
          </a:xfrm>
          <a:prstGeom prst="roundRect">
            <a:avLst>
              <a:gd name="adj" fmla="val 2674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0FF0D1EA-072E-4562-BADD-3D591B67521C}"/>
              </a:ext>
            </a:extLst>
          </p:cNvPr>
          <p:cNvSpPr>
            <a:spLocks noGrp="1"/>
          </p:cNvSpPr>
          <p:nvPr/>
        </p:nvSpPr>
        <p:spPr>
          <a:xfrm>
            <a:off x="8248650" y="1638300"/>
            <a:ext cx="3095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 i="0">
                <a:solidFill>
                  <a:srgbClr val="111827"/>
                </a:solidFill>
              </a:defRPr>
            </a:pPr>
            <a:r>
              <a:rPr sz="1650" b="1" i="0" dirty="0">
                <a:solidFill>
                  <a:srgbClr val="111827"/>
                </a:solidFill>
              </a:rPr>
              <a:t>Z-axis rotation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45D28410-D1DE-45CC-942C-877EDF80668F}"/>
              </a:ext>
            </a:extLst>
          </p:cNvPr>
          <p:cNvSpPr>
            <a:spLocks noGrp="1"/>
          </p:cNvSpPr>
          <p:nvPr/>
        </p:nvSpPr>
        <p:spPr>
          <a:xfrm>
            <a:off x="8248650" y="233362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3B82F6"/>
                </a:solidFill>
              </a:defRPr>
            </a:pPr>
            <a:r>
              <a:rPr sz="1350" b="1" i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2C75A3B7-85B5-4F7D-A8C6-09C1D3CC0FB1}"/>
              </a:ext>
            </a:extLst>
          </p:cNvPr>
          <p:cNvSpPr>
            <a:spLocks noGrp="1"/>
          </p:cNvSpPr>
          <p:nvPr/>
        </p:nvSpPr>
        <p:spPr>
          <a:xfrm>
            <a:off x="8515350" y="2333625"/>
            <a:ext cx="28289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>
                <a:solidFill>
                  <a:srgbClr val="111827"/>
                </a:solidFill>
              </a:rPr>
              <a:t>E₁ and E₄ remain essentially ideal.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73FCBAB5-80BD-4BD4-A573-629CC24DDC86}"/>
              </a:ext>
            </a:extLst>
          </p:cNvPr>
          <p:cNvSpPr>
            <a:spLocks noGrp="1"/>
          </p:cNvSpPr>
          <p:nvPr/>
        </p:nvSpPr>
        <p:spPr>
          <a:xfrm>
            <a:off x="8248650" y="300037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3B82F6"/>
                </a:solidFill>
              </a:defRPr>
            </a:pPr>
            <a:r>
              <a:rPr sz="1350" b="1" i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E9D34AE5-A31C-4817-8850-498B8101588E}"/>
              </a:ext>
            </a:extLst>
          </p:cNvPr>
          <p:cNvSpPr>
            <a:spLocks noGrp="1"/>
          </p:cNvSpPr>
          <p:nvPr/>
        </p:nvSpPr>
        <p:spPr>
          <a:xfrm>
            <a:off x="8515350" y="3000375"/>
            <a:ext cx="28289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 dirty="0">
                <a:solidFill>
                  <a:srgbClr val="111827"/>
                </a:solidFill>
              </a:rPr>
              <a:t>E₂ and E₃ lose  probability as θ increases.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F29A09CB-7028-4D12-89C3-439B5C7472A1}"/>
              </a:ext>
            </a:extLst>
          </p:cNvPr>
          <p:cNvSpPr>
            <a:spLocks noGrp="1"/>
          </p:cNvSpPr>
          <p:nvPr/>
        </p:nvSpPr>
        <p:spPr>
          <a:xfrm>
            <a:off x="8248650" y="366712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3B82F6"/>
                </a:solidFill>
              </a:defRPr>
            </a:pPr>
            <a:r>
              <a:rPr sz="1350" b="1" i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9FECCBA2-F100-4F8A-AD96-9D8447BC3A55}"/>
              </a:ext>
            </a:extLst>
          </p:cNvPr>
          <p:cNvSpPr>
            <a:spLocks noGrp="1"/>
          </p:cNvSpPr>
          <p:nvPr/>
        </p:nvSpPr>
        <p:spPr>
          <a:xfrm>
            <a:off x="8515350" y="3667125"/>
            <a:ext cx="28289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 dirty="0">
                <a:solidFill>
                  <a:srgbClr val="111827"/>
                </a:solidFill>
              </a:rPr>
              <a:t>Relative phase changes inside the interference region alter the final outcome.</a:t>
            </a:r>
          </a:p>
        </p:txBody>
      </p:sp>
      <p:sp>
        <p:nvSpPr>
          <p:cNvPr id="12" name="shape">
            <a:extLst>
              <a:ext uri="{FF2B5EF4-FFF2-40B4-BE49-F238E27FC236}">
                <a16:creationId xmlns:a16="http://schemas.microsoft.com/office/drawing/2014/main" id="{7B72DB5E-29BF-4D68-824B-BB8EEF86AD79}"/>
              </a:ext>
            </a:extLst>
          </p:cNvPr>
          <p:cNvSpPr>
            <a:spLocks noGrp="1"/>
          </p:cNvSpPr>
          <p:nvPr/>
        </p:nvSpPr>
        <p:spPr>
          <a:xfrm>
            <a:off x="8248650" y="4572000"/>
            <a:ext cx="3095625" cy="6286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9847EC93-9D61-4C12-A777-A9AC0379DB8C}"/>
              </a:ext>
            </a:extLst>
          </p:cNvPr>
          <p:cNvSpPr>
            <a:spLocks noGrp="1"/>
          </p:cNvSpPr>
          <p:nvPr/>
        </p:nvSpPr>
        <p:spPr>
          <a:xfrm>
            <a:off x="8401050" y="4676775"/>
            <a:ext cx="2800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 i="0">
                <a:solidFill>
                  <a:srgbClr val="2E9E69"/>
                </a:solidFill>
              </a:defRPr>
            </a:pPr>
            <a:r>
              <a:rPr lang="en-US" dirty="0"/>
              <a:t>Most sensitive: oracle input and oracle output</a:t>
            </a:r>
            <a:endParaRPr sz="1275" b="1" i="0" dirty="0">
              <a:solidFill>
                <a:srgbClr val="2E9E69"/>
              </a:solidFill>
            </a:endParaRP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7507E8FE-D927-4701-A668-1CB2895576CC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 i="0">
                <a:solidFill>
                  <a:srgbClr val="5F6B7A"/>
                </a:solidFill>
              </a:defRPr>
            </a:pPr>
            <a:r>
              <a:rPr sz="975" b="0" i="0">
                <a:solidFill>
                  <a:srgbClr val="5F6B7A"/>
                </a:solidFill>
              </a:rPr>
              <a:t>Each plotted rotation uses the angle sweep θ = 0°…180°</a:t>
            </a:r>
          </a:p>
        </p:txBody>
      </p:sp>
      <p:sp>
        <p:nvSpPr>
          <p:cNvPr id="15" name="page-number">
            <a:extLst>
              <a:ext uri="{FF2B5EF4-FFF2-40B4-BE49-F238E27FC236}">
                <a16:creationId xmlns:a16="http://schemas.microsoft.com/office/drawing/2014/main" id="{BAD154F4-01F5-4F22-A993-C828D7248B2C}"/>
              </a:ext>
            </a:extLst>
          </p:cNvPr>
          <p:cNvSpPr>
            <a:spLocks noGrp="1"/>
          </p:cNvSpPr>
          <p:nvPr/>
        </p:nvSpPr>
        <p:spPr>
          <a:xfrm>
            <a:off x="11334750" y="64865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50" b="0" i="0">
                <a:solidFill>
                  <a:srgbClr val="5F6B7A"/>
                </a:solidFill>
              </a:defRPr>
            </a:pPr>
            <a:r>
              <a:rPr sz="750" b="0" i="0">
                <a:solidFill>
                  <a:srgbClr val="5F6B7A"/>
                </a:solidFill>
              </a:rPr>
              <a:t>16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6753978-3A1D-4BC6-A484-F586399C6C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612" y="1428750"/>
            <a:ext cx="6868886" cy="3821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380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kicker">
            <a:extLst>
              <a:ext uri="{FF2B5EF4-FFF2-40B4-BE49-F238E27FC236}">
                <a16:creationId xmlns:a16="http://schemas.microsoft.com/office/drawing/2014/main" id="{CB2D2292-3FA0-4A32-A938-729B6E88EE11}"/>
              </a:ext>
            </a:extLst>
          </p:cNvPr>
          <p:cNvSpPr>
            <a:spLocks noGrp="1"/>
          </p:cNvSpPr>
          <p:nvPr/>
        </p:nvSpPr>
        <p:spPr>
          <a:xfrm>
            <a:off x="609600" y="148595"/>
            <a:ext cx="5715000" cy="9982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 i="0">
                <a:solidFill>
                  <a:srgbClr val="3B82F6"/>
                </a:solidFill>
              </a:defRPr>
            </a:pPr>
            <a:endParaRPr lang="en-US" sz="4000" dirty="0">
              <a:solidFill>
                <a:srgbClr val="111827"/>
              </a:solidFill>
            </a:endParaRPr>
          </a:p>
          <a:p>
            <a:pPr>
              <a:defRPr sz="900" b="1" i="0">
                <a:solidFill>
                  <a:srgbClr val="3B82F6"/>
                </a:solidFill>
              </a:defRPr>
            </a:pPr>
            <a:endParaRPr lang="en-US" sz="4000" dirty="0">
              <a:solidFill>
                <a:srgbClr val="111827"/>
              </a:solidFill>
            </a:endParaRPr>
          </a:p>
          <a:p>
            <a:pPr>
              <a:defRPr sz="900" b="1" i="0">
                <a:solidFill>
                  <a:srgbClr val="3B82F6"/>
                </a:solidFill>
              </a:defRPr>
            </a:pPr>
            <a:endParaRPr lang="en-US" sz="4000" dirty="0">
              <a:solidFill>
                <a:srgbClr val="111827"/>
              </a:solidFill>
            </a:endParaRPr>
          </a:p>
          <a:p>
            <a:pPr>
              <a:defRPr sz="900" b="1" i="0">
                <a:solidFill>
                  <a:srgbClr val="3B82F6"/>
                </a:solidFill>
              </a:defRPr>
            </a:pPr>
            <a:r>
              <a:rPr lang="en-US" sz="4000" dirty="0">
                <a:solidFill>
                  <a:srgbClr val="111827"/>
                </a:solidFill>
              </a:rPr>
              <a:t>Continued…</a:t>
            </a:r>
            <a:endParaRPr lang="en-US" sz="4000" b="1" i="0" dirty="0">
              <a:solidFill>
                <a:srgbClr val="111827"/>
              </a:solidFill>
            </a:endParaRPr>
          </a:p>
          <a:p>
            <a:pPr algn="l">
              <a:defRPr sz="900" b="1" i="0">
                <a:solidFill>
                  <a:srgbClr val="3B82F6"/>
                </a:solidFill>
              </a:defRPr>
            </a:pPr>
            <a:endParaRPr lang="en-US" sz="4000" b="1" i="0" dirty="0">
              <a:solidFill>
                <a:srgbClr val="111827"/>
              </a:solidFill>
            </a:endParaRPr>
          </a:p>
          <a:p>
            <a:pPr algn="l">
              <a:defRPr sz="900" b="1" i="0">
                <a:solidFill>
                  <a:srgbClr val="3B82F6"/>
                </a:solidFill>
              </a:defRPr>
            </a:pPr>
            <a:endParaRPr lang="en-US" sz="4000" b="1" i="0" dirty="0">
              <a:solidFill>
                <a:srgbClr val="3B82F6"/>
              </a:solidFill>
            </a:endParaRPr>
          </a:p>
          <a:p>
            <a:pPr algn="l">
              <a:defRPr sz="900" b="1" i="0">
                <a:solidFill>
                  <a:srgbClr val="3B82F6"/>
                </a:solidFill>
              </a:defRPr>
            </a:pPr>
            <a:endParaRPr sz="4000" b="1" i="0" dirty="0">
              <a:solidFill>
                <a:srgbClr val="3B82F6"/>
              </a:solidFill>
            </a:endParaRP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D5F389FC-BD3B-41A9-AAE3-94D9DF102AC4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5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0" i="0">
                <a:solidFill>
                  <a:srgbClr val="111827"/>
                </a:solidFill>
              </a:defRPr>
            </a:pPr>
            <a:endParaRPr sz="2850" b="0" i="0" dirty="0">
              <a:solidFill>
                <a:srgbClr val="111827"/>
              </a:solidFill>
            </a:endParaRPr>
          </a:p>
        </p:txBody>
      </p:sp>
      <p:sp>
        <p:nvSpPr>
          <p:cNvPr id="4" name="shape">
            <a:extLst>
              <a:ext uri="{FF2B5EF4-FFF2-40B4-BE49-F238E27FC236}">
                <a16:creationId xmlns:a16="http://schemas.microsoft.com/office/drawing/2014/main" id="{A5EF760E-DB4C-46F0-9F3C-E18264D39C99}"/>
              </a:ext>
            </a:extLst>
          </p:cNvPr>
          <p:cNvSpPr>
            <a:spLocks noGrp="1"/>
          </p:cNvSpPr>
          <p:nvPr/>
        </p:nvSpPr>
        <p:spPr>
          <a:xfrm>
            <a:off x="8020050" y="1428750"/>
            <a:ext cx="3562350" cy="4000500"/>
          </a:xfrm>
          <a:prstGeom prst="roundRect">
            <a:avLst>
              <a:gd name="adj" fmla="val 2674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4FB182E5-0785-409D-9204-434C2358622C}"/>
              </a:ext>
            </a:extLst>
          </p:cNvPr>
          <p:cNvSpPr>
            <a:spLocks noGrp="1"/>
          </p:cNvSpPr>
          <p:nvPr/>
        </p:nvSpPr>
        <p:spPr>
          <a:xfrm>
            <a:off x="8248650" y="1638300"/>
            <a:ext cx="1847072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 i="0">
                <a:solidFill>
                  <a:srgbClr val="111827"/>
                </a:solidFill>
              </a:defRPr>
            </a:pPr>
            <a:r>
              <a:rPr sz="1650" b="1" i="0" dirty="0">
                <a:solidFill>
                  <a:srgbClr val="111827"/>
                </a:solidFill>
              </a:rPr>
              <a:t>X-axis rotation 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276434B1-D207-4C03-BED9-64A76C674AFF}"/>
              </a:ext>
            </a:extLst>
          </p:cNvPr>
          <p:cNvSpPr>
            <a:spLocks noGrp="1"/>
          </p:cNvSpPr>
          <p:nvPr/>
        </p:nvSpPr>
        <p:spPr>
          <a:xfrm>
            <a:off x="8248650" y="233362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3B82F6"/>
                </a:solidFill>
              </a:defRPr>
            </a:pPr>
            <a:r>
              <a:rPr sz="1350" b="1" i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C206F6F4-7119-4A3A-8C8A-CEFE912970A7}"/>
              </a:ext>
            </a:extLst>
          </p:cNvPr>
          <p:cNvSpPr>
            <a:spLocks noGrp="1"/>
          </p:cNvSpPr>
          <p:nvPr/>
        </p:nvSpPr>
        <p:spPr>
          <a:xfrm>
            <a:off x="8515350" y="2333625"/>
            <a:ext cx="28289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>
                <a:solidFill>
                  <a:srgbClr val="111827"/>
                </a:solidFill>
              </a:rPr>
              <a:t>E₁ and E₄ again show the dominant degradation.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D58D871D-AFE5-40A8-AD60-D81F264A1594}"/>
              </a:ext>
            </a:extLst>
          </p:cNvPr>
          <p:cNvSpPr>
            <a:spLocks noGrp="1"/>
          </p:cNvSpPr>
          <p:nvPr/>
        </p:nvSpPr>
        <p:spPr>
          <a:xfrm>
            <a:off x="8248650" y="300037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3B82F6"/>
                </a:solidFill>
              </a:defRPr>
            </a:pPr>
            <a:r>
              <a:rPr sz="1350" b="1" i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C6054198-1164-4ADD-B4C6-6549C867BB81}"/>
              </a:ext>
            </a:extLst>
          </p:cNvPr>
          <p:cNvSpPr>
            <a:spLocks noGrp="1"/>
          </p:cNvSpPr>
          <p:nvPr/>
        </p:nvSpPr>
        <p:spPr>
          <a:xfrm>
            <a:off x="8515350" y="3000375"/>
            <a:ext cx="28289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>
                <a:solidFill>
                  <a:srgbClr val="111827"/>
                </a:solidFill>
              </a:rPr>
              <a:t>E₂ and E₃ remain near the ideal result.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FC506D96-8E1A-48D8-A249-CAADA4093F35}"/>
              </a:ext>
            </a:extLst>
          </p:cNvPr>
          <p:cNvSpPr>
            <a:spLocks noGrp="1"/>
          </p:cNvSpPr>
          <p:nvPr/>
        </p:nvSpPr>
        <p:spPr>
          <a:xfrm>
            <a:off x="8248650" y="366712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3B82F6"/>
                </a:solidFill>
              </a:defRPr>
            </a:pPr>
            <a:r>
              <a:rPr sz="1350" b="1" i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8C14572C-BBE2-43A8-9142-56D533C84381}"/>
              </a:ext>
            </a:extLst>
          </p:cNvPr>
          <p:cNvSpPr>
            <a:spLocks noGrp="1"/>
          </p:cNvSpPr>
          <p:nvPr/>
        </p:nvSpPr>
        <p:spPr>
          <a:xfrm>
            <a:off x="8515350" y="3667125"/>
            <a:ext cx="28289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>
                <a:solidFill>
                  <a:srgbClr val="111827"/>
                </a:solidFill>
              </a:rPr>
              <a:t>The location pattern is not specific to the constant output value.</a:t>
            </a:r>
          </a:p>
        </p:txBody>
      </p:sp>
      <p:sp>
        <p:nvSpPr>
          <p:cNvPr id="12" name="shape">
            <a:extLst>
              <a:ext uri="{FF2B5EF4-FFF2-40B4-BE49-F238E27FC236}">
                <a16:creationId xmlns:a16="http://schemas.microsoft.com/office/drawing/2014/main" id="{88152238-1903-4231-BCFF-DCF6D3C4D493}"/>
              </a:ext>
            </a:extLst>
          </p:cNvPr>
          <p:cNvSpPr>
            <a:spLocks noGrp="1"/>
          </p:cNvSpPr>
          <p:nvPr/>
        </p:nvSpPr>
        <p:spPr>
          <a:xfrm>
            <a:off x="8248650" y="4572000"/>
            <a:ext cx="3095625" cy="6286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ED59DE84-07BD-4B6C-A25C-C8ACB64FE3BD}"/>
              </a:ext>
            </a:extLst>
          </p:cNvPr>
          <p:cNvSpPr>
            <a:spLocks noGrp="1"/>
          </p:cNvSpPr>
          <p:nvPr/>
        </p:nvSpPr>
        <p:spPr>
          <a:xfrm>
            <a:off x="8401050" y="4676775"/>
            <a:ext cx="2800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 i="0">
                <a:solidFill>
                  <a:srgbClr val="3B82F6"/>
                </a:solidFill>
              </a:defRPr>
            </a:pPr>
            <a:r>
              <a:rPr lang="en-US" dirty="0"/>
              <a:t>Robust pattern across both constant functions</a:t>
            </a:r>
            <a:endParaRPr sz="1275" b="1" i="0" dirty="0">
              <a:solidFill>
                <a:srgbClr val="3B82F6"/>
              </a:solidFill>
            </a:endParaRP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8C102940-156F-443B-9FD3-B2FBB1CBB755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 i="0">
                <a:solidFill>
                  <a:srgbClr val="5F6B7A"/>
                </a:solidFill>
              </a:defRPr>
            </a:pPr>
            <a:r>
              <a:rPr sz="975" b="0" i="0">
                <a:solidFill>
                  <a:srgbClr val="5F6B7A"/>
                </a:solidFill>
              </a:rPr>
              <a:t>Each plotted rotation uses the angle sweep θ = 0°…180°</a:t>
            </a:r>
          </a:p>
        </p:txBody>
      </p:sp>
      <p:sp>
        <p:nvSpPr>
          <p:cNvPr id="15" name="page-number">
            <a:extLst>
              <a:ext uri="{FF2B5EF4-FFF2-40B4-BE49-F238E27FC236}">
                <a16:creationId xmlns:a16="http://schemas.microsoft.com/office/drawing/2014/main" id="{643B2D93-1F0D-4CA7-8FAD-A22D59F14643}"/>
              </a:ext>
            </a:extLst>
          </p:cNvPr>
          <p:cNvSpPr>
            <a:spLocks noGrp="1"/>
          </p:cNvSpPr>
          <p:nvPr/>
        </p:nvSpPr>
        <p:spPr>
          <a:xfrm>
            <a:off x="11334750" y="64865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50" b="0" i="0">
                <a:solidFill>
                  <a:srgbClr val="5F6B7A"/>
                </a:solidFill>
              </a:defRPr>
            </a:pPr>
            <a:r>
              <a:rPr sz="750" b="0" i="0">
                <a:solidFill>
                  <a:srgbClr val="5F6B7A"/>
                </a:solidFill>
              </a:rPr>
              <a:t>17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BE27835-DE30-4B4F-BAB2-E40DE97D8B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1360715"/>
            <a:ext cx="6616959" cy="4136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6979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kicker">
            <a:extLst>
              <a:ext uri="{FF2B5EF4-FFF2-40B4-BE49-F238E27FC236}">
                <a16:creationId xmlns:a16="http://schemas.microsoft.com/office/drawing/2014/main" id="{67509649-FE0B-46AB-BCCD-6F643247F429}"/>
              </a:ext>
            </a:extLst>
          </p:cNvPr>
          <p:cNvSpPr>
            <a:spLocks noGrp="1"/>
          </p:cNvSpPr>
          <p:nvPr/>
        </p:nvSpPr>
        <p:spPr>
          <a:xfrm>
            <a:off x="609600" y="333374"/>
            <a:ext cx="5715000" cy="885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 i="0">
                <a:solidFill>
                  <a:srgbClr val="3B82F6"/>
                </a:solidFill>
              </a:defRPr>
            </a:pPr>
            <a:endParaRPr lang="en-US" sz="4000" dirty="0">
              <a:solidFill>
                <a:srgbClr val="111827"/>
              </a:solidFill>
            </a:endParaRPr>
          </a:p>
          <a:p>
            <a:pPr>
              <a:defRPr sz="900" b="1" i="0">
                <a:solidFill>
                  <a:srgbClr val="3B82F6"/>
                </a:solidFill>
              </a:defRPr>
            </a:pPr>
            <a:endParaRPr lang="en-US" sz="4000" dirty="0">
              <a:solidFill>
                <a:srgbClr val="111827"/>
              </a:solidFill>
            </a:endParaRPr>
          </a:p>
          <a:p>
            <a:pPr>
              <a:defRPr sz="900" b="1" i="0">
                <a:solidFill>
                  <a:srgbClr val="3B82F6"/>
                </a:solidFill>
              </a:defRPr>
            </a:pPr>
            <a:endParaRPr lang="en-US" sz="4000" dirty="0">
              <a:solidFill>
                <a:srgbClr val="111827"/>
              </a:solidFill>
            </a:endParaRPr>
          </a:p>
          <a:p>
            <a:pPr>
              <a:defRPr sz="900" b="1" i="0">
                <a:solidFill>
                  <a:srgbClr val="3B82F6"/>
                </a:solidFill>
              </a:defRPr>
            </a:pPr>
            <a:r>
              <a:rPr lang="en-US" sz="4000" dirty="0">
                <a:solidFill>
                  <a:srgbClr val="111827"/>
                </a:solidFill>
              </a:rPr>
              <a:t>Continued…</a:t>
            </a:r>
            <a:endParaRPr lang="en-US" sz="4000" b="1" i="0" dirty="0">
              <a:solidFill>
                <a:srgbClr val="111827"/>
              </a:solidFill>
            </a:endParaRPr>
          </a:p>
          <a:p>
            <a:pPr algn="l">
              <a:defRPr sz="900" b="1" i="0">
                <a:solidFill>
                  <a:srgbClr val="3B82F6"/>
                </a:solidFill>
              </a:defRPr>
            </a:pPr>
            <a:endParaRPr lang="en-US" sz="4000" b="1" i="0" dirty="0">
              <a:solidFill>
                <a:srgbClr val="111827"/>
              </a:solidFill>
            </a:endParaRPr>
          </a:p>
          <a:p>
            <a:pPr algn="l">
              <a:defRPr sz="900" b="1" i="0">
                <a:solidFill>
                  <a:srgbClr val="3B82F6"/>
                </a:solidFill>
              </a:defRPr>
            </a:pPr>
            <a:endParaRPr lang="en-US" sz="4000" b="1" i="0" dirty="0">
              <a:solidFill>
                <a:srgbClr val="3B82F6"/>
              </a:solidFill>
            </a:endParaRPr>
          </a:p>
          <a:p>
            <a:pPr algn="l">
              <a:defRPr sz="900" b="1" i="0">
                <a:solidFill>
                  <a:srgbClr val="3B82F6"/>
                </a:solidFill>
              </a:defRPr>
            </a:pPr>
            <a:endParaRPr sz="4000" b="1" i="0" dirty="0">
              <a:solidFill>
                <a:srgbClr val="3B82F6"/>
              </a:solidFill>
            </a:endParaRP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3EC22F3B-2A59-45D9-BDBD-E475F78DB3F3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5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0" i="0">
                <a:solidFill>
                  <a:srgbClr val="111827"/>
                </a:solidFill>
              </a:defRPr>
            </a:pPr>
            <a:endParaRPr sz="2850" b="0" i="0" dirty="0">
              <a:solidFill>
                <a:srgbClr val="111827"/>
              </a:solidFill>
            </a:endParaRPr>
          </a:p>
        </p:txBody>
      </p:sp>
      <p:sp>
        <p:nvSpPr>
          <p:cNvPr id="4" name="shape">
            <a:extLst>
              <a:ext uri="{FF2B5EF4-FFF2-40B4-BE49-F238E27FC236}">
                <a16:creationId xmlns:a16="http://schemas.microsoft.com/office/drawing/2014/main" id="{31CCEA4A-2F6B-4F66-8406-4ABB4CD7875E}"/>
              </a:ext>
            </a:extLst>
          </p:cNvPr>
          <p:cNvSpPr>
            <a:spLocks noGrp="1"/>
          </p:cNvSpPr>
          <p:nvPr/>
        </p:nvSpPr>
        <p:spPr>
          <a:xfrm>
            <a:off x="8001000" y="1540564"/>
            <a:ext cx="3562350" cy="3888685"/>
          </a:xfrm>
          <a:prstGeom prst="roundRect">
            <a:avLst>
              <a:gd name="adj" fmla="val 2674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FF17ADB9-7861-483E-A052-E0C27FEC25F7}"/>
              </a:ext>
            </a:extLst>
          </p:cNvPr>
          <p:cNvSpPr>
            <a:spLocks noGrp="1"/>
          </p:cNvSpPr>
          <p:nvPr/>
        </p:nvSpPr>
        <p:spPr>
          <a:xfrm>
            <a:off x="8248650" y="1638300"/>
            <a:ext cx="3095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 i="0">
                <a:solidFill>
                  <a:srgbClr val="111827"/>
                </a:solidFill>
              </a:defRPr>
            </a:pPr>
            <a:r>
              <a:rPr sz="1650" b="1" i="0" dirty="0">
                <a:solidFill>
                  <a:srgbClr val="111827"/>
                </a:solidFill>
              </a:rPr>
              <a:t>Y-axis rotation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50C87B62-B553-4F3E-851E-86DD987E0EFA}"/>
              </a:ext>
            </a:extLst>
          </p:cNvPr>
          <p:cNvSpPr>
            <a:spLocks noGrp="1"/>
          </p:cNvSpPr>
          <p:nvPr/>
        </p:nvSpPr>
        <p:spPr>
          <a:xfrm>
            <a:off x="8248650" y="233362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3B82F6"/>
                </a:solidFill>
              </a:defRPr>
            </a:pPr>
            <a:r>
              <a:rPr sz="1350" b="1" i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8E55F87A-9D8E-40C5-B4BF-542431F4175B}"/>
              </a:ext>
            </a:extLst>
          </p:cNvPr>
          <p:cNvSpPr>
            <a:spLocks noGrp="1"/>
          </p:cNvSpPr>
          <p:nvPr/>
        </p:nvSpPr>
        <p:spPr>
          <a:xfrm>
            <a:off x="8515350" y="2333625"/>
            <a:ext cx="28289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>
                <a:solidFill>
                  <a:srgbClr val="111827"/>
                </a:solidFill>
              </a:rPr>
              <a:t>All locations decrease along nearly the same trajectory.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7ACB879B-3678-4E75-B5D6-861AA5AD975C}"/>
              </a:ext>
            </a:extLst>
          </p:cNvPr>
          <p:cNvSpPr>
            <a:spLocks noGrp="1"/>
          </p:cNvSpPr>
          <p:nvPr/>
        </p:nvSpPr>
        <p:spPr>
          <a:xfrm>
            <a:off x="8248650" y="300037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3B82F6"/>
                </a:solidFill>
              </a:defRPr>
            </a:pPr>
            <a:r>
              <a:rPr sz="1350" b="1" i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0B78E183-3F59-4839-8EB2-8E0C370F1375}"/>
              </a:ext>
            </a:extLst>
          </p:cNvPr>
          <p:cNvSpPr>
            <a:spLocks noGrp="1"/>
          </p:cNvSpPr>
          <p:nvPr/>
        </p:nvSpPr>
        <p:spPr>
          <a:xfrm>
            <a:off x="8515350" y="3000375"/>
            <a:ext cx="28289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>
                <a:solidFill>
                  <a:srgbClr val="111827"/>
                </a:solidFill>
              </a:rPr>
              <a:t>Differences are consistent with finite-shot fluctuations.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4FAEE44C-D478-4EAB-918E-B0F035F0AD4C}"/>
              </a:ext>
            </a:extLst>
          </p:cNvPr>
          <p:cNvSpPr>
            <a:spLocks noGrp="1"/>
          </p:cNvSpPr>
          <p:nvPr/>
        </p:nvSpPr>
        <p:spPr>
          <a:xfrm>
            <a:off x="8248650" y="366712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3B82F6"/>
                </a:solidFill>
              </a:defRPr>
            </a:pPr>
            <a:r>
              <a:rPr sz="1350" b="1" i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13EB8561-3A7B-4659-8F98-BB4606F8FACA}"/>
              </a:ext>
            </a:extLst>
          </p:cNvPr>
          <p:cNvSpPr>
            <a:spLocks noGrp="1"/>
          </p:cNvSpPr>
          <p:nvPr/>
        </p:nvSpPr>
        <p:spPr>
          <a:xfrm>
            <a:off x="8515350" y="3667125"/>
            <a:ext cx="28289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 dirty="0">
                <a:solidFill>
                  <a:srgbClr val="111827"/>
                </a:solidFill>
              </a:rPr>
              <a:t>Angle remains more important than position for Y rotations.</a:t>
            </a:r>
          </a:p>
        </p:txBody>
      </p:sp>
      <p:sp>
        <p:nvSpPr>
          <p:cNvPr id="12" name="shape">
            <a:extLst>
              <a:ext uri="{FF2B5EF4-FFF2-40B4-BE49-F238E27FC236}">
                <a16:creationId xmlns:a16="http://schemas.microsoft.com/office/drawing/2014/main" id="{0F6C49D8-796D-45E2-80D1-D59CD12F7584}"/>
              </a:ext>
            </a:extLst>
          </p:cNvPr>
          <p:cNvSpPr>
            <a:spLocks noGrp="1"/>
          </p:cNvSpPr>
          <p:nvPr/>
        </p:nvSpPr>
        <p:spPr>
          <a:xfrm>
            <a:off x="8248650" y="4572000"/>
            <a:ext cx="3095625" cy="6286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85418096-E40A-42F6-B45D-96CB82C9E978}"/>
              </a:ext>
            </a:extLst>
          </p:cNvPr>
          <p:cNvSpPr>
            <a:spLocks noGrp="1"/>
          </p:cNvSpPr>
          <p:nvPr/>
        </p:nvSpPr>
        <p:spPr>
          <a:xfrm>
            <a:off x="8401050" y="4676775"/>
            <a:ext cx="2800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 i="0">
                <a:solidFill>
                  <a:srgbClr val="EA7A14"/>
                </a:solidFill>
              </a:defRPr>
            </a:pPr>
            <a:r>
              <a:rPr lang="en-US" dirty="0"/>
              <a:t>Y response is location-independent</a:t>
            </a:r>
            <a:endParaRPr sz="1275" b="1" i="0" dirty="0">
              <a:solidFill>
                <a:srgbClr val="EA7A14"/>
              </a:solidFill>
            </a:endParaRP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5756363A-BB37-4DAA-85DE-85D3B470745E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 i="0">
                <a:solidFill>
                  <a:srgbClr val="5F6B7A"/>
                </a:solidFill>
              </a:defRPr>
            </a:pPr>
            <a:r>
              <a:rPr sz="975" b="0" i="0">
                <a:solidFill>
                  <a:srgbClr val="5F6B7A"/>
                </a:solidFill>
              </a:rPr>
              <a:t>Each plotted rotation uses the angle sweep θ = 0°…180°</a:t>
            </a:r>
          </a:p>
        </p:txBody>
      </p:sp>
      <p:sp>
        <p:nvSpPr>
          <p:cNvPr id="15" name="page-number">
            <a:extLst>
              <a:ext uri="{FF2B5EF4-FFF2-40B4-BE49-F238E27FC236}">
                <a16:creationId xmlns:a16="http://schemas.microsoft.com/office/drawing/2014/main" id="{E1EE8C9B-D7D6-4B2A-8776-397F80210137}"/>
              </a:ext>
            </a:extLst>
          </p:cNvPr>
          <p:cNvSpPr>
            <a:spLocks noGrp="1"/>
          </p:cNvSpPr>
          <p:nvPr/>
        </p:nvSpPr>
        <p:spPr>
          <a:xfrm>
            <a:off x="11334750" y="64865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50" b="0" i="0">
                <a:solidFill>
                  <a:srgbClr val="5F6B7A"/>
                </a:solidFill>
              </a:defRPr>
            </a:pPr>
            <a:r>
              <a:rPr sz="750" b="0" i="0">
                <a:solidFill>
                  <a:srgbClr val="5F6B7A"/>
                </a:solidFill>
              </a:rPr>
              <a:t>18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C9022A7-32E7-47F5-AAC8-984A4BCC40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341782"/>
            <a:ext cx="7218006" cy="388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9010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kicker">
            <a:extLst>
              <a:ext uri="{FF2B5EF4-FFF2-40B4-BE49-F238E27FC236}">
                <a16:creationId xmlns:a16="http://schemas.microsoft.com/office/drawing/2014/main" id="{B546C39B-24F7-4F60-9866-9365FDC9C349}"/>
              </a:ext>
            </a:extLst>
          </p:cNvPr>
          <p:cNvSpPr>
            <a:spLocks noGrp="1"/>
          </p:cNvSpPr>
          <p:nvPr/>
        </p:nvSpPr>
        <p:spPr>
          <a:xfrm>
            <a:off x="695738" y="218661"/>
            <a:ext cx="5628861" cy="6046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 i="0">
                <a:solidFill>
                  <a:srgbClr val="3B82F6"/>
                </a:solidFill>
              </a:defRPr>
            </a:pPr>
            <a:endParaRPr lang="en-US" sz="4000" dirty="0">
              <a:solidFill>
                <a:srgbClr val="111827"/>
              </a:solidFill>
            </a:endParaRPr>
          </a:p>
          <a:p>
            <a:pPr>
              <a:defRPr sz="900" b="1" i="0">
                <a:solidFill>
                  <a:srgbClr val="3B82F6"/>
                </a:solidFill>
              </a:defRPr>
            </a:pPr>
            <a:endParaRPr lang="en-US" sz="4000" dirty="0">
              <a:solidFill>
                <a:srgbClr val="111827"/>
              </a:solidFill>
            </a:endParaRPr>
          </a:p>
          <a:p>
            <a:pPr>
              <a:defRPr sz="900" b="1" i="0">
                <a:solidFill>
                  <a:srgbClr val="3B82F6"/>
                </a:solidFill>
              </a:defRPr>
            </a:pPr>
            <a:endParaRPr lang="en-US" sz="4000" dirty="0">
              <a:solidFill>
                <a:srgbClr val="111827"/>
              </a:solidFill>
            </a:endParaRPr>
          </a:p>
          <a:p>
            <a:pPr>
              <a:defRPr sz="900" b="1" i="0">
                <a:solidFill>
                  <a:srgbClr val="3B82F6"/>
                </a:solidFill>
              </a:defRPr>
            </a:pPr>
            <a:r>
              <a:rPr lang="en-US" sz="4000" dirty="0">
                <a:solidFill>
                  <a:srgbClr val="111827"/>
                </a:solidFill>
              </a:rPr>
              <a:t>Continued…</a:t>
            </a:r>
            <a:endParaRPr lang="en-US" sz="4000" b="1" i="0" dirty="0">
              <a:solidFill>
                <a:srgbClr val="111827"/>
              </a:solidFill>
            </a:endParaRPr>
          </a:p>
          <a:p>
            <a:pPr algn="l">
              <a:defRPr sz="900" b="1" i="0">
                <a:solidFill>
                  <a:srgbClr val="3B82F6"/>
                </a:solidFill>
              </a:defRPr>
            </a:pPr>
            <a:endParaRPr lang="en-US" sz="4000" b="1" i="0" dirty="0">
              <a:solidFill>
                <a:srgbClr val="111827"/>
              </a:solidFill>
            </a:endParaRPr>
          </a:p>
          <a:p>
            <a:pPr algn="l">
              <a:defRPr sz="900" b="1" i="0">
                <a:solidFill>
                  <a:srgbClr val="3B82F6"/>
                </a:solidFill>
              </a:defRPr>
            </a:pPr>
            <a:endParaRPr lang="en-US" sz="4000" b="1" i="0" dirty="0">
              <a:solidFill>
                <a:srgbClr val="3B82F6"/>
              </a:solidFill>
            </a:endParaRPr>
          </a:p>
          <a:p>
            <a:pPr algn="l">
              <a:defRPr sz="900" b="1" i="0">
                <a:solidFill>
                  <a:srgbClr val="3B82F6"/>
                </a:solidFill>
              </a:defRPr>
            </a:pPr>
            <a:endParaRPr sz="4000" b="1" i="0" dirty="0">
              <a:solidFill>
                <a:srgbClr val="3B82F6"/>
              </a:solidFill>
            </a:endParaRP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7E163FFE-E510-489E-B49C-AAD9F47469B6}"/>
              </a:ext>
            </a:extLst>
          </p:cNvPr>
          <p:cNvSpPr>
            <a:spLocks noGrp="1"/>
          </p:cNvSpPr>
          <p:nvPr/>
        </p:nvSpPr>
        <p:spPr>
          <a:xfrm>
            <a:off x="609600" y="4461014"/>
            <a:ext cx="10273748" cy="11048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0" i="0">
                <a:solidFill>
                  <a:srgbClr val="111827"/>
                </a:solidFill>
              </a:defRPr>
            </a:pPr>
            <a:endParaRPr sz="2850" b="0" i="0" dirty="0">
              <a:solidFill>
                <a:srgbClr val="111827"/>
              </a:solidFill>
            </a:endParaRPr>
          </a:p>
        </p:txBody>
      </p:sp>
      <p:sp>
        <p:nvSpPr>
          <p:cNvPr id="4" name="shape">
            <a:extLst>
              <a:ext uri="{FF2B5EF4-FFF2-40B4-BE49-F238E27FC236}">
                <a16:creationId xmlns:a16="http://schemas.microsoft.com/office/drawing/2014/main" id="{2DA37ADA-D009-4F20-833B-35F1F78AB067}"/>
              </a:ext>
            </a:extLst>
          </p:cNvPr>
          <p:cNvSpPr>
            <a:spLocks noGrp="1"/>
          </p:cNvSpPr>
          <p:nvPr/>
        </p:nvSpPr>
        <p:spPr>
          <a:xfrm>
            <a:off x="8020050" y="1428750"/>
            <a:ext cx="3562350" cy="2822714"/>
          </a:xfrm>
          <a:prstGeom prst="roundRect">
            <a:avLst>
              <a:gd name="adj" fmla="val 2674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D1AAD06F-C0D9-475D-89D5-DCABD455CD31}"/>
              </a:ext>
            </a:extLst>
          </p:cNvPr>
          <p:cNvSpPr>
            <a:spLocks noGrp="1"/>
          </p:cNvSpPr>
          <p:nvPr/>
        </p:nvSpPr>
        <p:spPr>
          <a:xfrm>
            <a:off x="8248650" y="1638300"/>
            <a:ext cx="3095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 i="0">
                <a:solidFill>
                  <a:srgbClr val="111827"/>
                </a:solidFill>
              </a:defRPr>
            </a:pPr>
            <a:r>
              <a:rPr sz="1650" b="1" i="0" dirty="0">
                <a:solidFill>
                  <a:srgbClr val="111827"/>
                </a:solidFill>
              </a:rPr>
              <a:t>Z-axis rotation · constant </a:t>
            </a:r>
            <a:r>
              <a:rPr lang="en-US" sz="1650" b="1" i="0" dirty="0">
                <a:solidFill>
                  <a:srgbClr val="111827"/>
                </a:solidFill>
              </a:rPr>
              <a:t>0</a:t>
            </a:r>
            <a:endParaRPr sz="1650" b="1" i="0" dirty="0">
              <a:solidFill>
                <a:srgbClr val="111827"/>
              </a:solidFill>
            </a:endParaRP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49BEF24C-60A1-42E0-B9A3-57CA5FDA2F10}"/>
              </a:ext>
            </a:extLst>
          </p:cNvPr>
          <p:cNvSpPr>
            <a:spLocks noGrp="1"/>
          </p:cNvSpPr>
          <p:nvPr/>
        </p:nvSpPr>
        <p:spPr>
          <a:xfrm>
            <a:off x="8248650" y="233362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3B82F6"/>
                </a:solidFill>
              </a:defRPr>
            </a:pPr>
            <a:r>
              <a:rPr sz="1350" b="1" i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DA5BF08C-E5A2-4364-B303-FF7238949F82}"/>
              </a:ext>
            </a:extLst>
          </p:cNvPr>
          <p:cNvSpPr>
            <a:spLocks noGrp="1"/>
          </p:cNvSpPr>
          <p:nvPr/>
        </p:nvSpPr>
        <p:spPr>
          <a:xfrm>
            <a:off x="8515350" y="2333625"/>
            <a:ext cx="28289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>
                <a:solidFill>
                  <a:srgbClr val="111827"/>
                </a:solidFill>
              </a:rPr>
              <a:t>E₂ and E₃ are again the vulnerable positions.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2A0B6F35-8214-4D01-90BA-35CA7363FEC5}"/>
              </a:ext>
            </a:extLst>
          </p:cNvPr>
          <p:cNvSpPr>
            <a:spLocks noGrp="1"/>
          </p:cNvSpPr>
          <p:nvPr/>
        </p:nvSpPr>
        <p:spPr>
          <a:xfrm>
            <a:off x="8248650" y="300037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3B82F6"/>
                </a:solidFill>
              </a:defRPr>
            </a:pPr>
            <a:r>
              <a:rPr sz="1350" b="1" i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832E147D-34D9-4791-9486-8A9BE3ACB53D}"/>
              </a:ext>
            </a:extLst>
          </p:cNvPr>
          <p:cNvSpPr>
            <a:spLocks noGrp="1"/>
          </p:cNvSpPr>
          <p:nvPr/>
        </p:nvSpPr>
        <p:spPr>
          <a:xfrm>
            <a:off x="8515350" y="3000375"/>
            <a:ext cx="28289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>
                <a:solidFill>
                  <a:srgbClr val="111827"/>
                </a:solidFill>
              </a:rPr>
              <a:t>E₁ and E₄ stay near P(0ⁿ)=1.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AB504E94-248C-4507-8264-D7490F209BAC}"/>
              </a:ext>
            </a:extLst>
          </p:cNvPr>
          <p:cNvSpPr>
            <a:spLocks noGrp="1"/>
          </p:cNvSpPr>
          <p:nvPr/>
        </p:nvSpPr>
        <p:spPr>
          <a:xfrm>
            <a:off x="8248650" y="366712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3B82F6"/>
                </a:solidFill>
              </a:defRPr>
            </a:pPr>
            <a:r>
              <a:rPr sz="1350" b="1" i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7A1CEB8C-04BD-4425-945B-D91BCEFEEA9A}"/>
              </a:ext>
            </a:extLst>
          </p:cNvPr>
          <p:cNvSpPr>
            <a:spLocks noGrp="1"/>
          </p:cNvSpPr>
          <p:nvPr/>
        </p:nvSpPr>
        <p:spPr>
          <a:xfrm>
            <a:off x="8515350" y="3667125"/>
            <a:ext cx="28289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>
                <a:solidFill>
                  <a:srgbClr val="111827"/>
                </a:solidFill>
              </a:rPr>
              <a:t>The same phase-sensitive mechanism holds for both constant oracles.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3C9575C8-3DAD-4BA0-8C60-32F623320627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 i="0">
                <a:solidFill>
                  <a:srgbClr val="5F6B7A"/>
                </a:solidFill>
              </a:defRPr>
            </a:pPr>
            <a:r>
              <a:rPr sz="975" b="0" i="0">
                <a:solidFill>
                  <a:srgbClr val="5F6B7A"/>
                </a:solidFill>
              </a:rPr>
              <a:t>Each plotted rotation uses the angle sweep θ = 0°…180°</a:t>
            </a:r>
          </a:p>
        </p:txBody>
      </p:sp>
      <p:sp>
        <p:nvSpPr>
          <p:cNvPr id="15" name="page-number">
            <a:extLst>
              <a:ext uri="{FF2B5EF4-FFF2-40B4-BE49-F238E27FC236}">
                <a16:creationId xmlns:a16="http://schemas.microsoft.com/office/drawing/2014/main" id="{0BB51516-78AD-4843-A4D3-10821613F557}"/>
              </a:ext>
            </a:extLst>
          </p:cNvPr>
          <p:cNvSpPr>
            <a:spLocks noGrp="1"/>
          </p:cNvSpPr>
          <p:nvPr/>
        </p:nvSpPr>
        <p:spPr>
          <a:xfrm>
            <a:off x="11334750" y="64865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50" b="0" i="0">
                <a:solidFill>
                  <a:srgbClr val="5F6B7A"/>
                </a:solidFill>
              </a:defRPr>
            </a:pPr>
            <a:r>
              <a:rPr sz="750" b="0" i="0">
                <a:solidFill>
                  <a:srgbClr val="5F6B7A"/>
                </a:solidFill>
              </a:rPr>
              <a:t>19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6D17008-F3A3-4298-A701-DA945257CD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338" y="1126545"/>
            <a:ext cx="6953250" cy="3912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380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kicker">
            <a:extLst>
              <a:ext uri="{FF2B5EF4-FFF2-40B4-BE49-F238E27FC236}">
                <a16:creationId xmlns:a16="http://schemas.microsoft.com/office/drawing/2014/main" id="{2B027F7B-2F5E-456A-8298-9C167FAECB79}"/>
              </a:ext>
            </a:extLst>
          </p:cNvPr>
          <p:cNvSpPr>
            <a:spLocks noGrp="1"/>
          </p:cNvSpPr>
          <p:nvPr/>
        </p:nvSpPr>
        <p:spPr>
          <a:xfrm>
            <a:off x="609600" y="178904"/>
            <a:ext cx="5715000" cy="7454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 i="0">
                <a:solidFill>
                  <a:srgbClr val="3B82F6"/>
                </a:solidFill>
              </a:defRPr>
            </a:pPr>
            <a:endParaRPr lang="en-US" sz="4000" dirty="0">
              <a:solidFill>
                <a:srgbClr val="111827"/>
              </a:solidFill>
            </a:endParaRPr>
          </a:p>
          <a:p>
            <a:pPr>
              <a:defRPr sz="900" b="1" i="0">
                <a:solidFill>
                  <a:srgbClr val="3B82F6"/>
                </a:solidFill>
              </a:defRPr>
            </a:pPr>
            <a:endParaRPr lang="en-US" sz="4000" dirty="0">
              <a:solidFill>
                <a:srgbClr val="111827"/>
              </a:solidFill>
            </a:endParaRPr>
          </a:p>
          <a:p>
            <a:pPr>
              <a:defRPr sz="900" b="1" i="0">
                <a:solidFill>
                  <a:srgbClr val="3B82F6"/>
                </a:solidFill>
              </a:defRPr>
            </a:pPr>
            <a:endParaRPr lang="en-US" sz="4000" dirty="0">
              <a:solidFill>
                <a:srgbClr val="111827"/>
              </a:solidFill>
            </a:endParaRPr>
          </a:p>
          <a:p>
            <a:pPr>
              <a:defRPr sz="900" b="1" i="0">
                <a:solidFill>
                  <a:srgbClr val="3B82F6"/>
                </a:solidFill>
              </a:defRPr>
            </a:pPr>
            <a:r>
              <a:rPr lang="en-US" sz="4000" dirty="0">
                <a:solidFill>
                  <a:srgbClr val="111827"/>
                </a:solidFill>
              </a:rPr>
              <a:t>Continued…</a:t>
            </a:r>
            <a:endParaRPr lang="en-US" sz="4000" b="1" i="0" dirty="0">
              <a:solidFill>
                <a:srgbClr val="111827"/>
              </a:solidFill>
            </a:endParaRPr>
          </a:p>
          <a:p>
            <a:pPr algn="l">
              <a:defRPr sz="900" b="1" i="0">
                <a:solidFill>
                  <a:srgbClr val="3B82F6"/>
                </a:solidFill>
              </a:defRPr>
            </a:pPr>
            <a:endParaRPr lang="en-US" sz="4000" b="1" i="0" dirty="0">
              <a:solidFill>
                <a:srgbClr val="111827"/>
              </a:solidFill>
            </a:endParaRPr>
          </a:p>
          <a:p>
            <a:pPr algn="l">
              <a:defRPr sz="900" b="1" i="0">
                <a:solidFill>
                  <a:srgbClr val="3B82F6"/>
                </a:solidFill>
              </a:defRPr>
            </a:pPr>
            <a:endParaRPr lang="en-US" sz="4000" b="1" i="0" dirty="0">
              <a:solidFill>
                <a:srgbClr val="3B82F6"/>
              </a:solidFill>
            </a:endParaRPr>
          </a:p>
          <a:p>
            <a:pPr algn="l">
              <a:defRPr sz="900" b="1" i="0">
                <a:solidFill>
                  <a:srgbClr val="3B82F6"/>
                </a:solidFill>
              </a:defRPr>
            </a:pPr>
            <a:endParaRPr sz="4000" b="1" i="0" dirty="0">
              <a:solidFill>
                <a:srgbClr val="3B82F6"/>
              </a:solidFill>
            </a:endParaRP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A987D7A9-38FF-4C2A-A665-B1B751CE9764}"/>
              </a:ext>
            </a:extLst>
          </p:cNvPr>
          <p:cNvSpPr>
            <a:spLocks noGrp="1"/>
          </p:cNvSpPr>
          <p:nvPr/>
        </p:nvSpPr>
        <p:spPr>
          <a:xfrm>
            <a:off x="387626" y="5000625"/>
            <a:ext cx="8127724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0" i="0">
                <a:solidFill>
                  <a:srgbClr val="111827"/>
                </a:solidFill>
              </a:defRPr>
            </a:pPr>
            <a:endParaRPr sz="2850" b="0" i="0" dirty="0">
              <a:solidFill>
                <a:srgbClr val="111827"/>
              </a:solidFill>
            </a:endParaRPr>
          </a:p>
        </p:txBody>
      </p:sp>
      <p:sp>
        <p:nvSpPr>
          <p:cNvPr id="4" name="shape">
            <a:extLst>
              <a:ext uri="{FF2B5EF4-FFF2-40B4-BE49-F238E27FC236}">
                <a16:creationId xmlns:a16="http://schemas.microsoft.com/office/drawing/2014/main" id="{F018C003-B978-47DD-A75B-277B69DE8DF5}"/>
              </a:ext>
            </a:extLst>
          </p:cNvPr>
          <p:cNvSpPr>
            <a:spLocks noGrp="1"/>
          </p:cNvSpPr>
          <p:nvPr/>
        </p:nvSpPr>
        <p:spPr>
          <a:xfrm>
            <a:off x="8020050" y="1428750"/>
            <a:ext cx="3562350" cy="3790950"/>
          </a:xfrm>
          <a:prstGeom prst="roundRect">
            <a:avLst>
              <a:gd name="adj" fmla="val 2674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3C6BE9AB-E5EF-480D-B36E-82C445728BD5}"/>
              </a:ext>
            </a:extLst>
          </p:cNvPr>
          <p:cNvSpPr>
            <a:spLocks noGrp="1"/>
          </p:cNvSpPr>
          <p:nvPr/>
        </p:nvSpPr>
        <p:spPr>
          <a:xfrm>
            <a:off x="8248650" y="1638300"/>
            <a:ext cx="3095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 i="0">
                <a:solidFill>
                  <a:srgbClr val="111827"/>
                </a:solidFill>
              </a:defRPr>
            </a:pPr>
            <a:r>
              <a:rPr sz="1650" b="1" i="0">
                <a:solidFill>
                  <a:srgbClr val="111827"/>
                </a:solidFill>
              </a:rPr>
              <a:t>X-axis rotation · balanced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7614C2DB-0FE1-4473-90F4-6096D12ED38A}"/>
              </a:ext>
            </a:extLst>
          </p:cNvPr>
          <p:cNvSpPr>
            <a:spLocks noGrp="1"/>
          </p:cNvSpPr>
          <p:nvPr/>
        </p:nvSpPr>
        <p:spPr>
          <a:xfrm>
            <a:off x="8248650" y="233362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3B82F6"/>
                </a:solidFill>
              </a:defRPr>
            </a:pPr>
            <a:r>
              <a:rPr sz="1350" b="1" i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67E0D61B-D228-411B-A5AE-87B1A84ED50F}"/>
              </a:ext>
            </a:extLst>
          </p:cNvPr>
          <p:cNvSpPr>
            <a:spLocks noGrp="1"/>
          </p:cNvSpPr>
          <p:nvPr/>
        </p:nvSpPr>
        <p:spPr>
          <a:xfrm>
            <a:off x="8515350" y="2333625"/>
            <a:ext cx="28289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>
                <a:solidFill>
                  <a:srgbClr val="111827"/>
                </a:solidFill>
              </a:rPr>
              <a:t>P(0ⁿ) remains approximately zero for all locations and angles.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3873C81A-F4A7-42F8-8E74-1F0AF7EA9EF6}"/>
              </a:ext>
            </a:extLst>
          </p:cNvPr>
          <p:cNvSpPr>
            <a:spLocks noGrp="1"/>
          </p:cNvSpPr>
          <p:nvPr/>
        </p:nvSpPr>
        <p:spPr>
          <a:xfrm>
            <a:off x="8248650" y="300037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3B82F6"/>
                </a:solidFill>
              </a:defRPr>
            </a:pPr>
            <a:r>
              <a:rPr sz="1350" b="1" i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7772024D-F17A-4E6F-931B-933C50C08DE6}"/>
              </a:ext>
            </a:extLst>
          </p:cNvPr>
          <p:cNvSpPr>
            <a:spLocks noGrp="1"/>
          </p:cNvSpPr>
          <p:nvPr/>
        </p:nvSpPr>
        <p:spPr>
          <a:xfrm>
            <a:off x="8515350" y="3000375"/>
            <a:ext cx="28289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>
                <a:solidFill>
                  <a:srgbClr val="111827"/>
                </a:solidFill>
              </a:rPr>
              <a:t>All curves overlap with the ideal balanced result.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E3FF2CF2-D3E0-4886-8F90-0AAFE442F501}"/>
              </a:ext>
            </a:extLst>
          </p:cNvPr>
          <p:cNvSpPr>
            <a:spLocks noGrp="1"/>
          </p:cNvSpPr>
          <p:nvPr/>
        </p:nvSpPr>
        <p:spPr>
          <a:xfrm>
            <a:off x="8248650" y="366712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3B82F6"/>
                </a:solidFill>
              </a:defRPr>
            </a:pPr>
            <a:r>
              <a:rPr sz="1350" b="1" i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B4F0ABC1-E05D-41B8-98D7-AA90A4069ECE}"/>
              </a:ext>
            </a:extLst>
          </p:cNvPr>
          <p:cNvSpPr>
            <a:spLocks noGrp="1"/>
          </p:cNvSpPr>
          <p:nvPr/>
        </p:nvSpPr>
        <p:spPr>
          <a:xfrm>
            <a:off x="8515350" y="3667125"/>
            <a:ext cx="28289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>
                <a:solidFill>
                  <a:srgbClr val="111827"/>
                </a:solidFill>
              </a:rPr>
              <a:t>This metric does not reveal changes among nonzero bit strings.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959CF488-39AF-4636-AFEA-26696930BF73}"/>
              </a:ext>
            </a:extLst>
          </p:cNvPr>
          <p:cNvSpPr>
            <a:spLocks noGrp="1"/>
          </p:cNvSpPr>
          <p:nvPr/>
        </p:nvSpPr>
        <p:spPr>
          <a:xfrm>
            <a:off x="8401050" y="4676775"/>
            <a:ext cx="2800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 i="0">
                <a:solidFill>
                  <a:srgbClr val="3B82F6"/>
                </a:solidFill>
              </a:defRPr>
            </a:pPr>
            <a:endParaRPr sz="1275" b="1" i="0" dirty="0">
              <a:solidFill>
                <a:srgbClr val="3B82F6"/>
              </a:solidFill>
            </a:endParaRP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24F7D73E-6F76-4AE9-BF4C-FB40CBB640D4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 i="0">
                <a:solidFill>
                  <a:srgbClr val="5F6B7A"/>
                </a:solidFill>
              </a:defRPr>
            </a:pPr>
            <a:r>
              <a:rPr sz="975" b="0" i="0">
                <a:solidFill>
                  <a:srgbClr val="5F6B7A"/>
                </a:solidFill>
              </a:rPr>
              <a:t>Each plotted rotation uses the angle sweep θ = 0°…180°</a:t>
            </a:r>
          </a:p>
        </p:txBody>
      </p:sp>
      <p:sp>
        <p:nvSpPr>
          <p:cNvPr id="15" name="page-number">
            <a:extLst>
              <a:ext uri="{FF2B5EF4-FFF2-40B4-BE49-F238E27FC236}">
                <a16:creationId xmlns:a16="http://schemas.microsoft.com/office/drawing/2014/main" id="{664DFE16-9EAD-4547-8B56-4DBF89A3FD1F}"/>
              </a:ext>
            </a:extLst>
          </p:cNvPr>
          <p:cNvSpPr>
            <a:spLocks noGrp="1"/>
          </p:cNvSpPr>
          <p:nvPr/>
        </p:nvSpPr>
        <p:spPr>
          <a:xfrm>
            <a:off x="11334750" y="64865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50" b="0" i="0">
                <a:solidFill>
                  <a:srgbClr val="5F6B7A"/>
                </a:solidFill>
              </a:defRPr>
            </a:pPr>
            <a:r>
              <a:rPr sz="750" b="0" i="0">
                <a:solidFill>
                  <a:srgbClr val="5F6B7A"/>
                </a:solidFill>
              </a:rPr>
              <a:t>20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3ABDA42-CB33-4114-953D-87031A5F76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417" y="1428750"/>
            <a:ext cx="6838950" cy="4144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3039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kicker">
            <a:extLst>
              <a:ext uri="{FF2B5EF4-FFF2-40B4-BE49-F238E27FC236}">
                <a16:creationId xmlns:a16="http://schemas.microsoft.com/office/drawing/2014/main" id="{7ABE75C2-0E06-4B6B-8D3C-648BFD76677E}"/>
              </a:ext>
            </a:extLst>
          </p:cNvPr>
          <p:cNvSpPr>
            <a:spLocks noGrp="1"/>
          </p:cNvSpPr>
          <p:nvPr/>
        </p:nvSpPr>
        <p:spPr>
          <a:xfrm>
            <a:off x="609600" y="188843"/>
            <a:ext cx="5715000" cy="8945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 i="0">
                <a:solidFill>
                  <a:srgbClr val="3B82F6"/>
                </a:solidFill>
              </a:defRPr>
            </a:pPr>
            <a:endParaRPr lang="en-US" sz="4000" dirty="0">
              <a:solidFill>
                <a:srgbClr val="111827"/>
              </a:solidFill>
            </a:endParaRPr>
          </a:p>
          <a:p>
            <a:pPr>
              <a:defRPr sz="900" b="1" i="0">
                <a:solidFill>
                  <a:srgbClr val="3B82F6"/>
                </a:solidFill>
              </a:defRPr>
            </a:pPr>
            <a:endParaRPr lang="en-US" sz="4000" dirty="0">
              <a:solidFill>
                <a:srgbClr val="111827"/>
              </a:solidFill>
            </a:endParaRPr>
          </a:p>
          <a:p>
            <a:pPr>
              <a:defRPr sz="900" b="1" i="0">
                <a:solidFill>
                  <a:srgbClr val="3B82F6"/>
                </a:solidFill>
              </a:defRPr>
            </a:pPr>
            <a:endParaRPr lang="en-US" sz="4000" dirty="0">
              <a:solidFill>
                <a:srgbClr val="111827"/>
              </a:solidFill>
            </a:endParaRPr>
          </a:p>
          <a:p>
            <a:pPr>
              <a:defRPr sz="900" b="1" i="0">
                <a:solidFill>
                  <a:srgbClr val="3B82F6"/>
                </a:solidFill>
              </a:defRPr>
            </a:pPr>
            <a:r>
              <a:rPr lang="en-US" sz="4000" dirty="0">
                <a:solidFill>
                  <a:srgbClr val="111827"/>
                </a:solidFill>
              </a:rPr>
              <a:t>Continued…</a:t>
            </a:r>
            <a:endParaRPr lang="en-US" sz="4000" b="1" i="0" dirty="0">
              <a:solidFill>
                <a:srgbClr val="111827"/>
              </a:solidFill>
            </a:endParaRPr>
          </a:p>
          <a:p>
            <a:pPr algn="l">
              <a:defRPr sz="900" b="1" i="0">
                <a:solidFill>
                  <a:srgbClr val="3B82F6"/>
                </a:solidFill>
              </a:defRPr>
            </a:pPr>
            <a:endParaRPr lang="en-US" sz="4000" b="1" i="0" dirty="0">
              <a:solidFill>
                <a:srgbClr val="111827"/>
              </a:solidFill>
            </a:endParaRPr>
          </a:p>
          <a:p>
            <a:pPr algn="l">
              <a:defRPr sz="900" b="1" i="0">
                <a:solidFill>
                  <a:srgbClr val="3B82F6"/>
                </a:solidFill>
              </a:defRPr>
            </a:pPr>
            <a:endParaRPr lang="en-US" sz="4000" b="1" i="0" dirty="0">
              <a:solidFill>
                <a:srgbClr val="3B82F6"/>
              </a:solidFill>
            </a:endParaRPr>
          </a:p>
          <a:p>
            <a:pPr algn="l">
              <a:defRPr sz="900" b="1" i="0">
                <a:solidFill>
                  <a:srgbClr val="3B82F6"/>
                </a:solidFill>
              </a:defRPr>
            </a:pPr>
            <a:endParaRPr sz="4000" b="1" i="0" dirty="0">
              <a:solidFill>
                <a:srgbClr val="3B82F6"/>
              </a:solidFill>
            </a:endParaRP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0329DD89-D87F-4466-A375-9208D7436E76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5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0" i="0">
                <a:solidFill>
                  <a:srgbClr val="111827"/>
                </a:solidFill>
              </a:defRPr>
            </a:pPr>
            <a:endParaRPr sz="2850" b="0" i="0" dirty="0">
              <a:solidFill>
                <a:srgbClr val="111827"/>
              </a:solidFill>
            </a:endParaRPr>
          </a:p>
        </p:txBody>
      </p:sp>
      <p:sp>
        <p:nvSpPr>
          <p:cNvPr id="4" name="shape">
            <a:extLst>
              <a:ext uri="{FF2B5EF4-FFF2-40B4-BE49-F238E27FC236}">
                <a16:creationId xmlns:a16="http://schemas.microsoft.com/office/drawing/2014/main" id="{21DDF9A4-5885-466F-B350-F366F084A249}"/>
              </a:ext>
            </a:extLst>
          </p:cNvPr>
          <p:cNvSpPr>
            <a:spLocks noGrp="1"/>
          </p:cNvSpPr>
          <p:nvPr/>
        </p:nvSpPr>
        <p:spPr>
          <a:xfrm>
            <a:off x="8020050" y="1428750"/>
            <a:ext cx="3562350" cy="4000500"/>
          </a:xfrm>
          <a:prstGeom prst="roundRect">
            <a:avLst>
              <a:gd name="adj" fmla="val 2674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368B11B2-E57E-48C9-B1F9-6E37A5EFCA8A}"/>
              </a:ext>
            </a:extLst>
          </p:cNvPr>
          <p:cNvSpPr>
            <a:spLocks noGrp="1"/>
          </p:cNvSpPr>
          <p:nvPr/>
        </p:nvSpPr>
        <p:spPr>
          <a:xfrm>
            <a:off x="8248650" y="1638300"/>
            <a:ext cx="3095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 i="0">
                <a:solidFill>
                  <a:srgbClr val="111827"/>
                </a:solidFill>
              </a:defRPr>
            </a:pPr>
            <a:r>
              <a:rPr sz="1650" b="1" i="0">
                <a:solidFill>
                  <a:srgbClr val="111827"/>
                </a:solidFill>
              </a:rPr>
              <a:t>Y-axis rotation · balanced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C78EC765-1FAF-474C-ABF8-C13EF356FA47}"/>
              </a:ext>
            </a:extLst>
          </p:cNvPr>
          <p:cNvSpPr>
            <a:spLocks noGrp="1"/>
          </p:cNvSpPr>
          <p:nvPr/>
        </p:nvSpPr>
        <p:spPr>
          <a:xfrm>
            <a:off x="8248650" y="233362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3B82F6"/>
                </a:solidFill>
              </a:defRPr>
            </a:pPr>
            <a:r>
              <a:rPr sz="1350" b="1" i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485133D1-CBDB-48FD-9713-26B55798C98E}"/>
              </a:ext>
            </a:extLst>
          </p:cNvPr>
          <p:cNvSpPr>
            <a:spLocks noGrp="1"/>
          </p:cNvSpPr>
          <p:nvPr/>
        </p:nvSpPr>
        <p:spPr>
          <a:xfrm>
            <a:off x="8515350" y="2333625"/>
            <a:ext cx="28289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>
                <a:solidFill>
                  <a:srgbClr val="111827"/>
                </a:solidFill>
              </a:rPr>
              <a:t>The all-zero probability stays at numerical zero.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73204448-8426-441F-82D6-3E68D88BBBBC}"/>
              </a:ext>
            </a:extLst>
          </p:cNvPr>
          <p:cNvSpPr>
            <a:spLocks noGrp="1"/>
          </p:cNvSpPr>
          <p:nvPr/>
        </p:nvSpPr>
        <p:spPr>
          <a:xfrm>
            <a:off x="8248650" y="300037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3B82F6"/>
                </a:solidFill>
              </a:defRPr>
            </a:pPr>
            <a:r>
              <a:rPr sz="1350" b="1" i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4C755B6D-F0C7-4F27-A43A-26FEA86A6869}"/>
              </a:ext>
            </a:extLst>
          </p:cNvPr>
          <p:cNvSpPr>
            <a:spLocks noGrp="1"/>
          </p:cNvSpPr>
          <p:nvPr/>
        </p:nvSpPr>
        <p:spPr>
          <a:xfrm>
            <a:off x="8515350" y="3000375"/>
            <a:ext cx="28289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>
                <a:solidFill>
                  <a:srgbClr val="111827"/>
                </a:solidFill>
              </a:rPr>
              <a:t>No axis–location dependence appears in P(0ⁿ).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8D9136BB-F1C0-4BBB-9478-72D094AB0BF5}"/>
              </a:ext>
            </a:extLst>
          </p:cNvPr>
          <p:cNvSpPr>
            <a:spLocks noGrp="1"/>
          </p:cNvSpPr>
          <p:nvPr/>
        </p:nvSpPr>
        <p:spPr>
          <a:xfrm>
            <a:off x="8248650" y="366712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3B82F6"/>
                </a:solidFill>
              </a:defRPr>
            </a:pPr>
            <a:endParaRPr sz="1350" b="1" i="0" dirty="0">
              <a:solidFill>
                <a:srgbClr val="3B82F6"/>
              </a:solidFill>
            </a:endParaRP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C5B2B9B2-9028-4083-B22F-E0003ED16787}"/>
              </a:ext>
            </a:extLst>
          </p:cNvPr>
          <p:cNvSpPr>
            <a:spLocks noGrp="1"/>
          </p:cNvSpPr>
          <p:nvPr/>
        </p:nvSpPr>
        <p:spPr>
          <a:xfrm>
            <a:off x="8515350" y="3667125"/>
            <a:ext cx="28289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111827"/>
                </a:solidFill>
              </a:defRPr>
            </a:pPr>
            <a:endParaRPr sz="1350" b="0" i="0" dirty="0">
              <a:solidFill>
                <a:srgbClr val="111827"/>
              </a:solidFill>
            </a:endParaRP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93E5ABA1-BD1B-4B47-8ED1-257F058E062F}"/>
              </a:ext>
            </a:extLst>
          </p:cNvPr>
          <p:cNvSpPr>
            <a:spLocks noGrp="1"/>
          </p:cNvSpPr>
          <p:nvPr/>
        </p:nvSpPr>
        <p:spPr>
          <a:xfrm>
            <a:off x="8401050" y="4676775"/>
            <a:ext cx="2800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 i="0">
                <a:solidFill>
                  <a:srgbClr val="EA7A14"/>
                </a:solidFill>
              </a:defRPr>
            </a:pPr>
            <a:endParaRPr sz="1275" b="1" i="0" dirty="0">
              <a:solidFill>
                <a:srgbClr val="EA7A14"/>
              </a:solidFill>
            </a:endParaRP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353F7B8E-E1F7-4FEA-AF79-3017B0CEBBA1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 i="0">
                <a:solidFill>
                  <a:srgbClr val="5F6B7A"/>
                </a:solidFill>
              </a:defRPr>
            </a:pPr>
            <a:r>
              <a:rPr sz="975" b="0" i="0">
                <a:solidFill>
                  <a:srgbClr val="5F6B7A"/>
                </a:solidFill>
              </a:rPr>
              <a:t>Each plotted rotation uses the angle sweep θ = 0°…180°</a:t>
            </a:r>
          </a:p>
        </p:txBody>
      </p:sp>
      <p:sp>
        <p:nvSpPr>
          <p:cNvPr id="15" name="page-number">
            <a:extLst>
              <a:ext uri="{FF2B5EF4-FFF2-40B4-BE49-F238E27FC236}">
                <a16:creationId xmlns:a16="http://schemas.microsoft.com/office/drawing/2014/main" id="{540CA745-2C30-41C7-9659-0FCCEC2F464F}"/>
              </a:ext>
            </a:extLst>
          </p:cNvPr>
          <p:cNvSpPr>
            <a:spLocks noGrp="1"/>
          </p:cNvSpPr>
          <p:nvPr/>
        </p:nvSpPr>
        <p:spPr>
          <a:xfrm>
            <a:off x="11334750" y="64865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50" b="0" i="0">
                <a:solidFill>
                  <a:srgbClr val="5F6B7A"/>
                </a:solidFill>
              </a:defRPr>
            </a:pPr>
            <a:r>
              <a:rPr sz="750" b="0" i="0">
                <a:solidFill>
                  <a:srgbClr val="5F6B7A"/>
                </a:solidFill>
              </a:rPr>
              <a:t>21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40D5759-CA38-477C-B873-009F6C70E1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412" y="1219200"/>
            <a:ext cx="7071438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3039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kicker">
            <a:extLst>
              <a:ext uri="{FF2B5EF4-FFF2-40B4-BE49-F238E27FC236}">
                <a16:creationId xmlns:a16="http://schemas.microsoft.com/office/drawing/2014/main" id="{9A40BD8A-AABB-4DAD-9F1C-AF626A739398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5715000" cy="885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 i="0">
                <a:solidFill>
                  <a:srgbClr val="3B82F6"/>
                </a:solidFill>
              </a:defRPr>
            </a:pPr>
            <a:endParaRPr lang="en-US" sz="4000" dirty="0">
              <a:solidFill>
                <a:srgbClr val="111827"/>
              </a:solidFill>
            </a:endParaRPr>
          </a:p>
          <a:p>
            <a:pPr>
              <a:defRPr sz="900" b="1" i="0">
                <a:solidFill>
                  <a:srgbClr val="3B82F6"/>
                </a:solidFill>
              </a:defRPr>
            </a:pPr>
            <a:endParaRPr lang="en-US" sz="4000" dirty="0">
              <a:solidFill>
                <a:srgbClr val="111827"/>
              </a:solidFill>
            </a:endParaRPr>
          </a:p>
          <a:p>
            <a:pPr>
              <a:defRPr sz="900" b="1" i="0">
                <a:solidFill>
                  <a:srgbClr val="3B82F6"/>
                </a:solidFill>
              </a:defRPr>
            </a:pPr>
            <a:endParaRPr lang="en-US" sz="4000" dirty="0">
              <a:solidFill>
                <a:srgbClr val="111827"/>
              </a:solidFill>
            </a:endParaRPr>
          </a:p>
          <a:p>
            <a:pPr>
              <a:defRPr sz="900" b="1" i="0">
                <a:solidFill>
                  <a:srgbClr val="3B82F6"/>
                </a:solidFill>
              </a:defRPr>
            </a:pPr>
            <a:r>
              <a:rPr lang="en-US" sz="4000" dirty="0">
                <a:solidFill>
                  <a:srgbClr val="111827"/>
                </a:solidFill>
              </a:rPr>
              <a:t>Continued…</a:t>
            </a:r>
            <a:endParaRPr lang="en-US" sz="4000" b="1" i="0" dirty="0">
              <a:solidFill>
                <a:srgbClr val="111827"/>
              </a:solidFill>
            </a:endParaRPr>
          </a:p>
          <a:p>
            <a:pPr algn="l">
              <a:defRPr sz="900" b="1" i="0">
                <a:solidFill>
                  <a:srgbClr val="3B82F6"/>
                </a:solidFill>
              </a:defRPr>
            </a:pPr>
            <a:endParaRPr lang="en-US" sz="4000" b="1" i="0" dirty="0">
              <a:solidFill>
                <a:srgbClr val="111827"/>
              </a:solidFill>
            </a:endParaRPr>
          </a:p>
          <a:p>
            <a:pPr algn="l">
              <a:defRPr sz="900" b="1" i="0">
                <a:solidFill>
                  <a:srgbClr val="3B82F6"/>
                </a:solidFill>
              </a:defRPr>
            </a:pPr>
            <a:endParaRPr lang="en-US" sz="4000" b="1" i="0" dirty="0">
              <a:solidFill>
                <a:srgbClr val="3B82F6"/>
              </a:solidFill>
            </a:endParaRPr>
          </a:p>
          <a:p>
            <a:pPr algn="l">
              <a:defRPr sz="900" b="1" i="0">
                <a:solidFill>
                  <a:srgbClr val="3B82F6"/>
                </a:solidFill>
              </a:defRPr>
            </a:pPr>
            <a:endParaRPr sz="4000" b="1" i="0" dirty="0">
              <a:solidFill>
                <a:srgbClr val="3B82F6"/>
              </a:solidFill>
            </a:endParaRP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17F8F857-023B-4DF6-B75B-A47B226A9928}"/>
              </a:ext>
            </a:extLst>
          </p:cNvPr>
          <p:cNvSpPr>
            <a:spLocks noGrp="1"/>
          </p:cNvSpPr>
          <p:nvPr/>
        </p:nvSpPr>
        <p:spPr>
          <a:xfrm>
            <a:off x="609600" y="572536"/>
            <a:ext cx="1095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0" i="0">
                <a:solidFill>
                  <a:srgbClr val="111827"/>
                </a:solidFill>
              </a:defRPr>
            </a:pPr>
            <a:endParaRPr sz="2850" b="0" i="0" dirty="0">
              <a:solidFill>
                <a:srgbClr val="111827"/>
              </a:solidFill>
            </a:endParaRPr>
          </a:p>
        </p:txBody>
      </p:sp>
      <p:sp>
        <p:nvSpPr>
          <p:cNvPr id="4" name="shape">
            <a:extLst>
              <a:ext uri="{FF2B5EF4-FFF2-40B4-BE49-F238E27FC236}">
                <a16:creationId xmlns:a16="http://schemas.microsoft.com/office/drawing/2014/main" id="{F62A8EF9-016F-4F1D-BC62-726FC0C89847}"/>
              </a:ext>
            </a:extLst>
          </p:cNvPr>
          <p:cNvSpPr>
            <a:spLocks noGrp="1"/>
          </p:cNvSpPr>
          <p:nvPr/>
        </p:nvSpPr>
        <p:spPr>
          <a:xfrm>
            <a:off x="8001000" y="1638300"/>
            <a:ext cx="3562350" cy="3581400"/>
          </a:xfrm>
          <a:prstGeom prst="roundRect">
            <a:avLst>
              <a:gd name="adj" fmla="val 2674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83255F0D-C42A-40E1-9406-179918DAED8C}"/>
              </a:ext>
            </a:extLst>
          </p:cNvPr>
          <p:cNvSpPr>
            <a:spLocks noGrp="1"/>
          </p:cNvSpPr>
          <p:nvPr/>
        </p:nvSpPr>
        <p:spPr>
          <a:xfrm>
            <a:off x="8248650" y="1638300"/>
            <a:ext cx="3095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 i="0">
                <a:solidFill>
                  <a:srgbClr val="111827"/>
                </a:solidFill>
              </a:defRPr>
            </a:pPr>
            <a:r>
              <a:rPr sz="1650" b="1" i="0" dirty="0">
                <a:solidFill>
                  <a:srgbClr val="111827"/>
                </a:solidFill>
              </a:rPr>
              <a:t>Z-axis rotation · balanced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E646BE9F-13AB-4044-873D-C6820F35E017}"/>
              </a:ext>
            </a:extLst>
          </p:cNvPr>
          <p:cNvSpPr>
            <a:spLocks noGrp="1"/>
          </p:cNvSpPr>
          <p:nvPr/>
        </p:nvSpPr>
        <p:spPr>
          <a:xfrm>
            <a:off x="8248650" y="233362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3B82F6"/>
                </a:solidFill>
              </a:defRPr>
            </a:pPr>
            <a:r>
              <a:rPr lang="en-US" sz="1350" b="1" i="0" dirty="0">
                <a:solidFill>
                  <a:srgbClr val="3B82F6"/>
                </a:solidFill>
              </a:rPr>
              <a:t>•</a:t>
            </a:r>
            <a:endParaRPr sz="1350" b="1" i="0" dirty="0">
              <a:solidFill>
                <a:srgbClr val="3B82F6"/>
              </a:solidFill>
            </a:endParaRP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9174BCD2-A1F1-48B9-BD7B-5CD81EFC1143}"/>
              </a:ext>
            </a:extLst>
          </p:cNvPr>
          <p:cNvSpPr>
            <a:spLocks noGrp="1"/>
          </p:cNvSpPr>
          <p:nvPr/>
        </p:nvSpPr>
        <p:spPr>
          <a:xfrm>
            <a:off x="8515350" y="2333625"/>
            <a:ext cx="28289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 dirty="0">
                <a:solidFill>
                  <a:srgbClr val="111827"/>
                </a:solidFill>
              </a:rPr>
              <a:t>P(0ⁿ) remains approximately zero throughout the sweep.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5EEF1A68-CF1C-400B-AE16-957D74357F55}"/>
              </a:ext>
            </a:extLst>
          </p:cNvPr>
          <p:cNvSpPr>
            <a:spLocks noGrp="1"/>
          </p:cNvSpPr>
          <p:nvPr/>
        </p:nvSpPr>
        <p:spPr>
          <a:xfrm>
            <a:off x="8248650" y="300037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3B82F6"/>
                </a:solidFill>
              </a:defRPr>
            </a:pPr>
            <a:endParaRPr sz="1350" b="1" i="0" dirty="0">
              <a:solidFill>
                <a:srgbClr val="3B82F6"/>
              </a:solidFill>
            </a:endParaRP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0D8031C9-E261-4A97-9DF6-1584C3A662D1}"/>
              </a:ext>
            </a:extLst>
          </p:cNvPr>
          <p:cNvSpPr>
            <a:spLocks noGrp="1"/>
          </p:cNvSpPr>
          <p:nvPr/>
        </p:nvSpPr>
        <p:spPr>
          <a:xfrm>
            <a:off x="8515350" y="3000375"/>
            <a:ext cx="28289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111827"/>
                </a:solidFill>
              </a:defRPr>
            </a:pPr>
            <a:endParaRPr sz="1350" b="0" i="0" dirty="0">
              <a:solidFill>
                <a:srgbClr val="111827"/>
              </a:solidFill>
            </a:endParaRP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45774138-873F-45E9-BBF8-157918B8F443}"/>
              </a:ext>
            </a:extLst>
          </p:cNvPr>
          <p:cNvSpPr>
            <a:spLocks noGrp="1"/>
          </p:cNvSpPr>
          <p:nvPr/>
        </p:nvSpPr>
        <p:spPr>
          <a:xfrm>
            <a:off x="8248650" y="366712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3B82F6"/>
                </a:solidFill>
              </a:defRPr>
            </a:pPr>
            <a:endParaRPr sz="1350" b="1" i="0" dirty="0">
              <a:solidFill>
                <a:srgbClr val="3B82F6"/>
              </a:solidFill>
            </a:endParaRP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33CC0408-E037-4975-8771-109D7B4110F8}"/>
              </a:ext>
            </a:extLst>
          </p:cNvPr>
          <p:cNvSpPr>
            <a:spLocks noGrp="1"/>
          </p:cNvSpPr>
          <p:nvPr/>
        </p:nvSpPr>
        <p:spPr>
          <a:xfrm>
            <a:off x="8515350" y="3667125"/>
            <a:ext cx="28289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111827"/>
                </a:solidFill>
              </a:defRPr>
            </a:pPr>
            <a:endParaRPr sz="1350" b="0" i="0" dirty="0">
              <a:solidFill>
                <a:srgbClr val="111827"/>
              </a:solidFill>
            </a:endParaRP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6D475D2D-6112-4F58-86EF-EF227A878503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 i="0">
                <a:solidFill>
                  <a:srgbClr val="5F6B7A"/>
                </a:solidFill>
              </a:defRPr>
            </a:pPr>
            <a:r>
              <a:rPr sz="975" b="0" i="0">
                <a:solidFill>
                  <a:srgbClr val="5F6B7A"/>
                </a:solidFill>
              </a:rPr>
              <a:t>Each plotted rotation uses the angle sweep θ = 0°…180°</a:t>
            </a:r>
          </a:p>
        </p:txBody>
      </p:sp>
      <p:sp>
        <p:nvSpPr>
          <p:cNvPr id="15" name="page-number">
            <a:extLst>
              <a:ext uri="{FF2B5EF4-FFF2-40B4-BE49-F238E27FC236}">
                <a16:creationId xmlns:a16="http://schemas.microsoft.com/office/drawing/2014/main" id="{74405654-4578-4307-83E0-688D029E7B87}"/>
              </a:ext>
            </a:extLst>
          </p:cNvPr>
          <p:cNvSpPr>
            <a:spLocks noGrp="1"/>
          </p:cNvSpPr>
          <p:nvPr/>
        </p:nvSpPr>
        <p:spPr>
          <a:xfrm>
            <a:off x="11334750" y="64865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50" b="0" i="0">
                <a:solidFill>
                  <a:srgbClr val="5F6B7A"/>
                </a:solidFill>
              </a:defRPr>
            </a:pPr>
            <a:r>
              <a:rPr sz="750" b="0" i="0">
                <a:solidFill>
                  <a:srgbClr val="5F6B7A"/>
                </a:solidFill>
              </a:rPr>
              <a:t>22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004F68-458C-4AA9-9781-BEC17F24CB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111" y="1411773"/>
            <a:ext cx="7553714" cy="4034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3039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kicker">
            <a:extLst>
              <a:ext uri="{FF2B5EF4-FFF2-40B4-BE49-F238E27FC236}">
                <a16:creationId xmlns:a16="http://schemas.microsoft.com/office/drawing/2014/main" id="{5287EE35-EA7D-406E-88D2-FD1AC017DEBD}"/>
              </a:ext>
            </a:extLst>
          </p:cNvPr>
          <p:cNvSpPr>
            <a:spLocks noGrp="1"/>
          </p:cNvSpPr>
          <p:nvPr/>
        </p:nvSpPr>
        <p:spPr>
          <a:xfrm>
            <a:off x="609600" y="190499"/>
            <a:ext cx="9289774" cy="7835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 i="0">
                <a:solidFill>
                  <a:srgbClr val="3B82F6"/>
                </a:solidFill>
              </a:defRPr>
            </a:pPr>
            <a:r>
              <a:rPr sz="4000" b="1" i="0" dirty="0">
                <a:solidFill>
                  <a:srgbClr val="111827"/>
                </a:solidFill>
              </a:rPr>
              <a:t>C</a:t>
            </a:r>
            <a:r>
              <a:rPr lang="en-US" sz="4000" b="1" dirty="0">
                <a:solidFill>
                  <a:srgbClr val="111827"/>
                </a:solidFill>
              </a:rPr>
              <a:t>ross</a:t>
            </a:r>
            <a:r>
              <a:rPr sz="4000" b="1" i="0" dirty="0">
                <a:solidFill>
                  <a:srgbClr val="111827"/>
                </a:solidFill>
              </a:rPr>
              <a:t>-R</a:t>
            </a:r>
            <a:r>
              <a:rPr lang="en-US" sz="4000" b="1" i="0" dirty="0">
                <a:solidFill>
                  <a:srgbClr val="111827"/>
                </a:solidFill>
              </a:rPr>
              <a:t>esult</a:t>
            </a:r>
            <a:r>
              <a:rPr sz="4000" b="1" i="0" dirty="0">
                <a:solidFill>
                  <a:srgbClr val="111827"/>
                </a:solidFill>
              </a:rPr>
              <a:t> 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53ECC77B-93CB-4457-9A80-4905CC515AA5}"/>
              </a:ext>
            </a:extLst>
          </p:cNvPr>
          <p:cNvSpPr>
            <a:spLocks noGrp="1"/>
          </p:cNvSpPr>
          <p:nvPr/>
        </p:nvSpPr>
        <p:spPr>
          <a:xfrm>
            <a:off x="609600" y="857250"/>
            <a:ext cx="10953750" cy="7143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0" i="0">
                <a:solidFill>
                  <a:srgbClr val="111827"/>
                </a:solidFill>
              </a:defRPr>
            </a:pPr>
            <a:r>
              <a:rPr sz="2850" b="0" i="0" dirty="0">
                <a:solidFill>
                  <a:srgbClr val="111827"/>
                </a:solidFill>
              </a:rPr>
              <a:t>Each axis has a distinct vulnerability map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5EDA56E7-98C5-427A-816E-B4BE973AF8F5}"/>
              </a:ext>
            </a:extLst>
          </p:cNvPr>
          <p:cNvSpPr>
            <a:spLocks noGrp="1"/>
          </p:cNvSpPr>
          <p:nvPr/>
        </p:nvSpPr>
        <p:spPr>
          <a:xfrm>
            <a:off x="857250" y="1571625"/>
            <a:ext cx="1905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 i="0">
                <a:solidFill>
                  <a:srgbClr val="5F6B7A"/>
                </a:solidFill>
              </a:defRPr>
            </a:pPr>
            <a:r>
              <a:rPr sz="1425" b="1" i="0">
                <a:solidFill>
                  <a:srgbClr val="5F6B7A"/>
                </a:solidFill>
              </a:rPr>
              <a:t>Rotation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36AD90D6-6BA4-446A-BA51-495FBEE401BB}"/>
              </a:ext>
            </a:extLst>
          </p:cNvPr>
          <p:cNvSpPr>
            <a:spLocks noGrp="1"/>
          </p:cNvSpPr>
          <p:nvPr/>
        </p:nvSpPr>
        <p:spPr>
          <a:xfrm>
            <a:off x="3714750" y="1571625"/>
            <a:ext cx="1428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111827"/>
                </a:solidFill>
              </a:defRPr>
            </a:pPr>
            <a:r>
              <a:rPr sz="1575" b="1" i="0" dirty="0">
                <a:solidFill>
                  <a:srgbClr val="11182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E₁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E3F15BA2-A67C-4B81-9C82-D375A9DBB45C}"/>
              </a:ext>
            </a:extLst>
          </p:cNvPr>
          <p:cNvSpPr>
            <a:spLocks noGrp="1"/>
          </p:cNvSpPr>
          <p:nvPr/>
        </p:nvSpPr>
        <p:spPr>
          <a:xfrm>
            <a:off x="5572125" y="1571625"/>
            <a:ext cx="1428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111827"/>
                </a:solidFill>
              </a:defRPr>
            </a:pPr>
            <a:r>
              <a:rPr sz="1575" b="1" i="0" dirty="0">
                <a:solidFill>
                  <a:srgbClr val="11182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E₂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AB4F1ABA-EA49-490A-9E76-C0F1D94987A3}"/>
              </a:ext>
            </a:extLst>
          </p:cNvPr>
          <p:cNvSpPr>
            <a:spLocks noGrp="1"/>
          </p:cNvSpPr>
          <p:nvPr/>
        </p:nvSpPr>
        <p:spPr>
          <a:xfrm>
            <a:off x="7429500" y="1571625"/>
            <a:ext cx="1428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111827"/>
                </a:solidFill>
              </a:defRPr>
            </a:pPr>
            <a:r>
              <a:rPr sz="1575" b="1" i="0" dirty="0">
                <a:solidFill>
                  <a:srgbClr val="11182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E₃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87862B06-274E-4694-B4AF-3838C8362AD0}"/>
              </a:ext>
            </a:extLst>
          </p:cNvPr>
          <p:cNvSpPr>
            <a:spLocks noGrp="1"/>
          </p:cNvSpPr>
          <p:nvPr/>
        </p:nvSpPr>
        <p:spPr>
          <a:xfrm>
            <a:off x="9286875" y="1571625"/>
            <a:ext cx="1428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111827"/>
                </a:solidFill>
              </a:defRPr>
            </a:pPr>
            <a:r>
              <a:rPr sz="1575" b="1" i="0" dirty="0">
                <a:solidFill>
                  <a:srgbClr val="11182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E₄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E1A7A9C5-CC75-472B-8283-E7AEC6214713}"/>
              </a:ext>
            </a:extLst>
          </p:cNvPr>
          <p:cNvSpPr>
            <a:spLocks noGrp="1"/>
          </p:cNvSpPr>
          <p:nvPr/>
        </p:nvSpPr>
        <p:spPr>
          <a:xfrm>
            <a:off x="857250" y="2238375"/>
            <a:ext cx="2000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 i="0">
                <a:solidFill>
                  <a:srgbClr val="3B82F6"/>
                </a:solidFill>
              </a:defRPr>
            </a:pPr>
            <a:r>
              <a:rPr sz="2100" b="1" i="0" dirty="0">
                <a:solidFill>
                  <a:srgbClr val="3B82F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Rₓ(θ)</a:t>
            </a:r>
          </a:p>
        </p:txBody>
      </p:sp>
      <p:sp>
        <p:nvSpPr>
          <p:cNvPr id="9" name="shape">
            <a:extLst>
              <a:ext uri="{FF2B5EF4-FFF2-40B4-BE49-F238E27FC236}">
                <a16:creationId xmlns:a16="http://schemas.microsoft.com/office/drawing/2014/main" id="{EBB6817F-3F50-4AE9-8691-83664E379B95}"/>
              </a:ext>
            </a:extLst>
          </p:cNvPr>
          <p:cNvSpPr>
            <a:spLocks noGrp="1"/>
          </p:cNvSpPr>
          <p:nvPr/>
        </p:nvSpPr>
        <p:spPr>
          <a:xfrm>
            <a:off x="3714750" y="2238375"/>
            <a:ext cx="1428750" cy="609600"/>
          </a:xfrm>
          <a:prstGeom prst="roundRect">
            <a:avLst>
              <a:gd name="adj" fmla="val 12500"/>
            </a:avLst>
          </a:prstGeom>
          <a:solidFill>
            <a:srgbClr val="FDECEC"/>
          </a:solidFill>
          <a:ln w="0">
            <a:noFill/>
            <a:prstDash val="solid"/>
          </a:ln>
        </p:spPr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4D3F52ED-6913-4615-98F3-FA097A3C0A0F}"/>
              </a:ext>
            </a:extLst>
          </p:cNvPr>
          <p:cNvSpPr>
            <a:spLocks noGrp="1"/>
          </p:cNvSpPr>
          <p:nvPr/>
        </p:nvSpPr>
        <p:spPr>
          <a:xfrm>
            <a:off x="3714750" y="2238375"/>
            <a:ext cx="1428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 i="0">
                <a:solidFill>
                  <a:srgbClr val="D94B4B"/>
                </a:solidFill>
              </a:defRPr>
            </a:pPr>
            <a:r>
              <a:rPr sz="1275" b="1" i="0">
                <a:solidFill>
                  <a:srgbClr val="D94B4B"/>
                </a:solidFill>
              </a:rPr>
              <a:t>HIGH</a:t>
            </a:r>
          </a:p>
        </p:txBody>
      </p:sp>
      <p:sp>
        <p:nvSpPr>
          <p:cNvPr id="11" name="shape">
            <a:extLst>
              <a:ext uri="{FF2B5EF4-FFF2-40B4-BE49-F238E27FC236}">
                <a16:creationId xmlns:a16="http://schemas.microsoft.com/office/drawing/2014/main" id="{B4CCD7AD-068A-4FE5-B54E-347D80E35403}"/>
              </a:ext>
            </a:extLst>
          </p:cNvPr>
          <p:cNvSpPr>
            <a:spLocks noGrp="1"/>
          </p:cNvSpPr>
          <p:nvPr/>
        </p:nvSpPr>
        <p:spPr>
          <a:xfrm>
            <a:off x="5572125" y="2238375"/>
            <a:ext cx="1428750" cy="609600"/>
          </a:xfrm>
          <a:prstGeom prst="roundRect">
            <a:avLst>
              <a:gd name="adj" fmla="val 12500"/>
            </a:avLst>
          </a:prstGeom>
          <a:solidFill>
            <a:srgbClr val="EAF7F1"/>
          </a:solidFill>
          <a:ln w="0">
            <a:noFill/>
            <a:prstDash val="solid"/>
          </a:ln>
        </p:spPr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A972C051-63E6-4634-9A97-D1D075A80DED}"/>
              </a:ext>
            </a:extLst>
          </p:cNvPr>
          <p:cNvSpPr>
            <a:spLocks noGrp="1"/>
          </p:cNvSpPr>
          <p:nvPr/>
        </p:nvSpPr>
        <p:spPr>
          <a:xfrm>
            <a:off x="5572125" y="2238375"/>
            <a:ext cx="1428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 i="0">
                <a:solidFill>
                  <a:srgbClr val="2E9E69"/>
                </a:solidFill>
              </a:defRPr>
            </a:pPr>
            <a:r>
              <a:rPr sz="1275" b="1" i="0">
                <a:solidFill>
                  <a:srgbClr val="2E9E69"/>
                </a:solidFill>
              </a:rPr>
              <a:t>LOW</a:t>
            </a:r>
          </a:p>
        </p:txBody>
      </p:sp>
      <p:sp>
        <p:nvSpPr>
          <p:cNvPr id="13" name="shape">
            <a:extLst>
              <a:ext uri="{FF2B5EF4-FFF2-40B4-BE49-F238E27FC236}">
                <a16:creationId xmlns:a16="http://schemas.microsoft.com/office/drawing/2014/main" id="{6C06222C-336F-483A-906B-7ED0B8C5D7A5}"/>
              </a:ext>
            </a:extLst>
          </p:cNvPr>
          <p:cNvSpPr>
            <a:spLocks noGrp="1"/>
          </p:cNvSpPr>
          <p:nvPr/>
        </p:nvSpPr>
        <p:spPr>
          <a:xfrm>
            <a:off x="7429500" y="2238375"/>
            <a:ext cx="1428750" cy="609600"/>
          </a:xfrm>
          <a:prstGeom prst="roundRect">
            <a:avLst>
              <a:gd name="adj" fmla="val 12500"/>
            </a:avLst>
          </a:prstGeom>
          <a:solidFill>
            <a:srgbClr val="EAF7F1"/>
          </a:solidFill>
          <a:ln w="0">
            <a:noFill/>
            <a:prstDash val="solid"/>
          </a:ln>
        </p:spPr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853FE7A0-1543-4A0D-A037-D8D8B49E6013}"/>
              </a:ext>
            </a:extLst>
          </p:cNvPr>
          <p:cNvSpPr>
            <a:spLocks noGrp="1"/>
          </p:cNvSpPr>
          <p:nvPr/>
        </p:nvSpPr>
        <p:spPr>
          <a:xfrm>
            <a:off x="7429500" y="2238375"/>
            <a:ext cx="1428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 i="0">
                <a:solidFill>
                  <a:srgbClr val="2E9E69"/>
                </a:solidFill>
              </a:defRPr>
            </a:pPr>
            <a:r>
              <a:rPr sz="1275" b="1" i="0">
                <a:solidFill>
                  <a:srgbClr val="2E9E69"/>
                </a:solidFill>
              </a:rPr>
              <a:t>LOW</a:t>
            </a:r>
          </a:p>
        </p:txBody>
      </p:sp>
      <p:sp>
        <p:nvSpPr>
          <p:cNvPr id="15" name="shape">
            <a:extLst>
              <a:ext uri="{FF2B5EF4-FFF2-40B4-BE49-F238E27FC236}">
                <a16:creationId xmlns:a16="http://schemas.microsoft.com/office/drawing/2014/main" id="{640045E9-7294-4CC5-B70E-915049CCD72D}"/>
              </a:ext>
            </a:extLst>
          </p:cNvPr>
          <p:cNvSpPr>
            <a:spLocks noGrp="1"/>
          </p:cNvSpPr>
          <p:nvPr/>
        </p:nvSpPr>
        <p:spPr>
          <a:xfrm>
            <a:off x="9286875" y="2238375"/>
            <a:ext cx="1428750" cy="609600"/>
          </a:xfrm>
          <a:prstGeom prst="roundRect">
            <a:avLst>
              <a:gd name="adj" fmla="val 12500"/>
            </a:avLst>
          </a:prstGeom>
          <a:solidFill>
            <a:srgbClr val="FDECEC"/>
          </a:solidFill>
          <a:ln w="0">
            <a:noFill/>
            <a:prstDash val="solid"/>
          </a:ln>
        </p:spPr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D8554786-B3D4-4ECD-AA0D-0CFEB8E6792F}"/>
              </a:ext>
            </a:extLst>
          </p:cNvPr>
          <p:cNvSpPr>
            <a:spLocks noGrp="1"/>
          </p:cNvSpPr>
          <p:nvPr/>
        </p:nvSpPr>
        <p:spPr>
          <a:xfrm>
            <a:off x="9286875" y="2238375"/>
            <a:ext cx="1428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 i="0">
                <a:solidFill>
                  <a:srgbClr val="D94B4B"/>
                </a:solidFill>
              </a:defRPr>
            </a:pPr>
            <a:r>
              <a:rPr sz="1275" b="1" i="0">
                <a:solidFill>
                  <a:srgbClr val="D94B4B"/>
                </a:solidFill>
              </a:rPr>
              <a:t>HIGH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CF72DE41-3093-40EE-893B-8A366768E083}"/>
              </a:ext>
            </a:extLst>
          </p:cNvPr>
          <p:cNvSpPr>
            <a:spLocks noGrp="1"/>
          </p:cNvSpPr>
          <p:nvPr/>
        </p:nvSpPr>
        <p:spPr>
          <a:xfrm>
            <a:off x="857250" y="3143250"/>
            <a:ext cx="2000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 i="0">
                <a:solidFill>
                  <a:srgbClr val="EA7A14"/>
                </a:solidFill>
              </a:defRPr>
            </a:pPr>
            <a:r>
              <a:rPr sz="2100" b="1" i="0" dirty="0">
                <a:solidFill>
                  <a:srgbClr val="EA7A14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Rᵧ(θ)</a:t>
            </a:r>
          </a:p>
        </p:txBody>
      </p:sp>
      <p:sp>
        <p:nvSpPr>
          <p:cNvPr id="18" name="shape">
            <a:extLst>
              <a:ext uri="{FF2B5EF4-FFF2-40B4-BE49-F238E27FC236}">
                <a16:creationId xmlns:a16="http://schemas.microsoft.com/office/drawing/2014/main" id="{8FD325FC-5EA9-42F8-A535-AD0F7920BB39}"/>
              </a:ext>
            </a:extLst>
          </p:cNvPr>
          <p:cNvSpPr>
            <a:spLocks noGrp="1"/>
          </p:cNvSpPr>
          <p:nvPr/>
        </p:nvSpPr>
        <p:spPr>
          <a:xfrm>
            <a:off x="3714750" y="3143250"/>
            <a:ext cx="1428750" cy="609600"/>
          </a:xfrm>
          <a:prstGeom prst="roundRect">
            <a:avLst>
              <a:gd name="adj" fmla="val 12500"/>
            </a:avLst>
          </a:prstGeom>
          <a:solidFill>
            <a:srgbClr val="FDECEC"/>
          </a:solidFill>
          <a:ln w="0">
            <a:noFill/>
            <a:prstDash val="solid"/>
          </a:ln>
        </p:spPr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23E6E1FC-C893-4D8E-9C21-DA5432458ABC}"/>
              </a:ext>
            </a:extLst>
          </p:cNvPr>
          <p:cNvSpPr>
            <a:spLocks noGrp="1"/>
          </p:cNvSpPr>
          <p:nvPr/>
        </p:nvSpPr>
        <p:spPr>
          <a:xfrm>
            <a:off x="3714750" y="3143250"/>
            <a:ext cx="1428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 i="0">
                <a:solidFill>
                  <a:srgbClr val="D94B4B"/>
                </a:solidFill>
              </a:defRPr>
            </a:pPr>
            <a:r>
              <a:rPr sz="1275" b="1" i="0">
                <a:solidFill>
                  <a:srgbClr val="D94B4B"/>
                </a:solidFill>
              </a:rPr>
              <a:t>HIGH</a:t>
            </a:r>
          </a:p>
        </p:txBody>
      </p:sp>
      <p:sp>
        <p:nvSpPr>
          <p:cNvPr id="20" name="shape">
            <a:extLst>
              <a:ext uri="{FF2B5EF4-FFF2-40B4-BE49-F238E27FC236}">
                <a16:creationId xmlns:a16="http://schemas.microsoft.com/office/drawing/2014/main" id="{569E1B90-8610-469F-BFA5-E0038A6F8AA9}"/>
              </a:ext>
            </a:extLst>
          </p:cNvPr>
          <p:cNvSpPr>
            <a:spLocks noGrp="1"/>
          </p:cNvSpPr>
          <p:nvPr/>
        </p:nvSpPr>
        <p:spPr>
          <a:xfrm>
            <a:off x="5572125" y="3143250"/>
            <a:ext cx="1428750" cy="609600"/>
          </a:xfrm>
          <a:prstGeom prst="roundRect">
            <a:avLst>
              <a:gd name="adj" fmla="val 12500"/>
            </a:avLst>
          </a:prstGeom>
          <a:solidFill>
            <a:srgbClr val="FDECEC"/>
          </a:solidFill>
          <a:ln w="0">
            <a:noFill/>
            <a:prstDash val="solid"/>
          </a:ln>
        </p:spPr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2CD684EF-7F5B-4EE6-94FC-5897C0B02355}"/>
              </a:ext>
            </a:extLst>
          </p:cNvPr>
          <p:cNvSpPr>
            <a:spLocks noGrp="1"/>
          </p:cNvSpPr>
          <p:nvPr/>
        </p:nvSpPr>
        <p:spPr>
          <a:xfrm>
            <a:off x="5572125" y="3143250"/>
            <a:ext cx="1428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 i="0">
                <a:solidFill>
                  <a:srgbClr val="D94B4B"/>
                </a:solidFill>
              </a:defRPr>
            </a:pPr>
            <a:r>
              <a:rPr sz="1275" b="1" i="0">
                <a:solidFill>
                  <a:srgbClr val="D94B4B"/>
                </a:solidFill>
              </a:rPr>
              <a:t>HIGH</a:t>
            </a:r>
          </a:p>
        </p:txBody>
      </p:sp>
      <p:sp>
        <p:nvSpPr>
          <p:cNvPr id="22" name="shape">
            <a:extLst>
              <a:ext uri="{FF2B5EF4-FFF2-40B4-BE49-F238E27FC236}">
                <a16:creationId xmlns:a16="http://schemas.microsoft.com/office/drawing/2014/main" id="{9FB3E512-6460-4C5E-83A7-206CA6FC361D}"/>
              </a:ext>
            </a:extLst>
          </p:cNvPr>
          <p:cNvSpPr>
            <a:spLocks noGrp="1"/>
          </p:cNvSpPr>
          <p:nvPr/>
        </p:nvSpPr>
        <p:spPr>
          <a:xfrm>
            <a:off x="7429500" y="3143250"/>
            <a:ext cx="1428750" cy="609600"/>
          </a:xfrm>
          <a:prstGeom prst="roundRect">
            <a:avLst>
              <a:gd name="adj" fmla="val 12500"/>
            </a:avLst>
          </a:prstGeom>
          <a:solidFill>
            <a:srgbClr val="FDECEC"/>
          </a:solidFill>
          <a:ln w="0">
            <a:noFill/>
            <a:prstDash val="solid"/>
          </a:ln>
        </p:spPr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4F5432D9-D3F6-4A41-AED2-03476D7B4775}"/>
              </a:ext>
            </a:extLst>
          </p:cNvPr>
          <p:cNvSpPr>
            <a:spLocks noGrp="1"/>
          </p:cNvSpPr>
          <p:nvPr/>
        </p:nvSpPr>
        <p:spPr>
          <a:xfrm>
            <a:off x="7429500" y="3143250"/>
            <a:ext cx="1428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 i="0">
                <a:solidFill>
                  <a:srgbClr val="D94B4B"/>
                </a:solidFill>
              </a:defRPr>
            </a:pPr>
            <a:r>
              <a:rPr sz="1275" b="1" i="0">
                <a:solidFill>
                  <a:srgbClr val="D94B4B"/>
                </a:solidFill>
              </a:rPr>
              <a:t>HIGH</a:t>
            </a:r>
          </a:p>
        </p:txBody>
      </p:sp>
      <p:sp>
        <p:nvSpPr>
          <p:cNvPr id="24" name="shape">
            <a:extLst>
              <a:ext uri="{FF2B5EF4-FFF2-40B4-BE49-F238E27FC236}">
                <a16:creationId xmlns:a16="http://schemas.microsoft.com/office/drawing/2014/main" id="{65C11C3B-2A0E-48BF-87AE-CEA463830ED2}"/>
              </a:ext>
            </a:extLst>
          </p:cNvPr>
          <p:cNvSpPr>
            <a:spLocks noGrp="1"/>
          </p:cNvSpPr>
          <p:nvPr/>
        </p:nvSpPr>
        <p:spPr>
          <a:xfrm>
            <a:off x="9286875" y="3143250"/>
            <a:ext cx="1428750" cy="609600"/>
          </a:xfrm>
          <a:prstGeom prst="roundRect">
            <a:avLst>
              <a:gd name="adj" fmla="val 12500"/>
            </a:avLst>
          </a:prstGeom>
          <a:solidFill>
            <a:srgbClr val="FDECEC"/>
          </a:solidFill>
          <a:ln w="0">
            <a:noFill/>
            <a:prstDash val="solid"/>
          </a:ln>
        </p:spPr>
      </p:sp>
      <p:sp>
        <p:nvSpPr>
          <p:cNvPr id="25" name="text">
            <a:extLst>
              <a:ext uri="{FF2B5EF4-FFF2-40B4-BE49-F238E27FC236}">
                <a16:creationId xmlns:a16="http://schemas.microsoft.com/office/drawing/2014/main" id="{0E2C28AC-7B90-4EFE-B797-D79F3BE256D8}"/>
              </a:ext>
            </a:extLst>
          </p:cNvPr>
          <p:cNvSpPr>
            <a:spLocks noGrp="1"/>
          </p:cNvSpPr>
          <p:nvPr/>
        </p:nvSpPr>
        <p:spPr>
          <a:xfrm>
            <a:off x="9286875" y="3143250"/>
            <a:ext cx="1428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 i="0">
                <a:solidFill>
                  <a:srgbClr val="D94B4B"/>
                </a:solidFill>
              </a:defRPr>
            </a:pPr>
            <a:r>
              <a:rPr sz="1275" b="1" i="0">
                <a:solidFill>
                  <a:srgbClr val="D94B4B"/>
                </a:solidFill>
              </a:rPr>
              <a:t>HIGH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">
                <a:extLst>
                  <a:ext uri="{FF2B5EF4-FFF2-40B4-BE49-F238E27FC236}">
                    <a16:creationId xmlns:a16="http://schemas.microsoft.com/office/drawing/2014/main" id="{1E50E137-5008-40F2-9B66-4013D9A5AD6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57250" y="4048125"/>
                <a:ext cx="2000250" cy="6096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anchor="ctr"/>
              <a:lstStyle/>
              <a:p>
                <a:pPr algn="l">
                  <a:defRPr sz="2100" b="1" i="0">
                    <a:solidFill>
                      <a:srgbClr val="2E9E69"/>
                    </a:solidFill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2100" b="1" i="1" smtClean="0">
                            <a:solidFill>
                              <a:srgbClr val="2E9E6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100" b="1" i="0" smtClean="0">
                            <a:solidFill>
                              <a:srgbClr val="2E9E6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en-US" sz="2100" b="1" i="0" smtClean="0">
                            <a:solidFill>
                              <a:srgbClr val="2E9E6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𝐳</m:t>
                        </m:r>
                      </m:sub>
                    </m:sSub>
                    <m:r>
                      <a:rPr lang="en-US" sz="2100" b="1" i="0" smtClean="0">
                        <a:solidFill>
                          <a:srgbClr val="2E9E6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</m:oMath>
                </a14:m>
                <a:r>
                  <a:rPr lang="el-GR" sz="2100" b="1" i="0" dirty="0">
                    <a:solidFill>
                      <a:srgbClr val="2E9E69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θ)</a:t>
                </a:r>
                <a:endParaRPr sz="2100" b="1" i="0" dirty="0">
                  <a:solidFill>
                    <a:srgbClr val="2E9E69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6" name="text">
                <a:extLst>
                  <a:ext uri="{FF2B5EF4-FFF2-40B4-BE49-F238E27FC236}">
                    <a16:creationId xmlns:a16="http://schemas.microsoft.com/office/drawing/2014/main" id="{1E50E137-5008-40F2-9B66-4013D9A5AD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50" y="4048125"/>
                <a:ext cx="2000250" cy="609600"/>
              </a:xfrm>
              <a:prstGeom prst="rect">
                <a:avLst/>
              </a:prstGeom>
              <a:blipFill>
                <a:blip r:embed="rId3"/>
                <a:stretch>
                  <a:fillRect l="-305" b="-4000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shape">
            <a:extLst>
              <a:ext uri="{FF2B5EF4-FFF2-40B4-BE49-F238E27FC236}">
                <a16:creationId xmlns:a16="http://schemas.microsoft.com/office/drawing/2014/main" id="{6874CA94-7BEC-405F-93AE-5F35C821A108}"/>
              </a:ext>
            </a:extLst>
          </p:cNvPr>
          <p:cNvSpPr>
            <a:spLocks noGrp="1"/>
          </p:cNvSpPr>
          <p:nvPr/>
        </p:nvSpPr>
        <p:spPr>
          <a:xfrm>
            <a:off x="3714750" y="4048125"/>
            <a:ext cx="1428750" cy="609600"/>
          </a:xfrm>
          <a:prstGeom prst="roundRect">
            <a:avLst>
              <a:gd name="adj" fmla="val 12500"/>
            </a:avLst>
          </a:prstGeom>
          <a:solidFill>
            <a:srgbClr val="EAF7F1"/>
          </a:solidFill>
          <a:ln w="0">
            <a:noFill/>
            <a:prstDash val="solid"/>
          </a:ln>
        </p:spPr>
      </p:sp>
      <p:sp>
        <p:nvSpPr>
          <p:cNvPr id="28" name="text">
            <a:extLst>
              <a:ext uri="{FF2B5EF4-FFF2-40B4-BE49-F238E27FC236}">
                <a16:creationId xmlns:a16="http://schemas.microsoft.com/office/drawing/2014/main" id="{AA28B040-4260-4705-9CC2-323899F3A999}"/>
              </a:ext>
            </a:extLst>
          </p:cNvPr>
          <p:cNvSpPr>
            <a:spLocks noGrp="1"/>
          </p:cNvSpPr>
          <p:nvPr/>
        </p:nvSpPr>
        <p:spPr>
          <a:xfrm>
            <a:off x="3714750" y="4048125"/>
            <a:ext cx="1428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 i="0">
                <a:solidFill>
                  <a:srgbClr val="2E9E69"/>
                </a:solidFill>
              </a:defRPr>
            </a:pPr>
            <a:r>
              <a:rPr sz="1275" b="1" i="0">
                <a:solidFill>
                  <a:srgbClr val="2E9E69"/>
                </a:solidFill>
              </a:rPr>
              <a:t>LOW</a:t>
            </a:r>
          </a:p>
        </p:txBody>
      </p:sp>
      <p:sp>
        <p:nvSpPr>
          <p:cNvPr id="29" name="shape">
            <a:extLst>
              <a:ext uri="{FF2B5EF4-FFF2-40B4-BE49-F238E27FC236}">
                <a16:creationId xmlns:a16="http://schemas.microsoft.com/office/drawing/2014/main" id="{EF3177CD-6306-438A-A3B7-A62A64D9710C}"/>
              </a:ext>
            </a:extLst>
          </p:cNvPr>
          <p:cNvSpPr>
            <a:spLocks noGrp="1"/>
          </p:cNvSpPr>
          <p:nvPr/>
        </p:nvSpPr>
        <p:spPr>
          <a:xfrm>
            <a:off x="5572125" y="4048125"/>
            <a:ext cx="1428750" cy="609600"/>
          </a:xfrm>
          <a:prstGeom prst="roundRect">
            <a:avLst>
              <a:gd name="adj" fmla="val 12500"/>
            </a:avLst>
          </a:prstGeom>
          <a:solidFill>
            <a:srgbClr val="FDECEC"/>
          </a:solidFill>
          <a:ln w="0">
            <a:noFill/>
            <a:prstDash val="solid"/>
          </a:ln>
        </p:spPr>
      </p:sp>
      <p:sp>
        <p:nvSpPr>
          <p:cNvPr id="30" name="text">
            <a:extLst>
              <a:ext uri="{FF2B5EF4-FFF2-40B4-BE49-F238E27FC236}">
                <a16:creationId xmlns:a16="http://schemas.microsoft.com/office/drawing/2014/main" id="{38A21026-1012-414A-BE17-CEE108ED4730}"/>
              </a:ext>
            </a:extLst>
          </p:cNvPr>
          <p:cNvSpPr>
            <a:spLocks noGrp="1"/>
          </p:cNvSpPr>
          <p:nvPr/>
        </p:nvSpPr>
        <p:spPr>
          <a:xfrm>
            <a:off x="5572125" y="4048125"/>
            <a:ext cx="1428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 i="0">
                <a:solidFill>
                  <a:srgbClr val="D94B4B"/>
                </a:solidFill>
              </a:defRPr>
            </a:pPr>
            <a:r>
              <a:rPr sz="1275" b="1" i="0">
                <a:solidFill>
                  <a:srgbClr val="D94B4B"/>
                </a:solidFill>
              </a:rPr>
              <a:t>HIGH</a:t>
            </a:r>
          </a:p>
        </p:txBody>
      </p:sp>
      <p:sp>
        <p:nvSpPr>
          <p:cNvPr id="31" name="shape">
            <a:extLst>
              <a:ext uri="{FF2B5EF4-FFF2-40B4-BE49-F238E27FC236}">
                <a16:creationId xmlns:a16="http://schemas.microsoft.com/office/drawing/2014/main" id="{95128251-A632-4821-ABE3-8C463C788D9A}"/>
              </a:ext>
            </a:extLst>
          </p:cNvPr>
          <p:cNvSpPr>
            <a:spLocks noGrp="1"/>
          </p:cNvSpPr>
          <p:nvPr/>
        </p:nvSpPr>
        <p:spPr>
          <a:xfrm>
            <a:off x="7429500" y="4048125"/>
            <a:ext cx="1428750" cy="609600"/>
          </a:xfrm>
          <a:prstGeom prst="roundRect">
            <a:avLst>
              <a:gd name="adj" fmla="val 12500"/>
            </a:avLst>
          </a:prstGeom>
          <a:solidFill>
            <a:srgbClr val="FDECEC"/>
          </a:solidFill>
          <a:ln w="0">
            <a:noFill/>
            <a:prstDash val="solid"/>
          </a:ln>
        </p:spPr>
      </p:sp>
      <p:sp>
        <p:nvSpPr>
          <p:cNvPr id="32" name="text">
            <a:extLst>
              <a:ext uri="{FF2B5EF4-FFF2-40B4-BE49-F238E27FC236}">
                <a16:creationId xmlns:a16="http://schemas.microsoft.com/office/drawing/2014/main" id="{502FBA85-B4E8-4915-AFAE-1389C6FD3CA7}"/>
              </a:ext>
            </a:extLst>
          </p:cNvPr>
          <p:cNvSpPr>
            <a:spLocks noGrp="1"/>
          </p:cNvSpPr>
          <p:nvPr/>
        </p:nvSpPr>
        <p:spPr>
          <a:xfrm>
            <a:off x="7429500" y="4048125"/>
            <a:ext cx="1428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 i="0">
                <a:solidFill>
                  <a:srgbClr val="D94B4B"/>
                </a:solidFill>
              </a:defRPr>
            </a:pPr>
            <a:r>
              <a:rPr sz="1275" b="1" i="0">
                <a:solidFill>
                  <a:srgbClr val="D94B4B"/>
                </a:solidFill>
              </a:rPr>
              <a:t>HIGH</a:t>
            </a:r>
          </a:p>
        </p:txBody>
      </p:sp>
      <p:sp>
        <p:nvSpPr>
          <p:cNvPr id="33" name="shape">
            <a:extLst>
              <a:ext uri="{FF2B5EF4-FFF2-40B4-BE49-F238E27FC236}">
                <a16:creationId xmlns:a16="http://schemas.microsoft.com/office/drawing/2014/main" id="{F20B35F4-AE8D-421D-B827-989AC08F1E9A}"/>
              </a:ext>
            </a:extLst>
          </p:cNvPr>
          <p:cNvSpPr>
            <a:spLocks noGrp="1"/>
          </p:cNvSpPr>
          <p:nvPr/>
        </p:nvSpPr>
        <p:spPr>
          <a:xfrm>
            <a:off x="9286875" y="4048125"/>
            <a:ext cx="1428750" cy="609600"/>
          </a:xfrm>
          <a:prstGeom prst="roundRect">
            <a:avLst>
              <a:gd name="adj" fmla="val 12500"/>
            </a:avLst>
          </a:prstGeom>
          <a:solidFill>
            <a:srgbClr val="EAF7F1"/>
          </a:solidFill>
          <a:ln w="0">
            <a:noFill/>
            <a:prstDash val="solid"/>
          </a:ln>
        </p:spPr>
      </p:sp>
      <p:sp>
        <p:nvSpPr>
          <p:cNvPr id="34" name="text">
            <a:extLst>
              <a:ext uri="{FF2B5EF4-FFF2-40B4-BE49-F238E27FC236}">
                <a16:creationId xmlns:a16="http://schemas.microsoft.com/office/drawing/2014/main" id="{34CBD37D-45E8-42DC-AB6F-F016E4182A74}"/>
              </a:ext>
            </a:extLst>
          </p:cNvPr>
          <p:cNvSpPr>
            <a:spLocks noGrp="1"/>
          </p:cNvSpPr>
          <p:nvPr/>
        </p:nvSpPr>
        <p:spPr>
          <a:xfrm>
            <a:off x="9286875" y="4048125"/>
            <a:ext cx="1428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 i="0">
                <a:solidFill>
                  <a:srgbClr val="2E9E69"/>
                </a:solidFill>
              </a:defRPr>
            </a:pPr>
            <a:r>
              <a:rPr sz="1275" b="1" i="0">
                <a:solidFill>
                  <a:srgbClr val="2E9E69"/>
                </a:solidFill>
              </a:rPr>
              <a:t>LOW</a:t>
            </a:r>
          </a:p>
        </p:txBody>
      </p:sp>
      <p:sp>
        <p:nvSpPr>
          <p:cNvPr id="35" name="key-finding">
            <a:extLst>
              <a:ext uri="{FF2B5EF4-FFF2-40B4-BE49-F238E27FC236}">
                <a16:creationId xmlns:a16="http://schemas.microsoft.com/office/drawing/2014/main" id="{8C1AC967-8588-4E38-A25E-149BA0AE0273}"/>
              </a:ext>
            </a:extLst>
          </p:cNvPr>
          <p:cNvSpPr>
            <a:spLocks noGrp="1"/>
          </p:cNvSpPr>
          <p:nvPr/>
        </p:nvSpPr>
        <p:spPr>
          <a:xfrm>
            <a:off x="609600" y="5143500"/>
            <a:ext cx="10972800" cy="514350"/>
          </a:xfrm>
          <a:prstGeom prst="roundRect">
            <a:avLst>
              <a:gd name="adj" fmla="val 7407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36" name="text">
            <a:extLst>
              <a:ext uri="{FF2B5EF4-FFF2-40B4-BE49-F238E27FC236}">
                <a16:creationId xmlns:a16="http://schemas.microsoft.com/office/drawing/2014/main" id="{932B9E12-95DE-46EF-9BA6-39D1D18D1993}"/>
              </a:ext>
            </a:extLst>
          </p:cNvPr>
          <p:cNvSpPr>
            <a:spLocks noGrp="1"/>
          </p:cNvSpPr>
          <p:nvPr/>
        </p:nvSpPr>
        <p:spPr>
          <a:xfrm>
            <a:off x="781050" y="5219700"/>
            <a:ext cx="142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3B82F6"/>
                </a:solidFill>
              </a:defRPr>
            </a:pPr>
            <a:r>
              <a:rPr sz="1350" b="1" i="0">
                <a:solidFill>
                  <a:srgbClr val="3B82F6"/>
                </a:solidFill>
              </a:rPr>
              <a:t>Interpretation</a:t>
            </a:r>
          </a:p>
        </p:txBody>
      </p:sp>
      <p:sp>
        <p:nvSpPr>
          <p:cNvPr id="37" name="text">
            <a:extLst>
              <a:ext uri="{FF2B5EF4-FFF2-40B4-BE49-F238E27FC236}">
                <a16:creationId xmlns:a16="http://schemas.microsoft.com/office/drawing/2014/main" id="{552AE88A-AA6D-478E-AEC2-BD82CFB605E0}"/>
              </a:ext>
            </a:extLst>
          </p:cNvPr>
          <p:cNvSpPr>
            <a:spLocks noGrp="1"/>
          </p:cNvSpPr>
          <p:nvPr/>
        </p:nvSpPr>
        <p:spPr>
          <a:xfrm>
            <a:off x="2047875" y="5219700"/>
            <a:ext cx="9239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 dirty="0">
                <a:solidFill>
                  <a:srgbClr val="111827"/>
                </a:solidFill>
              </a:rPr>
              <a:t>X errors attack circuit boundaries; Z errors attack the interference region; Y errors affect all stages.</a:t>
            </a:r>
          </a:p>
        </p:txBody>
      </p:sp>
      <p:sp>
        <p:nvSpPr>
          <p:cNvPr id="38" name="page-number">
            <a:extLst>
              <a:ext uri="{FF2B5EF4-FFF2-40B4-BE49-F238E27FC236}">
                <a16:creationId xmlns:a16="http://schemas.microsoft.com/office/drawing/2014/main" id="{C6A801E2-2537-4618-8201-4EA2E7F52036}"/>
              </a:ext>
            </a:extLst>
          </p:cNvPr>
          <p:cNvSpPr>
            <a:spLocks noGrp="1"/>
          </p:cNvSpPr>
          <p:nvPr/>
        </p:nvSpPr>
        <p:spPr>
          <a:xfrm>
            <a:off x="11334750" y="64865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50" b="0" i="0">
                <a:solidFill>
                  <a:srgbClr val="5F6B7A"/>
                </a:solidFill>
              </a:defRPr>
            </a:pPr>
            <a:r>
              <a:rPr sz="750" b="0" i="0">
                <a:solidFill>
                  <a:srgbClr val="5F6B7A"/>
                </a:solidFill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20625340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kicker">
            <a:extLst>
              <a:ext uri="{FF2B5EF4-FFF2-40B4-BE49-F238E27FC236}">
                <a16:creationId xmlns:a16="http://schemas.microsoft.com/office/drawing/2014/main" id="{AD2355E6-A71F-471F-AEF0-112472C0ADC0}"/>
              </a:ext>
            </a:extLst>
          </p:cNvPr>
          <p:cNvSpPr>
            <a:spLocks noGrp="1"/>
          </p:cNvSpPr>
          <p:nvPr/>
        </p:nvSpPr>
        <p:spPr>
          <a:xfrm>
            <a:off x="609600" y="85724"/>
            <a:ext cx="8444948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 i="0">
                <a:solidFill>
                  <a:srgbClr val="3B82F6"/>
                </a:solidFill>
              </a:defRPr>
            </a:pPr>
            <a:r>
              <a:rPr sz="4000" b="1" i="0" dirty="0">
                <a:solidFill>
                  <a:srgbClr val="111827"/>
                </a:solidFill>
              </a:rPr>
              <a:t>S</a:t>
            </a:r>
            <a:r>
              <a:rPr lang="en-US" sz="4000" b="1" i="0" dirty="0">
                <a:solidFill>
                  <a:srgbClr val="111827"/>
                </a:solidFill>
              </a:rPr>
              <a:t>cope</a:t>
            </a:r>
            <a:r>
              <a:rPr sz="4000" b="1" i="0" dirty="0">
                <a:solidFill>
                  <a:srgbClr val="111827"/>
                </a:solidFill>
              </a:rPr>
              <a:t> </a:t>
            </a:r>
            <a:r>
              <a:rPr lang="en-US" sz="4000" b="1" i="0" dirty="0">
                <a:solidFill>
                  <a:srgbClr val="111827"/>
                </a:solidFill>
              </a:rPr>
              <a:t>and </a:t>
            </a:r>
            <a:r>
              <a:rPr sz="4000" b="1" i="0" dirty="0">
                <a:solidFill>
                  <a:srgbClr val="111827"/>
                </a:solidFill>
              </a:rPr>
              <a:t> L</a:t>
            </a:r>
            <a:r>
              <a:rPr lang="en-US" sz="4000" b="1" i="0" dirty="0">
                <a:solidFill>
                  <a:srgbClr val="111827"/>
                </a:solidFill>
              </a:rPr>
              <a:t>imitations </a:t>
            </a:r>
            <a:endParaRPr sz="4000" b="1" i="0" dirty="0">
              <a:solidFill>
                <a:srgbClr val="111827"/>
              </a:solidFill>
            </a:endParaRP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4C8DB83B-3385-44DE-950C-40F4AB2A0A0C}"/>
              </a:ext>
            </a:extLst>
          </p:cNvPr>
          <p:cNvSpPr>
            <a:spLocks noGrp="1"/>
          </p:cNvSpPr>
          <p:nvPr/>
        </p:nvSpPr>
        <p:spPr>
          <a:xfrm>
            <a:off x="609600" y="857250"/>
            <a:ext cx="10953750" cy="6000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0" i="0">
                <a:solidFill>
                  <a:srgbClr val="111827"/>
                </a:solidFill>
              </a:defRPr>
            </a:pPr>
            <a:endParaRPr sz="2850" b="0" i="0" dirty="0">
              <a:solidFill>
                <a:srgbClr val="111827"/>
              </a:solidFill>
            </a:endParaRPr>
          </a:p>
        </p:txBody>
      </p:sp>
      <p:sp>
        <p:nvSpPr>
          <p:cNvPr id="3" name="shape">
            <a:extLst>
              <a:ext uri="{FF2B5EF4-FFF2-40B4-BE49-F238E27FC236}">
                <a16:creationId xmlns:a16="http://schemas.microsoft.com/office/drawing/2014/main" id="{B6364119-A0B0-4038-9B3C-963F457AF09B}"/>
              </a:ext>
            </a:extLst>
          </p:cNvPr>
          <p:cNvSpPr>
            <a:spLocks noGrp="1"/>
          </p:cNvSpPr>
          <p:nvPr/>
        </p:nvSpPr>
        <p:spPr>
          <a:xfrm>
            <a:off x="609600" y="1571625"/>
            <a:ext cx="5238750" cy="3857625"/>
          </a:xfrm>
          <a:prstGeom prst="roundRect">
            <a:avLst>
              <a:gd name="adj" fmla="val 1975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4" name="shape">
            <a:extLst>
              <a:ext uri="{FF2B5EF4-FFF2-40B4-BE49-F238E27FC236}">
                <a16:creationId xmlns:a16="http://schemas.microsoft.com/office/drawing/2014/main" id="{99E075E3-BD61-42A3-BB7A-B2E0903EE02C}"/>
              </a:ext>
            </a:extLst>
          </p:cNvPr>
          <p:cNvSpPr>
            <a:spLocks noGrp="1"/>
          </p:cNvSpPr>
          <p:nvPr/>
        </p:nvSpPr>
        <p:spPr>
          <a:xfrm>
            <a:off x="6076950" y="1571625"/>
            <a:ext cx="5723986" cy="3857625"/>
          </a:xfrm>
          <a:prstGeom prst="roundRect">
            <a:avLst>
              <a:gd name="adj" fmla="val 1975"/>
            </a:avLst>
          </a:prstGeom>
          <a:solidFill>
            <a:srgbClr val="EEF6FF"/>
          </a:solidFill>
          <a:ln w="0"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6AD77749-44BC-4CAD-A0F7-E215E3A17CBE}"/>
              </a:ext>
            </a:extLst>
          </p:cNvPr>
          <p:cNvSpPr>
            <a:spLocks noGrp="1"/>
          </p:cNvSpPr>
          <p:nvPr/>
        </p:nvSpPr>
        <p:spPr>
          <a:xfrm>
            <a:off x="838200" y="1762125"/>
            <a:ext cx="476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What this study establishes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E74E1F80-7B5E-460B-A333-794D66EC57BB}"/>
              </a:ext>
            </a:extLst>
          </p:cNvPr>
          <p:cNvSpPr>
            <a:spLocks noGrp="1"/>
          </p:cNvSpPr>
          <p:nvPr/>
        </p:nvSpPr>
        <p:spPr>
          <a:xfrm>
            <a:off x="838200" y="2286000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 i="0">
                <a:solidFill>
                  <a:srgbClr val="3B82F6"/>
                </a:solidFill>
              </a:defRPr>
            </a:pPr>
            <a:r>
              <a:rPr sz="1500" b="1" i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90B583B9-1A1A-4F4B-8237-5A6B3516CA55}"/>
              </a:ext>
            </a:extLst>
          </p:cNvPr>
          <p:cNvSpPr>
            <a:spLocks noGrp="1"/>
          </p:cNvSpPr>
          <p:nvPr/>
        </p:nvSpPr>
        <p:spPr>
          <a:xfrm>
            <a:off x="1104900" y="2286000"/>
            <a:ext cx="4495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 i="0">
                <a:solidFill>
                  <a:srgbClr val="111827"/>
                </a:solidFill>
              </a:defRPr>
            </a:pPr>
            <a:r>
              <a:rPr lang="en-US" dirty="0"/>
              <a:t>The error axis and its circuit position matter the effect of errors. </a:t>
            </a:r>
            <a:endParaRPr sz="1500" b="0" i="0" dirty="0">
              <a:solidFill>
                <a:srgbClr val="111827"/>
              </a:solidFill>
            </a:endParaRP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47F0A846-A620-4A36-91B9-B8A6907664C3}"/>
              </a:ext>
            </a:extLst>
          </p:cNvPr>
          <p:cNvSpPr>
            <a:spLocks noGrp="1"/>
          </p:cNvSpPr>
          <p:nvPr/>
        </p:nvSpPr>
        <p:spPr>
          <a:xfrm>
            <a:off x="838200" y="2876550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 i="0">
                <a:solidFill>
                  <a:srgbClr val="3B82F6"/>
                </a:solidFill>
              </a:defRPr>
            </a:pPr>
            <a:r>
              <a:rPr sz="1500" b="1" i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A766CFFF-F03F-4C8D-8FA1-C95726E6F6FC}"/>
              </a:ext>
            </a:extLst>
          </p:cNvPr>
          <p:cNvSpPr>
            <a:spLocks noGrp="1"/>
          </p:cNvSpPr>
          <p:nvPr/>
        </p:nvSpPr>
        <p:spPr>
          <a:xfrm>
            <a:off x="1104900" y="2876550"/>
            <a:ext cx="4495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 i="0">
                <a:solidFill>
                  <a:srgbClr val="111827"/>
                </a:solidFill>
              </a:defRPr>
            </a:pPr>
            <a:r>
              <a:rPr lang="en-US" dirty="0"/>
              <a:t>Both constant functions behave similarly.</a:t>
            </a:r>
            <a:endParaRPr sz="1500" b="0" i="0" dirty="0">
              <a:solidFill>
                <a:srgbClr val="111827"/>
              </a:solidFill>
            </a:endParaRP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7BD96B9B-2517-4F86-871B-5E0F89AC1581}"/>
              </a:ext>
            </a:extLst>
          </p:cNvPr>
          <p:cNvSpPr>
            <a:spLocks noGrp="1"/>
          </p:cNvSpPr>
          <p:nvPr/>
        </p:nvSpPr>
        <p:spPr>
          <a:xfrm>
            <a:off x="838200" y="3467100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 i="0">
                <a:solidFill>
                  <a:srgbClr val="3B82F6"/>
                </a:solidFill>
              </a:defRPr>
            </a:pPr>
            <a:r>
              <a:rPr sz="1500" b="1" i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28F62E2C-01CA-47B6-AFAE-AAEB90994B74}"/>
              </a:ext>
            </a:extLst>
          </p:cNvPr>
          <p:cNvSpPr>
            <a:spLocks noGrp="1"/>
          </p:cNvSpPr>
          <p:nvPr/>
        </p:nvSpPr>
        <p:spPr>
          <a:xfrm>
            <a:off x="1104900" y="3467100"/>
            <a:ext cx="4495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 i="0">
                <a:solidFill>
                  <a:srgbClr val="111827"/>
                </a:solidFill>
              </a:defRPr>
            </a:pPr>
            <a:r>
              <a:rPr lang="en-US" dirty="0"/>
              <a:t>Balanced-function classification is stable in tests.</a:t>
            </a:r>
            <a:endParaRPr sz="1500" b="0" i="0" dirty="0">
              <a:solidFill>
                <a:srgbClr val="111827"/>
              </a:solidFill>
            </a:endParaRP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5DE41C07-0777-4DE3-A01C-341023E6C949}"/>
              </a:ext>
            </a:extLst>
          </p:cNvPr>
          <p:cNvSpPr>
            <a:spLocks noGrp="1"/>
          </p:cNvSpPr>
          <p:nvPr/>
        </p:nvSpPr>
        <p:spPr>
          <a:xfrm>
            <a:off x="6305550" y="1762125"/>
            <a:ext cx="495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 i="0">
                <a:solidFill>
                  <a:srgbClr val="111827"/>
                </a:solidFill>
              </a:defRPr>
            </a:pPr>
            <a:r>
              <a:rPr lang="en-US" dirty="0"/>
              <a:t>Limitations of the Study</a:t>
            </a:r>
            <a:r>
              <a:rPr lang="en-US" sz="1800" b="1" i="0" dirty="0">
                <a:solidFill>
                  <a:srgbClr val="111827"/>
                </a:solidFill>
              </a:rPr>
              <a:t> </a:t>
            </a:r>
            <a:endParaRPr sz="1800" b="1" i="0" dirty="0">
              <a:solidFill>
                <a:srgbClr val="111827"/>
              </a:solidFill>
            </a:endParaRP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BF2E40CE-867E-4B45-B56C-A0F5C8AB6D3A}"/>
              </a:ext>
            </a:extLst>
          </p:cNvPr>
          <p:cNvSpPr>
            <a:spLocks noGrp="1"/>
          </p:cNvSpPr>
          <p:nvPr/>
        </p:nvSpPr>
        <p:spPr>
          <a:xfrm>
            <a:off x="6305550" y="2286000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 i="0">
                <a:solidFill>
                  <a:srgbClr val="3B82F6"/>
                </a:solidFill>
              </a:defRPr>
            </a:pPr>
            <a:r>
              <a:rPr sz="1500" b="1" i="0" dirty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47F7BEBD-1C9E-480F-AC16-F19BECFEEDF6}"/>
              </a:ext>
            </a:extLst>
          </p:cNvPr>
          <p:cNvSpPr>
            <a:spLocks noGrp="1"/>
          </p:cNvSpPr>
          <p:nvPr/>
        </p:nvSpPr>
        <p:spPr>
          <a:xfrm>
            <a:off x="6572250" y="2286000"/>
            <a:ext cx="4686300" cy="5048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 i="0">
                <a:solidFill>
                  <a:srgbClr val="111827"/>
                </a:solidFill>
              </a:defRPr>
            </a:pPr>
            <a:r>
              <a:rPr lang="en-US" dirty="0"/>
              <a:t>The study uses a classical simulator rather than real quantum hardware.</a:t>
            </a:r>
            <a:endParaRPr sz="1500" b="0" i="0" dirty="0">
              <a:solidFill>
                <a:srgbClr val="111827"/>
              </a:solidFill>
            </a:endParaRP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6C67DB4B-7E3E-4AD5-8040-A188064FFDD8}"/>
              </a:ext>
            </a:extLst>
          </p:cNvPr>
          <p:cNvSpPr>
            <a:spLocks noGrp="1"/>
          </p:cNvSpPr>
          <p:nvPr/>
        </p:nvSpPr>
        <p:spPr>
          <a:xfrm>
            <a:off x="6305550" y="2876550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 i="0">
                <a:solidFill>
                  <a:srgbClr val="3B82F6"/>
                </a:solidFill>
              </a:defRPr>
            </a:pPr>
            <a:r>
              <a:rPr sz="1500" b="1" i="0" dirty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C1FFDFD3-43D2-4BF9-B7E4-AC7148138E80}"/>
              </a:ext>
            </a:extLst>
          </p:cNvPr>
          <p:cNvSpPr>
            <a:spLocks noGrp="1"/>
          </p:cNvSpPr>
          <p:nvPr/>
        </p:nvSpPr>
        <p:spPr>
          <a:xfrm>
            <a:off x="6572250" y="2876550"/>
            <a:ext cx="4686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 i="0">
                <a:solidFill>
                  <a:srgbClr val="111827"/>
                </a:solidFill>
              </a:defRPr>
            </a:pPr>
            <a:r>
              <a:rPr sz="1500" b="0" i="0" dirty="0">
                <a:solidFill>
                  <a:srgbClr val="111827"/>
                </a:solidFill>
              </a:rPr>
              <a:t>One selected </a:t>
            </a:r>
            <a:r>
              <a:rPr lang="en-US" sz="1500" dirty="0">
                <a:solidFill>
                  <a:srgbClr val="111827"/>
                </a:solidFill>
              </a:rPr>
              <a:t>input</a:t>
            </a:r>
            <a:r>
              <a:rPr sz="1500" b="0" i="0" dirty="0">
                <a:solidFill>
                  <a:srgbClr val="111827"/>
                </a:solidFill>
              </a:rPr>
              <a:t> qubit; no  multi-qubit errors.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634DDD55-B3AD-4E8A-9B22-3F2D2A1D5BC0}"/>
              </a:ext>
            </a:extLst>
          </p:cNvPr>
          <p:cNvSpPr>
            <a:spLocks noGrp="1"/>
          </p:cNvSpPr>
          <p:nvPr/>
        </p:nvSpPr>
        <p:spPr>
          <a:xfrm>
            <a:off x="6305550" y="3467100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 i="0">
                <a:solidFill>
                  <a:srgbClr val="3B82F6"/>
                </a:solidFill>
              </a:defRPr>
            </a:pPr>
            <a:r>
              <a:rPr sz="1500" b="1" i="0" dirty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6DE8BF6E-13ED-4E1C-AE8D-3D4BADC7ECA4}"/>
              </a:ext>
            </a:extLst>
          </p:cNvPr>
          <p:cNvSpPr>
            <a:spLocks noGrp="1"/>
          </p:cNvSpPr>
          <p:nvPr/>
        </p:nvSpPr>
        <p:spPr>
          <a:xfrm>
            <a:off x="6572250" y="3467100"/>
            <a:ext cx="4686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 i="0">
                <a:solidFill>
                  <a:srgbClr val="111827"/>
                </a:solidFill>
              </a:defRPr>
            </a:pPr>
            <a:endParaRPr sz="1500" b="0" i="0" dirty="0">
              <a:solidFill>
                <a:srgbClr val="111827"/>
              </a:solidFill>
            </a:endParaRPr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14ADA54F-20C8-4838-BB2B-1FB39E3BC507}"/>
              </a:ext>
            </a:extLst>
          </p:cNvPr>
          <p:cNvSpPr>
            <a:spLocks noGrp="1"/>
          </p:cNvSpPr>
          <p:nvPr/>
        </p:nvSpPr>
        <p:spPr>
          <a:xfrm>
            <a:off x="781050" y="5848350"/>
            <a:ext cx="142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3B82F6"/>
                </a:solidFill>
              </a:defRPr>
            </a:pPr>
            <a:endParaRPr sz="1350" b="1" i="0" dirty="0">
              <a:solidFill>
                <a:srgbClr val="3B82F6"/>
              </a:solidFill>
            </a:endParaRPr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20966554-97D8-4FDE-AAA4-79D594BB3377}"/>
              </a:ext>
            </a:extLst>
          </p:cNvPr>
          <p:cNvSpPr>
            <a:spLocks noGrp="1"/>
          </p:cNvSpPr>
          <p:nvPr/>
        </p:nvSpPr>
        <p:spPr>
          <a:xfrm>
            <a:off x="2047875" y="5848350"/>
            <a:ext cx="9239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111827"/>
                </a:solidFill>
              </a:defRPr>
            </a:pPr>
            <a:endParaRPr sz="1350" b="0" i="0" dirty="0">
              <a:solidFill>
                <a:srgbClr val="111827"/>
              </a:solidFill>
            </a:endParaRPr>
          </a:p>
        </p:txBody>
      </p:sp>
      <p:sp>
        <p:nvSpPr>
          <p:cNvPr id="22" name="page-number">
            <a:extLst>
              <a:ext uri="{FF2B5EF4-FFF2-40B4-BE49-F238E27FC236}">
                <a16:creationId xmlns:a16="http://schemas.microsoft.com/office/drawing/2014/main" id="{BD7E4638-F757-415B-AEB2-F9957542C6DD}"/>
              </a:ext>
            </a:extLst>
          </p:cNvPr>
          <p:cNvSpPr>
            <a:spLocks noGrp="1"/>
          </p:cNvSpPr>
          <p:nvPr/>
        </p:nvSpPr>
        <p:spPr>
          <a:xfrm>
            <a:off x="11334750" y="64865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50" b="0" i="0">
                <a:solidFill>
                  <a:srgbClr val="5F6B7A"/>
                </a:solidFill>
              </a:defRPr>
            </a:pPr>
            <a:r>
              <a:rPr sz="750" b="0" i="0">
                <a:solidFill>
                  <a:srgbClr val="5F6B7A"/>
                </a:solidFill>
              </a:rPr>
              <a:t>24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9238EEE-7EC5-41DF-B4B7-70B1008AEC5D}"/>
              </a:ext>
            </a:extLst>
          </p:cNvPr>
          <p:cNvSpPr txBox="1"/>
          <p:nvPr/>
        </p:nvSpPr>
        <p:spPr>
          <a:xfrm>
            <a:off x="6667500" y="3495674"/>
            <a:ext cx="5297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The analysis is limited only  on Deutsch–</a:t>
            </a:r>
            <a:r>
              <a:rPr lang="en-US" dirty="0" err="1">
                <a:solidFill>
                  <a:srgbClr val="000000"/>
                </a:solidFill>
              </a:rPr>
              <a:t>Jozsa</a:t>
            </a:r>
            <a:r>
              <a:rPr lang="en-US" dirty="0">
                <a:solidFill>
                  <a:srgbClr val="000000"/>
                </a:solidFill>
              </a:rPr>
              <a:t> algorithm.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8EDBCAD-80D9-4472-BAA8-D592A0B60F74}"/>
              </a:ext>
            </a:extLst>
          </p:cNvPr>
          <p:cNvSpPr txBox="1"/>
          <p:nvPr/>
        </p:nvSpPr>
        <p:spPr>
          <a:xfrm>
            <a:off x="6667500" y="4619625"/>
            <a:ext cx="4667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111827"/>
                </a:solidFill>
              </a:rPr>
              <a:t>Scalability beyond n=9 input qubits was not investigated here.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3BA8F09-B312-4614-AEDC-9A6C27325505}"/>
              </a:ext>
            </a:extLst>
          </p:cNvPr>
          <p:cNvSpPr txBox="1"/>
          <p:nvPr/>
        </p:nvSpPr>
        <p:spPr>
          <a:xfrm>
            <a:off x="6305550" y="4733924"/>
            <a:ext cx="361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defRPr sz="1500" b="1" i="0">
                <a:solidFill>
                  <a:srgbClr val="3B82F6"/>
                </a:solidFill>
              </a:defRPr>
            </a:pPr>
            <a:r>
              <a:rPr lang="en-US" sz="1800" b="1" i="0">
                <a:solidFill>
                  <a:srgbClr val="3B82F6"/>
                </a:solidFill>
              </a:rPr>
              <a:t>•</a:t>
            </a:r>
            <a:endParaRPr lang="en-US" sz="1800" b="1" i="0" dirty="0">
              <a:solidFill>
                <a:srgbClr val="3B82F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4141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kicker">
            <a:extLst>
              <a:ext uri="{FF2B5EF4-FFF2-40B4-BE49-F238E27FC236}">
                <a16:creationId xmlns:a16="http://schemas.microsoft.com/office/drawing/2014/main" id="{E33A1BE9-FA1E-4E54-AD98-971B21763348}"/>
              </a:ext>
            </a:extLst>
          </p:cNvPr>
          <p:cNvSpPr>
            <a:spLocks noGrp="1"/>
          </p:cNvSpPr>
          <p:nvPr/>
        </p:nvSpPr>
        <p:spPr>
          <a:xfrm>
            <a:off x="609600" y="139148"/>
            <a:ext cx="5715000" cy="765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 i="0">
                <a:solidFill>
                  <a:srgbClr val="3B82F6"/>
                </a:solidFill>
              </a:defRPr>
            </a:pPr>
            <a:r>
              <a:rPr lang="en-US" sz="4000" b="1" i="0" dirty="0">
                <a:solidFill>
                  <a:srgbClr val="111827"/>
                </a:solidFill>
              </a:rPr>
              <a:t>Conclusions </a:t>
            </a:r>
            <a:endParaRPr sz="4000" b="1" i="0" dirty="0">
              <a:solidFill>
                <a:srgbClr val="111827"/>
              </a:solidFill>
            </a:endParaRP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289B5BA5-304D-4BB7-A99F-63A7D347C13E}"/>
              </a:ext>
            </a:extLst>
          </p:cNvPr>
          <p:cNvSpPr>
            <a:spLocks noGrp="1"/>
          </p:cNvSpPr>
          <p:nvPr/>
        </p:nvSpPr>
        <p:spPr>
          <a:xfrm>
            <a:off x="609600" y="904873"/>
            <a:ext cx="109537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0" i="0">
                <a:solidFill>
                  <a:srgbClr val="111827"/>
                </a:solidFill>
              </a:defRPr>
            </a:pPr>
            <a:endParaRPr sz="2850" b="0" i="0" dirty="0">
              <a:solidFill>
                <a:srgbClr val="111827"/>
              </a:solidFill>
            </a:endParaRPr>
          </a:p>
        </p:txBody>
      </p:sp>
      <p:sp>
        <p:nvSpPr>
          <p:cNvPr id="3" name="shape">
            <a:extLst>
              <a:ext uri="{FF2B5EF4-FFF2-40B4-BE49-F238E27FC236}">
                <a16:creationId xmlns:a16="http://schemas.microsoft.com/office/drawing/2014/main" id="{2BD26D49-B6AA-42C6-8F8F-BBC55D5578EB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10810875" cy="819150"/>
          </a:xfrm>
          <a:prstGeom prst="roundRect">
            <a:avLst>
              <a:gd name="adj" fmla="val 10465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459403AD-E23E-4538-943D-1FDE7EDD57A6}"/>
              </a:ext>
            </a:extLst>
          </p:cNvPr>
          <p:cNvSpPr>
            <a:spLocks noGrp="1"/>
          </p:cNvSpPr>
          <p:nvPr/>
        </p:nvSpPr>
        <p:spPr>
          <a:xfrm>
            <a:off x="838200" y="1647825"/>
            <a:ext cx="619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000" b="1" i="0">
                <a:solidFill>
                  <a:srgbClr val="3B82F6"/>
                </a:solidFill>
              </a:defRPr>
            </a:pPr>
            <a:r>
              <a:rPr sz="3000" b="1" i="0" dirty="0">
                <a:solidFill>
                  <a:srgbClr val="3B82F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0389062E-E0E1-4E8F-9ACF-9E711D149C5D}"/>
              </a:ext>
            </a:extLst>
          </p:cNvPr>
          <p:cNvSpPr>
            <a:spLocks noGrp="1"/>
          </p:cNvSpPr>
          <p:nvPr/>
        </p:nvSpPr>
        <p:spPr>
          <a:xfrm>
            <a:off x="1619250" y="1638300"/>
            <a:ext cx="6762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 i="0">
                <a:solidFill>
                  <a:srgbClr val="111827"/>
                </a:solidFill>
              </a:defRPr>
            </a:pPr>
            <a:r>
              <a:rPr lang="en-US" sz="1650" b="1" dirty="0">
                <a:solidFill>
                  <a:srgbClr val="111827"/>
                </a:solidFill>
              </a:rPr>
              <a:t>Affect</a:t>
            </a:r>
            <a:r>
              <a:rPr sz="1650" b="1" i="0" dirty="0">
                <a:solidFill>
                  <a:srgbClr val="111827"/>
                </a:solidFill>
              </a:rPr>
              <a:t> preparation and pre-measurement stages</a:t>
            </a:r>
          </a:p>
        </p:txBody>
      </p:sp>
      <p:sp>
        <p:nvSpPr>
          <p:cNvPr id="6" name="pill">
            <a:extLst>
              <a:ext uri="{FF2B5EF4-FFF2-40B4-BE49-F238E27FC236}">
                <a16:creationId xmlns:a16="http://schemas.microsoft.com/office/drawing/2014/main" id="{3AB34878-4062-45A7-8EB8-5F4211DE5E94}"/>
              </a:ext>
            </a:extLst>
          </p:cNvPr>
          <p:cNvSpPr>
            <a:spLocks noGrp="1"/>
          </p:cNvSpPr>
          <p:nvPr/>
        </p:nvSpPr>
        <p:spPr>
          <a:xfrm>
            <a:off x="8858250" y="1762125"/>
            <a:ext cx="2000250" cy="323850"/>
          </a:xfrm>
          <a:prstGeom prst="roundRect">
            <a:avLst>
              <a:gd name="adj" fmla="val 47059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89B664BC-341D-4070-B245-ECEE28862F70}"/>
              </a:ext>
            </a:extLst>
          </p:cNvPr>
          <p:cNvSpPr>
            <a:spLocks noGrp="1"/>
          </p:cNvSpPr>
          <p:nvPr/>
        </p:nvSpPr>
        <p:spPr>
          <a:xfrm>
            <a:off x="8858250" y="1762125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 i="0">
                <a:solidFill>
                  <a:srgbClr val="3B82F6"/>
                </a:solidFill>
              </a:defRPr>
            </a:pPr>
            <a:r>
              <a:rPr sz="1125" b="1" i="0" dirty="0">
                <a:solidFill>
                  <a:srgbClr val="3B82F6"/>
                </a:solidFill>
              </a:rPr>
              <a:t>E₁ </a:t>
            </a:r>
            <a:r>
              <a:rPr lang="en-US" sz="1125" b="1" i="0" dirty="0">
                <a:solidFill>
                  <a:srgbClr val="3B82F6"/>
                </a:solidFill>
              </a:rPr>
              <a:t> and </a:t>
            </a:r>
            <a:r>
              <a:rPr sz="1125" b="1" i="0" dirty="0">
                <a:solidFill>
                  <a:srgbClr val="3B82F6"/>
                </a:solidFill>
              </a:rPr>
              <a:t> E₄</a:t>
            </a:r>
          </a:p>
        </p:txBody>
      </p:sp>
      <p:sp>
        <p:nvSpPr>
          <p:cNvPr id="8" name="shape">
            <a:extLst>
              <a:ext uri="{FF2B5EF4-FFF2-40B4-BE49-F238E27FC236}">
                <a16:creationId xmlns:a16="http://schemas.microsoft.com/office/drawing/2014/main" id="{DE9784A6-2CD8-481E-B368-7A75C3821003}"/>
              </a:ext>
            </a:extLst>
          </p:cNvPr>
          <p:cNvSpPr>
            <a:spLocks noGrp="1"/>
          </p:cNvSpPr>
          <p:nvPr/>
        </p:nvSpPr>
        <p:spPr>
          <a:xfrm>
            <a:off x="666750" y="2639254"/>
            <a:ext cx="10810875" cy="819150"/>
          </a:xfrm>
          <a:prstGeom prst="roundRect">
            <a:avLst>
              <a:gd name="adj" fmla="val 10465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050EA7A1-9C87-4D49-95C3-EDBAFA9D2609}"/>
              </a:ext>
            </a:extLst>
          </p:cNvPr>
          <p:cNvSpPr>
            <a:spLocks noGrp="1"/>
          </p:cNvSpPr>
          <p:nvPr/>
        </p:nvSpPr>
        <p:spPr>
          <a:xfrm>
            <a:off x="838200" y="2743200"/>
            <a:ext cx="619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000" b="1" i="0">
                <a:solidFill>
                  <a:srgbClr val="EA7A14"/>
                </a:solidFill>
              </a:defRPr>
            </a:pPr>
            <a:r>
              <a:rPr sz="3000" b="1" i="0" dirty="0">
                <a:solidFill>
                  <a:srgbClr val="EA7A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B29D2511-0F07-48B5-BDBA-215E9B52A7BD}"/>
              </a:ext>
            </a:extLst>
          </p:cNvPr>
          <p:cNvSpPr>
            <a:spLocks noGrp="1"/>
          </p:cNvSpPr>
          <p:nvPr/>
        </p:nvSpPr>
        <p:spPr>
          <a:xfrm>
            <a:off x="1619250" y="2733675"/>
            <a:ext cx="6762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 i="0">
                <a:solidFill>
                  <a:srgbClr val="111827"/>
                </a:solidFill>
              </a:defRPr>
            </a:pPr>
            <a:r>
              <a:rPr sz="1650" b="1" i="0" dirty="0">
                <a:solidFill>
                  <a:srgbClr val="111827"/>
                </a:solidFill>
              </a:rPr>
              <a:t>Treat the circuit as uniformly </a:t>
            </a:r>
            <a:r>
              <a:rPr lang="en-US" sz="1650" b="1" dirty="0">
                <a:solidFill>
                  <a:srgbClr val="111827"/>
                </a:solidFill>
              </a:rPr>
              <a:t>in all locations</a:t>
            </a:r>
            <a:endParaRPr sz="1650" b="1" i="0" dirty="0">
              <a:solidFill>
                <a:srgbClr val="111827"/>
              </a:solidFill>
            </a:endParaRPr>
          </a:p>
        </p:txBody>
      </p:sp>
      <p:sp>
        <p:nvSpPr>
          <p:cNvPr id="11" name="pill">
            <a:extLst>
              <a:ext uri="{FF2B5EF4-FFF2-40B4-BE49-F238E27FC236}">
                <a16:creationId xmlns:a16="http://schemas.microsoft.com/office/drawing/2014/main" id="{27CC70E6-F6B6-429A-8E24-B31311741DD4}"/>
              </a:ext>
            </a:extLst>
          </p:cNvPr>
          <p:cNvSpPr>
            <a:spLocks noGrp="1"/>
          </p:cNvSpPr>
          <p:nvPr/>
        </p:nvSpPr>
        <p:spPr>
          <a:xfrm>
            <a:off x="8858250" y="2857500"/>
            <a:ext cx="2000250" cy="323850"/>
          </a:xfrm>
          <a:prstGeom prst="roundRect">
            <a:avLst>
              <a:gd name="adj" fmla="val 47059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DEBD3C23-19CF-4B34-902B-C323E4850117}"/>
              </a:ext>
            </a:extLst>
          </p:cNvPr>
          <p:cNvSpPr>
            <a:spLocks noGrp="1"/>
          </p:cNvSpPr>
          <p:nvPr/>
        </p:nvSpPr>
        <p:spPr>
          <a:xfrm>
            <a:off x="8858250" y="285750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 i="0">
                <a:solidFill>
                  <a:srgbClr val="EA7A14"/>
                </a:solidFill>
              </a:defRPr>
            </a:pPr>
            <a:r>
              <a:rPr sz="1125" b="1" i="0" dirty="0">
                <a:solidFill>
                  <a:srgbClr val="EA7A14"/>
                </a:solidFill>
              </a:rPr>
              <a:t>E₁–E₄</a:t>
            </a:r>
          </a:p>
        </p:txBody>
      </p:sp>
      <p:sp>
        <p:nvSpPr>
          <p:cNvPr id="13" name="shape">
            <a:extLst>
              <a:ext uri="{FF2B5EF4-FFF2-40B4-BE49-F238E27FC236}">
                <a16:creationId xmlns:a16="http://schemas.microsoft.com/office/drawing/2014/main" id="{BBE959F7-79A6-433C-B3BC-2EE2BF2C10EB}"/>
              </a:ext>
            </a:extLst>
          </p:cNvPr>
          <p:cNvSpPr>
            <a:spLocks noGrp="1"/>
          </p:cNvSpPr>
          <p:nvPr/>
        </p:nvSpPr>
        <p:spPr>
          <a:xfrm>
            <a:off x="666750" y="3714750"/>
            <a:ext cx="10810875" cy="819150"/>
          </a:xfrm>
          <a:prstGeom prst="roundRect">
            <a:avLst>
              <a:gd name="adj" fmla="val 10465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B4B4A228-E860-4E7E-B9CA-7EA91859E48B}"/>
              </a:ext>
            </a:extLst>
          </p:cNvPr>
          <p:cNvSpPr>
            <a:spLocks noGrp="1"/>
          </p:cNvSpPr>
          <p:nvPr/>
        </p:nvSpPr>
        <p:spPr>
          <a:xfrm>
            <a:off x="838200" y="3838575"/>
            <a:ext cx="619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000" b="1" i="0">
                <a:solidFill>
                  <a:srgbClr val="2E9E69"/>
                </a:solidFill>
              </a:defRPr>
            </a:pPr>
            <a:r>
              <a:rPr sz="3000" b="1" i="0">
                <a:solidFill>
                  <a:srgbClr val="2E9E69"/>
                </a:solidFill>
              </a:rPr>
              <a:t>Z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0E495728-168B-471F-B5A2-AA1263C89501}"/>
              </a:ext>
            </a:extLst>
          </p:cNvPr>
          <p:cNvSpPr>
            <a:spLocks noGrp="1"/>
          </p:cNvSpPr>
          <p:nvPr/>
        </p:nvSpPr>
        <p:spPr>
          <a:xfrm>
            <a:off x="1619250" y="3829050"/>
            <a:ext cx="6762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 i="0">
                <a:solidFill>
                  <a:srgbClr val="111827"/>
                </a:solidFill>
              </a:defRPr>
            </a:pPr>
            <a:r>
              <a:rPr lang="en-US" sz="1650" b="1" i="0" dirty="0">
                <a:solidFill>
                  <a:srgbClr val="111827"/>
                </a:solidFill>
              </a:rPr>
              <a:t>Affect</a:t>
            </a:r>
            <a:r>
              <a:rPr sz="1650" b="1" i="0" dirty="0">
                <a:solidFill>
                  <a:srgbClr val="111827"/>
                </a:solidFill>
              </a:rPr>
              <a:t> the phase-sensitive interference region</a:t>
            </a:r>
          </a:p>
        </p:txBody>
      </p:sp>
      <p:sp>
        <p:nvSpPr>
          <p:cNvPr id="16" name="pill">
            <a:extLst>
              <a:ext uri="{FF2B5EF4-FFF2-40B4-BE49-F238E27FC236}">
                <a16:creationId xmlns:a16="http://schemas.microsoft.com/office/drawing/2014/main" id="{455E4F2C-71FE-44C7-9FAE-C8FABEA38563}"/>
              </a:ext>
            </a:extLst>
          </p:cNvPr>
          <p:cNvSpPr>
            <a:spLocks noGrp="1"/>
          </p:cNvSpPr>
          <p:nvPr/>
        </p:nvSpPr>
        <p:spPr>
          <a:xfrm>
            <a:off x="8858250" y="3952875"/>
            <a:ext cx="2000250" cy="323850"/>
          </a:xfrm>
          <a:prstGeom prst="roundRect">
            <a:avLst>
              <a:gd name="adj" fmla="val 47059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AC8DAEF3-9445-42F3-AC30-42EB09F36DFD}"/>
              </a:ext>
            </a:extLst>
          </p:cNvPr>
          <p:cNvSpPr>
            <a:spLocks noGrp="1"/>
          </p:cNvSpPr>
          <p:nvPr/>
        </p:nvSpPr>
        <p:spPr>
          <a:xfrm>
            <a:off x="8858250" y="3952875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 i="0">
                <a:solidFill>
                  <a:srgbClr val="2E9E69"/>
                </a:solidFill>
              </a:defRPr>
            </a:pPr>
            <a:r>
              <a:rPr sz="1125" b="1" i="0" dirty="0">
                <a:solidFill>
                  <a:srgbClr val="2E9E69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E₂ </a:t>
            </a:r>
            <a:r>
              <a:rPr lang="en-US" sz="1125" b="1" i="0" dirty="0">
                <a:solidFill>
                  <a:srgbClr val="2E9E69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and </a:t>
            </a:r>
            <a:r>
              <a:rPr sz="1125" b="1" i="0" dirty="0">
                <a:solidFill>
                  <a:srgbClr val="2E9E69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E₃</a:t>
            </a:r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A68B4E93-D44E-4191-9A9A-D098B3391EB8}"/>
              </a:ext>
            </a:extLst>
          </p:cNvPr>
          <p:cNvSpPr>
            <a:spLocks noGrp="1"/>
          </p:cNvSpPr>
          <p:nvPr/>
        </p:nvSpPr>
        <p:spPr>
          <a:xfrm>
            <a:off x="2800350" y="5625445"/>
            <a:ext cx="475052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 i="0">
                <a:solidFill>
                  <a:srgbClr val="3B82F6"/>
                </a:solidFill>
              </a:defRPr>
            </a:pPr>
            <a:endParaRPr sz="1425" b="1" i="0" dirty="0">
              <a:solidFill>
                <a:srgbClr val="3B82F6"/>
              </a:solidFill>
            </a:endParaRPr>
          </a:p>
        </p:txBody>
      </p:sp>
      <p:sp>
        <p:nvSpPr>
          <p:cNvPr id="22" name="page-number">
            <a:extLst>
              <a:ext uri="{FF2B5EF4-FFF2-40B4-BE49-F238E27FC236}">
                <a16:creationId xmlns:a16="http://schemas.microsoft.com/office/drawing/2014/main" id="{7D2AD416-F598-4504-AD48-46BAE8BC8CA6}"/>
              </a:ext>
            </a:extLst>
          </p:cNvPr>
          <p:cNvSpPr>
            <a:spLocks noGrp="1"/>
          </p:cNvSpPr>
          <p:nvPr/>
        </p:nvSpPr>
        <p:spPr>
          <a:xfrm>
            <a:off x="11334750" y="64865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50" b="0" i="0">
                <a:solidFill>
                  <a:srgbClr val="5F6B7A"/>
                </a:solidFill>
              </a:defRPr>
            </a:pPr>
            <a:r>
              <a:rPr sz="750" b="0" i="0">
                <a:solidFill>
                  <a:srgbClr val="5F6B7A"/>
                </a:solidFill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9022240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93DA9-6B15-4DBF-8D19-6DBED7F1F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7187" y="1236283"/>
            <a:ext cx="9784080" cy="1508760"/>
          </a:xfrm>
          <a:solidFill>
            <a:srgbClr val="EEF6FF"/>
          </a:solidFill>
        </p:spPr>
        <p:txBody>
          <a:bodyPr>
            <a:normAutofit/>
          </a:bodyPr>
          <a:lstStyle/>
          <a:p>
            <a:pPr algn="ctr"/>
            <a:r>
              <a:rPr lang="en-US" sz="4400" cap="none" dirty="0">
                <a:solidFill>
                  <a:srgbClr val="3B82F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90C95-E87C-482E-88EF-1796DC52A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7187" y="3318235"/>
            <a:ext cx="9487077" cy="1508760"/>
          </a:xfrm>
          <a:solidFill>
            <a:srgbClr val="EEF6FF"/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</a:rPr>
              <a:t> </a:t>
            </a:r>
          </a:p>
          <a:p>
            <a:pPr marL="0" indent="0" algn="ctr">
              <a:buNone/>
            </a:pPr>
            <a:r>
              <a:rPr lang="en-US" sz="320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D81C9D-5D03-4C98-9019-A2DAC49A300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911572"/>
      </p:ext>
    </p:extLst>
  </p:cSld>
  <p:clrMapOvr>
    <a:masterClrMapping/>
  </p:clrMapOvr>
</p:sld>
</file>

<file path=ppt/theme/theme1.xml><?xml version="1.0" encoding="utf-8"?>
<a:theme xmlns:a="http://schemas.openxmlformats.org/drawingml/2006/main" name="Banded">
  <a:themeElements>
    <a:clrScheme name="Banded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Banded">
      <a:majorFont>
        <a:latin typeface="Corbel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07000"/>
                <a:satMod val="120000"/>
              </a:schemeClr>
            </a:gs>
            <a:gs pos="50000">
              <a:schemeClr val="phClr">
                <a:tint val="70000"/>
                <a:lumMod val="103000"/>
                <a:satMod val="124000"/>
              </a:schemeClr>
            </a:gs>
            <a:gs pos="100000">
              <a:schemeClr val="phClr">
                <a:tint val="85000"/>
                <a:lumMod val="100000"/>
                <a:satMod val="12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lumMod val="103000"/>
                <a:satMod val="110000"/>
              </a:schemeClr>
            </a:gs>
            <a:gs pos="50000">
              <a:schemeClr val="phClr">
                <a:shade val="85000"/>
                <a:lumMod val="100000"/>
                <a:satMod val="105000"/>
              </a:schemeClr>
            </a:gs>
            <a:gs pos="100000">
              <a:schemeClr val="phClr">
                <a:shade val="60000"/>
                <a:lumMod val="100000"/>
                <a:satMod val="120000"/>
              </a:schemeClr>
            </a:gs>
          </a:gsLst>
          <a:lin ang="5400000" scaled="0"/>
        </a:gradFill>
      </a:fillStyleLst>
      <a:lnStyleLst>
        <a:ln w="9525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solidFill>
          <a:schemeClr val="lt2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Banded">
  <a:themeElements>
    <a:clrScheme name="Banded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Banded">
      <a:majorFont>
        <a:latin typeface="Corbel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07000"/>
                <a:satMod val="120000"/>
              </a:schemeClr>
            </a:gs>
            <a:gs pos="50000">
              <a:schemeClr val="phClr">
                <a:tint val="70000"/>
                <a:lumMod val="103000"/>
                <a:satMod val="124000"/>
              </a:schemeClr>
            </a:gs>
            <a:gs pos="100000">
              <a:schemeClr val="phClr">
                <a:tint val="85000"/>
                <a:lumMod val="100000"/>
                <a:satMod val="12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lumMod val="103000"/>
                <a:satMod val="110000"/>
              </a:schemeClr>
            </a:gs>
            <a:gs pos="50000">
              <a:schemeClr val="phClr">
                <a:shade val="85000"/>
                <a:lumMod val="100000"/>
                <a:satMod val="105000"/>
              </a:schemeClr>
            </a:gs>
            <a:gs pos="100000">
              <a:schemeClr val="phClr">
                <a:shade val="60000"/>
                <a:lumMod val="100000"/>
                <a:satMod val="120000"/>
              </a:schemeClr>
            </a:gs>
          </a:gsLst>
          <a:lin ang="5400000" scaled="0"/>
        </a:gradFill>
      </a:fillStyleLst>
      <a:lnStyleLst>
        <a:ln w="9525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solidFill>
          <a:schemeClr val="lt2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1210</TotalTime>
  <Words>1523</Words>
  <Application>Microsoft Office PowerPoint</Application>
  <DocSecurity>0</DocSecurity>
  <PresentationFormat>Widescreen</PresentationFormat>
  <Paragraphs>342</Paragraphs>
  <Slides>27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Cambria Math</vt:lpstr>
      <vt:lpstr>Corbel</vt:lpstr>
      <vt:lpstr>Times New Roman</vt:lpstr>
      <vt:lpstr>Wingdings</vt:lpstr>
      <vt:lpstr>Banded</vt:lpstr>
      <vt:lpstr>PowerPoint Presentation</vt:lpstr>
      <vt:lpstr>Outline</vt:lpstr>
      <vt:lpstr>PowerPoint Presentation</vt:lpstr>
      <vt:lpstr>PowerPoint Presentation</vt:lpstr>
      <vt:lpstr>Significance of the study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Abiy Tegegne</cp:lastModifiedBy>
  <cp:revision>66</cp:revision>
  <dcterms:created xsi:type="dcterms:W3CDTF">2026-08-10T01:26:39Z</dcterms:created>
  <dcterms:modified xsi:type="dcterms:W3CDTF">2026-08-12T09:55:41Z</dcterms:modified>
</cp:coreProperties>
</file>